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7" r:id="rId2"/>
    <p:sldId id="258" r:id="rId3"/>
    <p:sldId id="259" r:id="rId4"/>
    <p:sldId id="260" r:id="rId5"/>
    <p:sldId id="261" r:id="rId6"/>
    <p:sldId id="262" r:id="rId7"/>
    <p:sldId id="266" r:id="rId8"/>
    <p:sldId id="263" r:id="rId9"/>
    <p:sldId id="268" r:id="rId10"/>
    <p:sldId id="269" r:id="rId11"/>
    <p:sldId id="264" r:id="rId12"/>
    <p:sldId id="270" r:id="rId13"/>
    <p:sldId id="271" r:id="rId14"/>
    <p:sldId id="282" r:id="rId15"/>
    <p:sldId id="284" r:id="rId16"/>
    <p:sldId id="283" r:id="rId17"/>
    <p:sldId id="285" r:id="rId18"/>
    <p:sldId id="275" r:id="rId19"/>
    <p:sldId id="276" r:id="rId20"/>
    <p:sldId id="277" r:id="rId21"/>
    <p:sldId id="278" r:id="rId22"/>
    <p:sldId id="280" r:id="rId23"/>
    <p:sldId id="28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DB1CC"/>
    <a:srgbClr val="B2D6E4"/>
    <a:srgbClr val="BCFBAD"/>
    <a:srgbClr val="FFA3A3"/>
    <a:srgbClr val="FF8181"/>
    <a:srgbClr val="F58585"/>
    <a:srgbClr val="242832"/>
    <a:srgbClr val="93C5D9"/>
    <a:srgbClr val="A2DF8D"/>
    <a:srgbClr val="FFC5C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901" autoAdjust="0"/>
    <p:restoredTop sz="95581" autoAdjust="0"/>
  </p:normalViewPr>
  <p:slideViewPr>
    <p:cSldViewPr snapToGrid="0">
      <p:cViewPr>
        <p:scale>
          <a:sx n="75" d="100"/>
          <a:sy n="75" d="100"/>
        </p:scale>
        <p:origin x="1477" y="2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C6B36-7E44-46F1-A49A-2B5640FBD2B1}" type="datetimeFigureOut">
              <a:rPr lang="en-US" smtClean="0"/>
              <a:t>4/5/2026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498766-33F0-4C45-9B99-5A89EFA25F86}" type="slidenum">
              <a:rPr lang="en-US" smtClean="0"/>
              <a:t>‹#›</a:t>
            </a:fld>
            <a:endParaRPr lang="en-US"/>
          </a:p>
        </p:txBody>
      </p:sp>
    </p:spTree>
    <p:extLst>
      <p:ext uri="{BB962C8B-B14F-4D97-AF65-F5344CB8AC3E}">
        <p14:creationId xmlns:p14="http://schemas.microsoft.com/office/powerpoint/2010/main" val="17091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98766-33F0-4C45-9B99-5A89EFA25F86}" type="slidenum">
              <a:rPr lang="en-US" smtClean="0"/>
              <a:t>1</a:t>
            </a:fld>
            <a:endParaRPr lang="en-US"/>
          </a:p>
        </p:txBody>
      </p:sp>
    </p:spTree>
    <p:extLst>
      <p:ext uri="{BB962C8B-B14F-4D97-AF65-F5344CB8AC3E}">
        <p14:creationId xmlns:p14="http://schemas.microsoft.com/office/powerpoint/2010/main" val="37798582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98766-33F0-4C45-9B99-5A89EFA25F86}" type="slidenum">
              <a:rPr lang="en-US" smtClean="0"/>
              <a:t>6</a:t>
            </a:fld>
            <a:endParaRPr lang="en-US"/>
          </a:p>
        </p:txBody>
      </p:sp>
    </p:spTree>
    <p:extLst>
      <p:ext uri="{BB962C8B-B14F-4D97-AF65-F5344CB8AC3E}">
        <p14:creationId xmlns:p14="http://schemas.microsoft.com/office/powerpoint/2010/main" val="30053053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69B77-71A3-0066-C962-1A41AD0E9D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B37AAC-C7E1-D1E3-2D81-94D5022A96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C6BBD1-A0D2-A862-749F-52840A511F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D21C7E-CEDB-AF8E-A39D-CE86F27D82ED}"/>
              </a:ext>
            </a:extLst>
          </p:cNvPr>
          <p:cNvSpPr>
            <a:spLocks noGrp="1"/>
          </p:cNvSpPr>
          <p:nvPr>
            <p:ph type="sldNum" sz="quarter" idx="5"/>
          </p:nvPr>
        </p:nvSpPr>
        <p:spPr/>
        <p:txBody>
          <a:bodyPr/>
          <a:lstStyle/>
          <a:p>
            <a:fld id="{70498766-33F0-4C45-9B99-5A89EFA25F86}" type="slidenum">
              <a:rPr lang="en-US" smtClean="0"/>
              <a:t>7</a:t>
            </a:fld>
            <a:endParaRPr lang="en-US"/>
          </a:p>
        </p:txBody>
      </p:sp>
    </p:spTree>
    <p:extLst>
      <p:ext uri="{BB962C8B-B14F-4D97-AF65-F5344CB8AC3E}">
        <p14:creationId xmlns:p14="http://schemas.microsoft.com/office/powerpoint/2010/main" val="6213105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98766-33F0-4C45-9B99-5A89EFA25F86}" type="slidenum">
              <a:rPr lang="en-US" smtClean="0"/>
              <a:t>13</a:t>
            </a:fld>
            <a:endParaRPr lang="en-US"/>
          </a:p>
        </p:txBody>
      </p:sp>
    </p:spTree>
    <p:extLst>
      <p:ext uri="{BB962C8B-B14F-4D97-AF65-F5344CB8AC3E}">
        <p14:creationId xmlns:p14="http://schemas.microsoft.com/office/powerpoint/2010/main" val="37846591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98766-33F0-4C45-9B99-5A89EFA25F86}" type="slidenum">
              <a:rPr lang="en-US" smtClean="0"/>
              <a:t>14</a:t>
            </a:fld>
            <a:endParaRPr lang="en-US"/>
          </a:p>
        </p:txBody>
      </p:sp>
    </p:spTree>
    <p:extLst>
      <p:ext uri="{BB962C8B-B14F-4D97-AF65-F5344CB8AC3E}">
        <p14:creationId xmlns:p14="http://schemas.microsoft.com/office/powerpoint/2010/main" val="27807782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98766-33F0-4C45-9B99-5A89EFA25F86}" type="slidenum">
              <a:rPr lang="en-US" smtClean="0"/>
              <a:t>15</a:t>
            </a:fld>
            <a:endParaRPr lang="en-US"/>
          </a:p>
        </p:txBody>
      </p:sp>
    </p:spTree>
    <p:extLst>
      <p:ext uri="{BB962C8B-B14F-4D97-AF65-F5344CB8AC3E}">
        <p14:creationId xmlns:p14="http://schemas.microsoft.com/office/powerpoint/2010/main" val="7658816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3859C-3654-6F20-04BF-C9B28C34F1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6FEE42F-A27A-4BF3-72CD-6D98EEF401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A7B8AA5-AD06-8338-3D9E-50D2FB6963D8}"/>
              </a:ext>
            </a:extLst>
          </p:cNvPr>
          <p:cNvSpPr>
            <a:spLocks noGrp="1"/>
          </p:cNvSpPr>
          <p:nvPr>
            <p:ph type="dt" sz="half" idx="10"/>
          </p:nvPr>
        </p:nvSpPr>
        <p:spPr/>
        <p:txBody>
          <a:bodyPr/>
          <a:lstStyle/>
          <a:p>
            <a:fld id="{500CB7A9-5B45-43D5-AFFA-8D8D81D59FBD}" type="datetimeFigureOut">
              <a:rPr lang="en-US" smtClean="0"/>
              <a:t>4/5/2026</a:t>
            </a:fld>
            <a:endParaRPr lang="en-US"/>
          </a:p>
        </p:txBody>
      </p:sp>
      <p:sp>
        <p:nvSpPr>
          <p:cNvPr id="5" name="Footer Placeholder 4">
            <a:extLst>
              <a:ext uri="{FF2B5EF4-FFF2-40B4-BE49-F238E27FC236}">
                <a16:creationId xmlns:a16="http://schemas.microsoft.com/office/drawing/2014/main" id="{384A2C9E-216B-D9BF-7C4F-E56D4E80D7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9F576F-8879-A113-A99A-AC661F32D3FC}"/>
              </a:ext>
            </a:extLst>
          </p:cNvPr>
          <p:cNvSpPr>
            <a:spLocks noGrp="1"/>
          </p:cNvSpPr>
          <p:nvPr>
            <p:ph type="sldNum" sz="quarter" idx="12"/>
          </p:nvPr>
        </p:nvSpPr>
        <p:spPr/>
        <p:txBody>
          <a:bodyPr/>
          <a:lstStyle/>
          <a:p>
            <a:fld id="{7F9968DB-5D97-4389-BDD9-086490157FA2}" type="slidenum">
              <a:rPr lang="en-US" smtClean="0"/>
              <a:t>‹#›</a:t>
            </a:fld>
            <a:endParaRPr lang="en-US"/>
          </a:p>
        </p:txBody>
      </p:sp>
    </p:spTree>
    <p:extLst>
      <p:ext uri="{BB962C8B-B14F-4D97-AF65-F5344CB8AC3E}">
        <p14:creationId xmlns:p14="http://schemas.microsoft.com/office/powerpoint/2010/main" val="24257799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9A01F-5E79-06CF-410F-857E7A1E40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5FFEDF-ACDD-CA83-ADC5-0AD14E3CB4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E9BCCB-981C-4CE8-00DA-6B82F4A07E0C}"/>
              </a:ext>
            </a:extLst>
          </p:cNvPr>
          <p:cNvSpPr>
            <a:spLocks noGrp="1"/>
          </p:cNvSpPr>
          <p:nvPr>
            <p:ph type="dt" sz="half" idx="10"/>
          </p:nvPr>
        </p:nvSpPr>
        <p:spPr/>
        <p:txBody>
          <a:bodyPr/>
          <a:lstStyle/>
          <a:p>
            <a:fld id="{500CB7A9-5B45-43D5-AFFA-8D8D81D59FBD}" type="datetimeFigureOut">
              <a:rPr lang="en-US" smtClean="0"/>
              <a:t>4/5/2026</a:t>
            </a:fld>
            <a:endParaRPr lang="en-US"/>
          </a:p>
        </p:txBody>
      </p:sp>
      <p:sp>
        <p:nvSpPr>
          <p:cNvPr id="5" name="Footer Placeholder 4">
            <a:extLst>
              <a:ext uri="{FF2B5EF4-FFF2-40B4-BE49-F238E27FC236}">
                <a16:creationId xmlns:a16="http://schemas.microsoft.com/office/drawing/2014/main" id="{DBCE609A-B349-9F99-D74F-F1467C3B04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83D267-EAD9-76CE-DCAD-7173C1435C8C}"/>
              </a:ext>
            </a:extLst>
          </p:cNvPr>
          <p:cNvSpPr>
            <a:spLocks noGrp="1"/>
          </p:cNvSpPr>
          <p:nvPr>
            <p:ph type="sldNum" sz="quarter" idx="12"/>
          </p:nvPr>
        </p:nvSpPr>
        <p:spPr/>
        <p:txBody>
          <a:bodyPr/>
          <a:lstStyle/>
          <a:p>
            <a:fld id="{7F9968DB-5D97-4389-BDD9-086490157FA2}" type="slidenum">
              <a:rPr lang="en-US" smtClean="0"/>
              <a:t>‹#›</a:t>
            </a:fld>
            <a:endParaRPr lang="en-US"/>
          </a:p>
        </p:txBody>
      </p:sp>
    </p:spTree>
    <p:extLst>
      <p:ext uri="{BB962C8B-B14F-4D97-AF65-F5344CB8AC3E}">
        <p14:creationId xmlns:p14="http://schemas.microsoft.com/office/powerpoint/2010/main" val="3943484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B7623-AE51-141E-3942-7CE52B7818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F0DCFA1-9C09-52B4-4183-1A6B327E633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23698C-794D-F1B8-4AB2-07C56D31D7B9}"/>
              </a:ext>
            </a:extLst>
          </p:cNvPr>
          <p:cNvSpPr>
            <a:spLocks noGrp="1"/>
          </p:cNvSpPr>
          <p:nvPr>
            <p:ph type="dt" sz="half" idx="10"/>
          </p:nvPr>
        </p:nvSpPr>
        <p:spPr/>
        <p:txBody>
          <a:bodyPr/>
          <a:lstStyle/>
          <a:p>
            <a:fld id="{500CB7A9-5B45-43D5-AFFA-8D8D81D59FBD}" type="datetimeFigureOut">
              <a:rPr lang="en-US" smtClean="0"/>
              <a:t>4/5/2026</a:t>
            </a:fld>
            <a:endParaRPr lang="en-US"/>
          </a:p>
        </p:txBody>
      </p:sp>
      <p:sp>
        <p:nvSpPr>
          <p:cNvPr id="5" name="Footer Placeholder 4">
            <a:extLst>
              <a:ext uri="{FF2B5EF4-FFF2-40B4-BE49-F238E27FC236}">
                <a16:creationId xmlns:a16="http://schemas.microsoft.com/office/drawing/2014/main" id="{C7E2F4AD-F789-2DA0-8CD5-F50C7BC060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EA3E54-2BA6-A7FB-BD3E-4D75E228428E}"/>
              </a:ext>
            </a:extLst>
          </p:cNvPr>
          <p:cNvSpPr>
            <a:spLocks noGrp="1"/>
          </p:cNvSpPr>
          <p:nvPr>
            <p:ph type="sldNum" sz="quarter" idx="12"/>
          </p:nvPr>
        </p:nvSpPr>
        <p:spPr/>
        <p:txBody>
          <a:bodyPr/>
          <a:lstStyle/>
          <a:p>
            <a:fld id="{7F9968DB-5D97-4389-BDD9-086490157FA2}" type="slidenum">
              <a:rPr lang="en-US" smtClean="0"/>
              <a:t>‹#›</a:t>
            </a:fld>
            <a:endParaRPr lang="en-US"/>
          </a:p>
        </p:txBody>
      </p:sp>
    </p:spTree>
    <p:extLst>
      <p:ext uri="{BB962C8B-B14F-4D97-AF65-F5344CB8AC3E}">
        <p14:creationId xmlns:p14="http://schemas.microsoft.com/office/powerpoint/2010/main" val="792170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5708-1FA4-10B1-DA9D-CEEFE712FF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FBE69C-BE59-8DC9-F31E-457B7E982F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A2A7E04-590E-A438-CAFE-483945BFD0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3E006C9-D24B-C818-2F9C-A9235CCD4A1D}"/>
              </a:ext>
            </a:extLst>
          </p:cNvPr>
          <p:cNvSpPr>
            <a:spLocks noGrp="1"/>
          </p:cNvSpPr>
          <p:nvPr>
            <p:ph type="dt" sz="half" idx="10"/>
          </p:nvPr>
        </p:nvSpPr>
        <p:spPr/>
        <p:txBody>
          <a:bodyPr/>
          <a:lstStyle/>
          <a:p>
            <a:fld id="{500CB7A9-5B45-43D5-AFFA-8D8D81D59FBD}" type="datetimeFigureOut">
              <a:rPr lang="en-US" smtClean="0"/>
              <a:t>4/5/2026</a:t>
            </a:fld>
            <a:endParaRPr lang="en-US"/>
          </a:p>
        </p:txBody>
      </p:sp>
      <p:sp>
        <p:nvSpPr>
          <p:cNvPr id="6" name="Footer Placeholder 5">
            <a:extLst>
              <a:ext uri="{FF2B5EF4-FFF2-40B4-BE49-F238E27FC236}">
                <a16:creationId xmlns:a16="http://schemas.microsoft.com/office/drawing/2014/main" id="{AF672B2B-7B7D-4CF9-A1DC-73C0A738F2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C5A5FC-556B-F6AB-316A-2E824533C8C3}"/>
              </a:ext>
            </a:extLst>
          </p:cNvPr>
          <p:cNvSpPr>
            <a:spLocks noGrp="1"/>
          </p:cNvSpPr>
          <p:nvPr>
            <p:ph type="sldNum" sz="quarter" idx="12"/>
          </p:nvPr>
        </p:nvSpPr>
        <p:spPr/>
        <p:txBody>
          <a:bodyPr/>
          <a:lstStyle/>
          <a:p>
            <a:fld id="{7F9968DB-5D97-4389-BDD9-086490157FA2}" type="slidenum">
              <a:rPr lang="en-US" smtClean="0"/>
              <a:t>‹#›</a:t>
            </a:fld>
            <a:endParaRPr lang="en-US"/>
          </a:p>
        </p:txBody>
      </p:sp>
    </p:spTree>
    <p:extLst>
      <p:ext uri="{BB962C8B-B14F-4D97-AF65-F5344CB8AC3E}">
        <p14:creationId xmlns:p14="http://schemas.microsoft.com/office/powerpoint/2010/main" val="2889701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29DFA-31DE-D6CA-07C6-1519E5C6398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8D61A9B-81D3-5B02-8A5B-EACA73F8FF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FF8DCF-7550-44AB-FC7B-C8A6A95847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448D896-AC87-C465-B9A2-58216C6811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DAC7F0-E2B8-6AC2-760C-7A63DD1A68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D79BF3-93BB-93AE-2F28-3A77F4757965}"/>
              </a:ext>
            </a:extLst>
          </p:cNvPr>
          <p:cNvSpPr>
            <a:spLocks noGrp="1"/>
          </p:cNvSpPr>
          <p:nvPr>
            <p:ph type="dt" sz="half" idx="10"/>
          </p:nvPr>
        </p:nvSpPr>
        <p:spPr/>
        <p:txBody>
          <a:bodyPr/>
          <a:lstStyle/>
          <a:p>
            <a:fld id="{500CB7A9-5B45-43D5-AFFA-8D8D81D59FBD}" type="datetimeFigureOut">
              <a:rPr lang="en-US" smtClean="0"/>
              <a:t>4/5/2026</a:t>
            </a:fld>
            <a:endParaRPr lang="en-US"/>
          </a:p>
        </p:txBody>
      </p:sp>
      <p:sp>
        <p:nvSpPr>
          <p:cNvPr id="8" name="Footer Placeholder 7">
            <a:extLst>
              <a:ext uri="{FF2B5EF4-FFF2-40B4-BE49-F238E27FC236}">
                <a16:creationId xmlns:a16="http://schemas.microsoft.com/office/drawing/2014/main" id="{324A8885-E94F-161E-2CF5-1DACA03239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FA7C816-4016-A998-B36D-2162A3750B01}"/>
              </a:ext>
            </a:extLst>
          </p:cNvPr>
          <p:cNvSpPr>
            <a:spLocks noGrp="1"/>
          </p:cNvSpPr>
          <p:nvPr>
            <p:ph type="sldNum" sz="quarter" idx="12"/>
          </p:nvPr>
        </p:nvSpPr>
        <p:spPr/>
        <p:txBody>
          <a:bodyPr/>
          <a:lstStyle/>
          <a:p>
            <a:fld id="{7F9968DB-5D97-4389-BDD9-086490157FA2}" type="slidenum">
              <a:rPr lang="en-US" smtClean="0"/>
              <a:t>‹#›</a:t>
            </a:fld>
            <a:endParaRPr lang="en-US"/>
          </a:p>
        </p:txBody>
      </p:sp>
    </p:spTree>
    <p:extLst>
      <p:ext uri="{BB962C8B-B14F-4D97-AF65-F5344CB8AC3E}">
        <p14:creationId xmlns:p14="http://schemas.microsoft.com/office/powerpoint/2010/main" val="2059103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63869-FF75-A47D-29C8-DFDA758F1B4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68C8123-4F25-F074-C431-E6B64066B2D4}"/>
              </a:ext>
            </a:extLst>
          </p:cNvPr>
          <p:cNvSpPr>
            <a:spLocks noGrp="1"/>
          </p:cNvSpPr>
          <p:nvPr>
            <p:ph type="dt" sz="half" idx="10"/>
          </p:nvPr>
        </p:nvSpPr>
        <p:spPr/>
        <p:txBody>
          <a:bodyPr/>
          <a:lstStyle/>
          <a:p>
            <a:fld id="{500CB7A9-5B45-43D5-AFFA-8D8D81D59FBD}" type="datetimeFigureOut">
              <a:rPr lang="en-US" smtClean="0"/>
              <a:t>4/5/2026</a:t>
            </a:fld>
            <a:endParaRPr lang="en-US"/>
          </a:p>
        </p:txBody>
      </p:sp>
      <p:sp>
        <p:nvSpPr>
          <p:cNvPr id="4" name="Footer Placeholder 3">
            <a:extLst>
              <a:ext uri="{FF2B5EF4-FFF2-40B4-BE49-F238E27FC236}">
                <a16:creationId xmlns:a16="http://schemas.microsoft.com/office/drawing/2014/main" id="{9FBEE276-5ADE-FD09-08EE-C7DEB8D312E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B1EE232-76B0-8469-105D-78E31B462679}"/>
              </a:ext>
            </a:extLst>
          </p:cNvPr>
          <p:cNvSpPr>
            <a:spLocks noGrp="1"/>
          </p:cNvSpPr>
          <p:nvPr>
            <p:ph type="sldNum" sz="quarter" idx="12"/>
          </p:nvPr>
        </p:nvSpPr>
        <p:spPr/>
        <p:txBody>
          <a:bodyPr/>
          <a:lstStyle/>
          <a:p>
            <a:fld id="{7F9968DB-5D97-4389-BDD9-086490157FA2}" type="slidenum">
              <a:rPr lang="en-US" smtClean="0"/>
              <a:t>‹#›</a:t>
            </a:fld>
            <a:endParaRPr lang="en-US"/>
          </a:p>
        </p:txBody>
      </p:sp>
    </p:spTree>
    <p:extLst>
      <p:ext uri="{BB962C8B-B14F-4D97-AF65-F5344CB8AC3E}">
        <p14:creationId xmlns:p14="http://schemas.microsoft.com/office/powerpoint/2010/main" val="1964759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2B6DA9-8658-29AB-8DD7-C21D70943DEA}"/>
              </a:ext>
            </a:extLst>
          </p:cNvPr>
          <p:cNvSpPr>
            <a:spLocks noGrp="1"/>
          </p:cNvSpPr>
          <p:nvPr>
            <p:ph type="dt" sz="half" idx="10"/>
          </p:nvPr>
        </p:nvSpPr>
        <p:spPr/>
        <p:txBody>
          <a:bodyPr/>
          <a:lstStyle/>
          <a:p>
            <a:fld id="{500CB7A9-5B45-43D5-AFFA-8D8D81D59FBD}" type="datetimeFigureOut">
              <a:rPr lang="en-US" smtClean="0"/>
              <a:t>4/5/2026</a:t>
            </a:fld>
            <a:endParaRPr lang="en-US"/>
          </a:p>
        </p:txBody>
      </p:sp>
      <p:sp>
        <p:nvSpPr>
          <p:cNvPr id="3" name="Footer Placeholder 2">
            <a:extLst>
              <a:ext uri="{FF2B5EF4-FFF2-40B4-BE49-F238E27FC236}">
                <a16:creationId xmlns:a16="http://schemas.microsoft.com/office/drawing/2014/main" id="{2B65EE26-F429-DA30-EC90-C531F52B57A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4C1DB0-C86A-AE69-DABC-96FE07C07E4E}"/>
              </a:ext>
            </a:extLst>
          </p:cNvPr>
          <p:cNvSpPr>
            <a:spLocks noGrp="1"/>
          </p:cNvSpPr>
          <p:nvPr>
            <p:ph type="sldNum" sz="quarter" idx="12"/>
          </p:nvPr>
        </p:nvSpPr>
        <p:spPr/>
        <p:txBody>
          <a:bodyPr/>
          <a:lstStyle/>
          <a:p>
            <a:fld id="{7F9968DB-5D97-4389-BDD9-086490157FA2}" type="slidenum">
              <a:rPr lang="en-US" smtClean="0"/>
              <a:t>‹#›</a:t>
            </a:fld>
            <a:endParaRPr lang="en-US"/>
          </a:p>
        </p:txBody>
      </p:sp>
    </p:spTree>
    <p:extLst>
      <p:ext uri="{BB962C8B-B14F-4D97-AF65-F5344CB8AC3E}">
        <p14:creationId xmlns:p14="http://schemas.microsoft.com/office/powerpoint/2010/main" val="1296008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F5C7A-CA10-3877-69CE-706ED45192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BBDD850-7A11-5B54-CA92-D001B299C1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0D1458-0E43-7874-E50E-CE787B2A71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65FB0B-2F12-1584-8799-FC687CD808CC}"/>
              </a:ext>
            </a:extLst>
          </p:cNvPr>
          <p:cNvSpPr>
            <a:spLocks noGrp="1"/>
          </p:cNvSpPr>
          <p:nvPr>
            <p:ph type="dt" sz="half" idx="10"/>
          </p:nvPr>
        </p:nvSpPr>
        <p:spPr/>
        <p:txBody>
          <a:bodyPr/>
          <a:lstStyle/>
          <a:p>
            <a:fld id="{500CB7A9-5B45-43D5-AFFA-8D8D81D59FBD}" type="datetimeFigureOut">
              <a:rPr lang="en-US" smtClean="0"/>
              <a:t>4/5/2026</a:t>
            </a:fld>
            <a:endParaRPr lang="en-US"/>
          </a:p>
        </p:txBody>
      </p:sp>
      <p:sp>
        <p:nvSpPr>
          <p:cNvPr id="6" name="Footer Placeholder 5">
            <a:extLst>
              <a:ext uri="{FF2B5EF4-FFF2-40B4-BE49-F238E27FC236}">
                <a16:creationId xmlns:a16="http://schemas.microsoft.com/office/drawing/2014/main" id="{8914AA03-5957-03C0-E4DA-0FAF48C02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491C66-7719-7ADC-6978-BB82C61D3D85}"/>
              </a:ext>
            </a:extLst>
          </p:cNvPr>
          <p:cNvSpPr>
            <a:spLocks noGrp="1"/>
          </p:cNvSpPr>
          <p:nvPr>
            <p:ph type="sldNum" sz="quarter" idx="12"/>
          </p:nvPr>
        </p:nvSpPr>
        <p:spPr/>
        <p:txBody>
          <a:bodyPr/>
          <a:lstStyle/>
          <a:p>
            <a:fld id="{7F9968DB-5D97-4389-BDD9-086490157FA2}" type="slidenum">
              <a:rPr lang="en-US" smtClean="0"/>
              <a:t>‹#›</a:t>
            </a:fld>
            <a:endParaRPr lang="en-US"/>
          </a:p>
        </p:txBody>
      </p:sp>
    </p:spTree>
    <p:extLst>
      <p:ext uri="{BB962C8B-B14F-4D97-AF65-F5344CB8AC3E}">
        <p14:creationId xmlns:p14="http://schemas.microsoft.com/office/powerpoint/2010/main" val="2651285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DC2C9-A560-6901-B385-D61B358B9D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CAFFE33-DC70-29BC-3086-DE2C2D870E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947AFFA-68A4-8F3E-BBF4-CB70EC7C31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3D6021-07B2-BD5D-1AB2-00D3EA496D7B}"/>
              </a:ext>
            </a:extLst>
          </p:cNvPr>
          <p:cNvSpPr>
            <a:spLocks noGrp="1"/>
          </p:cNvSpPr>
          <p:nvPr>
            <p:ph type="dt" sz="half" idx="10"/>
          </p:nvPr>
        </p:nvSpPr>
        <p:spPr/>
        <p:txBody>
          <a:bodyPr/>
          <a:lstStyle/>
          <a:p>
            <a:fld id="{500CB7A9-5B45-43D5-AFFA-8D8D81D59FBD}" type="datetimeFigureOut">
              <a:rPr lang="en-US" smtClean="0"/>
              <a:t>4/5/2026</a:t>
            </a:fld>
            <a:endParaRPr lang="en-US"/>
          </a:p>
        </p:txBody>
      </p:sp>
      <p:sp>
        <p:nvSpPr>
          <p:cNvPr id="6" name="Footer Placeholder 5">
            <a:extLst>
              <a:ext uri="{FF2B5EF4-FFF2-40B4-BE49-F238E27FC236}">
                <a16:creationId xmlns:a16="http://schemas.microsoft.com/office/drawing/2014/main" id="{A735268F-12E2-0EAA-69CD-48D224A60D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EBB3C2-A416-29C0-2301-3A1D44FF5EFB}"/>
              </a:ext>
            </a:extLst>
          </p:cNvPr>
          <p:cNvSpPr>
            <a:spLocks noGrp="1"/>
          </p:cNvSpPr>
          <p:nvPr>
            <p:ph type="sldNum" sz="quarter" idx="12"/>
          </p:nvPr>
        </p:nvSpPr>
        <p:spPr/>
        <p:txBody>
          <a:bodyPr/>
          <a:lstStyle/>
          <a:p>
            <a:fld id="{7F9968DB-5D97-4389-BDD9-086490157FA2}" type="slidenum">
              <a:rPr lang="en-US" smtClean="0"/>
              <a:t>‹#›</a:t>
            </a:fld>
            <a:endParaRPr lang="en-US"/>
          </a:p>
        </p:txBody>
      </p:sp>
    </p:spTree>
    <p:extLst>
      <p:ext uri="{BB962C8B-B14F-4D97-AF65-F5344CB8AC3E}">
        <p14:creationId xmlns:p14="http://schemas.microsoft.com/office/powerpoint/2010/main" val="207357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CAAA6-97EE-31A6-279F-C9DE773136C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385FACE-687C-AB4A-B4A9-076C5A901A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24A437-D5E3-2B06-BFD8-5F284D9B7C3D}"/>
              </a:ext>
            </a:extLst>
          </p:cNvPr>
          <p:cNvSpPr>
            <a:spLocks noGrp="1"/>
          </p:cNvSpPr>
          <p:nvPr>
            <p:ph type="dt" sz="half" idx="10"/>
          </p:nvPr>
        </p:nvSpPr>
        <p:spPr/>
        <p:txBody>
          <a:bodyPr/>
          <a:lstStyle/>
          <a:p>
            <a:fld id="{500CB7A9-5B45-43D5-AFFA-8D8D81D59FBD}" type="datetimeFigureOut">
              <a:rPr lang="en-US" smtClean="0"/>
              <a:t>4/5/2026</a:t>
            </a:fld>
            <a:endParaRPr lang="en-US"/>
          </a:p>
        </p:txBody>
      </p:sp>
      <p:sp>
        <p:nvSpPr>
          <p:cNvPr id="5" name="Footer Placeholder 4">
            <a:extLst>
              <a:ext uri="{FF2B5EF4-FFF2-40B4-BE49-F238E27FC236}">
                <a16:creationId xmlns:a16="http://schemas.microsoft.com/office/drawing/2014/main" id="{4218420E-8786-D2E8-3165-41A188DFFE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4292B6-2D42-A55F-183B-4848840C0E70}"/>
              </a:ext>
            </a:extLst>
          </p:cNvPr>
          <p:cNvSpPr>
            <a:spLocks noGrp="1"/>
          </p:cNvSpPr>
          <p:nvPr>
            <p:ph type="sldNum" sz="quarter" idx="12"/>
          </p:nvPr>
        </p:nvSpPr>
        <p:spPr/>
        <p:txBody>
          <a:bodyPr/>
          <a:lstStyle/>
          <a:p>
            <a:fld id="{7F9968DB-5D97-4389-BDD9-086490157FA2}" type="slidenum">
              <a:rPr lang="en-US" smtClean="0"/>
              <a:t>‹#›</a:t>
            </a:fld>
            <a:endParaRPr lang="en-US"/>
          </a:p>
        </p:txBody>
      </p:sp>
    </p:spTree>
    <p:extLst>
      <p:ext uri="{BB962C8B-B14F-4D97-AF65-F5344CB8AC3E}">
        <p14:creationId xmlns:p14="http://schemas.microsoft.com/office/powerpoint/2010/main" val="165141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6B3D10-79E4-8310-21C6-0DB46F620BD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677CE08-C411-1CE6-A743-23D29229E1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897C3E-360C-2487-1A1A-0695C5EA91CA}"/>
              </a:ext>
            </a:extLst>
          </p:cNvPr>
          <p:cNvSpPr>
            <a:spLocks noGrp="1"/>
          </p:cNvSpPr>
          <p:nvPr>
            <p:ph type="dt" sz="half" idx="10"/>
          </p:nvPr>
        </p:nvSpPr>
        <p:spPr/>
        <p:txBody>
          <a:bodyPr/>
          <a:lstStyle/>
          <a:p>
            <a:fld id="{500CB7A9-5B45-43D5-AFFA-8D8D81D59FBD}" type="datetimeFigureOut">
              <a:rPr lang="en-US" smtClean="0"/>
              <a:t>4/5/2026</a:t>
            </a:fld>
            <a:endParaRPr lang="en-US"/>
          </a:p>
        </p:txBody>
      </p:sp>
      <p:sp>
        <p:nvSpPr>
          <p:cNvPr id="5" name="Footer Placeholder 4">
            <a:extLst>
              <a:ext uri="{FF2B5EF4-FFF2-40B4-BE49-F238E27FC236}">
                <a16:creationId xmlns:a16="http://schemas.microsoft.com/office/drawing/2014/main" id="{DA7C1100-1740-1017-F8FE-27AAE90D9D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3DA647-B01D-D623-FE44-8C938555777B}"/>
              </a:ext>
            </a:extLst>
          </p:cNvPr>
          <p:cNvSpPr>
            <a:spLocks noGrp="1"/>
          </p:cNvSpPr>
          <p:nvPr>
            <p:ph type="sldNum" sz="quarter" idx="12"/>
          </p:nvPr>
        </p:nvSpPr>
        <p:spPr/>
        <p:txBody>
          <a:bodyPr/>
          <a:lstStyle/>
          <a:p>
            <a:fld id="{7F9968DB-5D97-4389-BDD9-086490157FA2}" type="slidenum">
              <a:rPr lang="en-US" smtClean="0"/>
              <a:t>‹#›</a:t>
            </a:fld>
            <a:endParaRPr lang="en-US"/>
          </a:p>
        </p:txBody>
      </p:sp>
    </p:spTree>
    <p:extLst>
      <p:ext uri="{BB962C8B-B14F-4D97-AF65-F5344CB8AC3E}">
        <p14:creationId xmlns:p14="http://schemas.microsoft.com/office/powerpoint/2010/main" val="157077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148F4F-E1A8-50B4-AA63-7964AA644F5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94B0D52-9039-9E58-18DA-4D585B59E9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AAE2D4-D0EF-3CF0-FB0E-91E6940157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00CB7A9-5B45-43D5-AFFA-8D8D81D59FBD}" type="datetimeFigureOut">
              <a:rPr lang="en-US" smtClean="0"/>
              <a:t>4/5/2026</a:t>
            </a:fld>
            <a:endParaRPr lang="en-US"/>
          </a:p>
        </p:txBody>
      </p:sp>
      <p:sp>
        <p:nvSpPr>
          <p:cNvPr id="5" name="Footer Placeholder 4">
            <a:extLst>
              <a:ext uri="{FF2B5EF4-FFF2-40B4-BE49-F238E27FC236}">
                <a16:creationId xmlns:a16="http://schemas.microsoft.com/office/drawing/2014/main" id="{73471E2B-0CDC-05D0-B2CB-E5A812ED4C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536A382-2C7D-A751-270C-CB5DE86389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F9968DB-5D97-4389-BDD9-086490157FA2}" type="slidenum">
              <a:rPr lang="en-US" smtClean="0"/>
              <a:t>‹#›</a:t>
            </a:fld>
            <a:endParaRPr lang="en-US"/>
          </a:p>
        </p:txBody>
      </p:sp>
    </p:spTree>
    <p:extLst>
      <p:ext uri="{BB962C8B-B14F-4D97-AF65-F5344CB8AC3E}">
        <p14:creationId xmlns:p14="http://schemas.microsoft.com/office/powerpoint/2010/main" val="10568444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7.sv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Rounded Corners 1028">
            <a:extLst>
              <a:ext uri="{FF2B5EF4-FFF2-40B4-BE49-F238E27FC236}">
                <a16:creationId xmlns:a16="http://schemas.microsoft.com/office/drawing/2014/main" id="{E1052C96-5E40-B8ED-0EC8-4AAF261C50B1}"/>
              </a:ext>
            </a:extLst>
          </p:cNvPr>
          <p:cNvSpPr/>
          <p:nvPr/>
        </p:nvSpPr>
        <p:spPr>
          <a:xfrm>
            <a:off x="-334537" y="576228"/>
            <a:ext cx="9363614" cy="1773989"/>
          </a:xfrm>
          <a:prstGeom prst="roundRect">
            <a:avLst>
              <a:gd name="adj" fmla="val 23365"/>
            </a:avLst>
          </a:prstGeom>
          <a:solidFill>
            <a:schemeClr val="bg1">
              <a:alpha val="12000"/>
            </a:schemeClr>
          </a:solid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3F726B7-A20A-6027-8042-65DC1905FD22}"/>
              </a:ext>
            </a:extLst>
          </p:cNvPr>
          <p:cNvSpPr/>
          <p:nvPr/>
        </p:nvSpPr>
        <p:spPr>
          <a:xfrm>
            <a:off x="272738" y="964270"/>
            <a:ext cx="8149063" cy="119396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400" b="1" dirty="0">
                <a:solidFill>
                  <a:schemeClr val="accent2">
                    <a:lumMod val="20000"/>
                    <a:lumOff val="80000"/>
                  </a:schemeClr>
                </a:solidFill>
                <a:latin typeface="Segoe UI" panose="020B0502040204020203" pitchFamily="34" charset="0"/>
                <a:cs typeface="Segoe UI" panose="020B0502040204020203" pitchFamily="34" charset="0"/>
              </a:rPr>
            </a:br>
            <a:r>
              <a:rPr lang="en-US" sz="3200" b="1" dirty="0">
                <a:solidFill>
                  <a:srgbClr val="73BAD7"/>
                </a:solidFill>
                <a:latin typeface="Segoe UI" panose="020B0502040204020203" pitchFamily="34" charset="0"/>
                <a:cs typeface="Segoe UI" panose="020B0502040204020203" pitchFamily="34" charset="0"/>
              </a:rPr>
              <a:t>ADDRESS SPACE </a:t>
            </a:r>
          </a:p>
          <a:p>
            <a:r>
              <a:rPr lang="en-US" sz="3200" b="1" dirty="0">
                <a:solidFill>
                  <a:srgbClr val="73BAD7"/>
                </a:solidFill>
                <a:latin typeface="Segoe UI" panose="020B0502040204020203" pitchFamily="34" charset="0"/>
                <a:cs typeface="Segoe UI" panose="020B0502040204020203" pitchFamily="34" charset="0"/>
              </a:rPr>
              <a:t>LAYOUT RANDOMIZATION (ASLR)</a:t>
            </a:r>
          </a:p>
        </p:txBody>
      </p:sp>
      <p:sp>
        <p:nvSpPr>
          <p:cNvPr id="10" name="Rectangle 9">
            <a:extLst>
              <a:ext uri="{FF2B5EF4-FFF2-40B4-BE49-F238E27FC236}">
                <a16:creationId xmlns:a16="http://schemas.microsoft.com/office/drawing/2014/main" id="{F09BD20C-6977-F5DE-8FF4-328F92D5602F}"/>
              </a:ext>
            </a:extLst>
          </p:cNvPr>
          <p:cNvSpPr/>
          <p:nvPr/>
        </p:nvSpPr>
        <p:spPr>
          <a:xfrm>
            <a:off x="554268" y="5542096"/>
            <a:ext cx="5663652" cy="6564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0"/>
              </a:spcBef>
            </a:pPr>
            <a:r>
              <a:rPr lang="en-US" sz="2000" b="1" dirty="0">
                <a:solidFill>
                  <a:schemeClr val="bg1"/>
                </a:solidFill>
                <a:latin typeface="Segoe UI" panose="020B0502040204020203" pitchFamily="34" charset="0"/>
                <a:cs typeface="Segoe UI" panose="020B0502040204020203" pitchFamily="34" charset="0"/>
              </a:rPr>
              <a:t>GVHD: </a:t>
            </a:r>
            <a:r>
              <a:rPr lang="en-US" sz="2000" b="1" dirty="0" err="1">
                <a:solidFill>
                  <a:schemeClr val="bg1"/>
                </a:solidFill>
                <a:latin typeface="Segoe UI" panose="020B0502040204020203" pitchFamily="34" charset="0"/>
                <a:cs typeface="Segoe UI" panose="020B0502040204020203" pitchFamily="34" charset="0"/>
              </a:rPr>
              <a:t>Th.S</a:t>
            </a:r>
            <a:r>
              <a:rPr lang="en-US" sz="2000" b="1" dirty="0">
                <a:solidFill>
                  <a:schemeClr val="bg1"/>
                </a:solidFill>
                <a:latin typeface="Segoe UI" panose="020B0502040204020203" pitchFamily="34" charset="0"/>
                <a:cs typeface="Segoe UI" panose="020B0502040204020203" pitchFamily="34" charset="0"/>
              </a:rPr>
              <a:t> Nguyễn </a:t>
            </a:r>
            <a:r>
              <a:rPr lang="en-US" sz="2000" b="1" dirty="0" err="1">
                <a:solidFill>
                  <a:schemeClr val="bg1"/>
                </a:solidFill>
                <a:latin typeface="Segoe UI" panose="020B0502040204020203" pitchFamily="34" charset="0"/>
                <a:cs typeface="Segoe UI" panose="020B0502040204020203" pitchFamily="34" charset="0"/>
              </a:rPr>
              <a:t>Trọng</a:t>
            </a:r>
            <a:r>
              <a:rPr lang="en-US" sz="2000" b="1" dirty="0">
                <a:solidFill>
                  <a:schemeClr val="bg1"/>
                </a:solidFill>
                <a:latin typeface="Segoe UI" panose="020B0502040204020203" pitchFamily="34" charset="0"/>
                <a:cs typeface="Segoe UI" panose="020B0502040204020203" pitchFamily="34" charset="0"/>
              </a:rPr>
              <a:t> Minh Hồng </a:t>
            </a:r>
            <a:r>
              <a:rPr lang="en-US" sz="2000" b="1" dirty="0" err="1">
                <a:solidFill>
                  <a:schemeClr val="bg1"/>
                </a:solidFill>
                <a:latin typeface="Segoe UI" panose="020B0502040204020203" pitchFamily="34" charset="0"/>
                <a:cs typeface="Segoe UI" panose="020B0502040204020203" pitchFamily="34" charset="0"/>
              </a:rPr>
              <a:t>Phước</a:t>
            </a:r>
            <a:endParaRPr lang="en-US" sz="2000" b="1" dirty="0">
              <a:solidFill>
                <a:schemeClr val="bg1"/>
              </a:solidFill>
              <a:latin typeface="Segoe UI" panose="020B0502040204020203" pitchFamily="34" charset="0"/>
              <a:cs typeface="Segoe UI" panose="020B0502040204020203" pitchFamily="34" charset="0"/>
            </a:endParaRPr>
          </a:p>
        </p:txBody>
      </p:sp>
      <p:sp>
        <p:nvSpPr>
          <p:cNvPr id="13" name="Rectangle 12">
            <a:extLst>
              <a:ext uri="{FF2B5EF4-FFF2-40B4-BE49-F238E27FC236}">
                <a16:creationId xmlns:a16="http://schemas.microsoft.com/office/drawing/2014/main" id="{5B63D2DF-1EBC-49C7-4797-6CF681489BD7}"/>
              </a:ext>
            </a:extLst>
          </p:cNvPr>
          <p:cNvSpPr/>
          <p:nvPr/>
        </p:nvSpPr>
        <p:spPr>
          <a:xfrm>
            <a:off x="558866" y="3168688"/>
            <a:ext cx="6247727" cy="466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0"/>
              </a:spcBef>
            </a:pPr>
            <a:r>
              <a:rPr lang="en-US" sz="2000" b="1" dirty="0">
                <a:latin typeface="Segoe UI" panose="020B0502040204020203" pitchFamily="34" charset="0"/>
                <a:cs typeface="Segoe UI" panose="020B0502040204020203" pitchFamily="34" charset="0"/>
              </a:rPr>
              <a:t>Sinh </a:t>
            </a:r>
            <a:r>
              <a:rPr lang="en-US" sz="2000" b="1" dirty="0" err="1">
                <a:latin typeface="Segoe UI" panose="020B0502040204020203" pitchFamily="34" charset="0"/>
                <a:cs typeface="Segoe UI" panose="020B0502040204020203" pitchFamily="34" charset="0"/>
              </a:rPr>
              <a:t>viên</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thực</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hiện</a:t>
            </a:r>
            <a:r>
              <a:rPr lang="en-US" sz="2000" b="1" dirty="0">
                <a:latin typeface="Segoe UI" panose="020B0502040204020203" pitchFamily="34" charset="0"/>
                <a:cs typeface="Segoe UI" panose="020B0502040204020203" pitchFamily="34" charset="0"/>
              </a:rPr>
              <a:t>:</a:t>
            </a:r>
          </a:p>
        </p:txBody>
      </p:sp>
      <p:graphicFrame>
        <p:nvGraphicFramePr>
          <p:cNvPr id="14" name="Table 13">
            <a:extLst>
              <a:ext uri="{FF2B5EF4-FFF2-40B4-BE49-F238E27FC236}">
                <a16:creationId xmlns:a16="http://schemas.microsoft.com/office/drawing/2014/main" id="{6881DCBD-C8E2-A733-FFC9-7AA14ABAC10E}"/>
              </a:ext>
            </a:extLst>
          </p:cNvPr>
          <p:cNvGraphicFramePr>
            <a:graphicFrameLocks noGrp="1"/>
          </p:cNvGraphicFramePr>
          <p:nvPr>
            <p:extLst>
              <p:ext uri="{D42A27DB-BD31-4B8C-83A1-F6EECF244321}">
                <p14:modId xmlns:p14="http://schemas.microsoft.com/office/powerpoint/2010/main" val="1293620857"/>
              </p:ext>
            </p:extLst>
          </p:nvPr>
        </p:nvGraphicFramePr>
        <p:xfrm>
          <a:off x="558866" y="3744583"/>
          <a:ext cx="8149063" cy="1638073"/>
        </p:xfrm>
        <a:graphic>
          <a:graphicData uri="http://schemas.openxmlformats.org/drawingml/2006/table">
            <a:tbl>
              <a:tblPr firstRow="1" bandRow="1">
                <a:tableStyleId>{5C22544A-7EE6-4342-B048-85BDC9FD1C3A}</a:tableStyleId>
              </a:tblPr>
              <a:tblGrid>
                <a:gridCol w="2716354">
                  <a:extLst>
                    <a:ext uri="{9D8B030D-6E8A-4147-A177-3AD203B41FA5}">
                      <a16:colId xmlns:a16="http://schemas.microsoft.com/office/drawing/2014/main" val="3490606417"/>
                    </a:ext>
                  </a:extLst>
                </a:gridCol>
                <a:gridCol w="1206397">
                  <a:extLst>
                    <a:ext uri="{9D8B030D-6E8A-4147-A177-3AD203B41FA5}">
                      <a16:colId xmlns:a16="http://schemas.microsoft.com/office/drawing/2014/main" val="78677068"/>
                    </a:ext>
                  </a:extLst>
                </a:gridCol>
                <a:gridCol w="4226312">
                  <a:extLst>
                    <a:ext uri="{9D8B030D-6E8A-4147-A177-3AD203B41FA5}">
                      <a16:colId xmlns:a16="http://schemas.microsoft.com/office/drawing/2014/main" val="173555428"/>
                    </a:ext>
                  </a:extLst>
                </a:gridCol>
              </a:tblGrid>
              <a:tr h="429033">
                <a:tc>
                  <a:txBody>
                    <a:bodyPr/>
                    <a:lstStyle/>
                    <a:p>
                      <a:r>
                        <a:rPr lang="en-US" b="0" dirty="0">
                          <a:solidFill>
                            <a:schemeClr val="bg1"/>
                          </a:solidFill>
                        </a:rPr>
                        <a:t>Trần Thuận Thiên</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b="0" dirty="0">
                          <a:solidFill>
                            <a:schemeClr val="bg1"/>
                          </a:solidFill>
                        </a:rPr>
                        <a:t>22DTHE4</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b="0" dirty="0">
                          <a:solidFill>
                            <a:schemeClr val="bg1"/>
                          </a:solidFill>
                        </a:rPr>
                        <a:t>2280603038</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46292278"/>
                  </a:ext>
                </a:extLst>
              </a:tr>
              <a:tr h="419843">
                <a:tc>
                  <a:txBody>
                    <a:bodyPr/>
                    <a:lstStyle/>
                    <a:p>
                      <a:r>
                        <a:rPr lang="en-US" b="0" dirty="0">
                          <a:solidFill>
                            <a:schemeClr val="bg1"/>
                          </a:solidFill>
                        </a:rPr>
                        <a:t>Võ Trần Bảo </a:t>
                      </a:r>
                      <a:r>
                        <a:rPr lang="en-US" b="0" dirty="0" err="1">
                          <a:solidFill>
                            <a:schemeClr val="bg1"/>
                          </a:solidFill>
                        </a:rPr>
                        <a:t>Toàn</a:t>
                      </a:r>
                      <a:endParaRPr lang="en-US" b="0" dirty="0">
                        <a:solidFill>
                          <a:schemeClr val="bg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bg1"/>
                          </a:solidFill>
                        </a:rPr>
                        <a:t>22DTHE4</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b="0" dirty="0">
                          <a:solidFill>
                            <a:schemeClr val="bg1"/>
                          </a:solidFill>
                        </a:rPr>
                        <a:t>2280616366</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35049515"/>
                  </a:ext>
                </a:extLst>
              </a:tr>
              <a:tr h="418357">
                <a:tc>
                  <a:txBody>
                    <a:bodyPr/>
                    <a:lstStyle/>
                    <a:p>
                      <a:r>
                        <a:rPr lang="en-US" b="0" dirty="0">
                          <a:solidFill>
                            <a:schemeClr val="bg1"/>
                          </a:solidFill>
                        </a:rPr>
                        <a:t>Đoàn Minh Quân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bg1"/>
                          </a:solidFill>
                        </a:rPr>
                        <a:t>22DTHE4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b="0" dirty="0">
                          <a:solidFill>
                            <a:schemeClr val="bg1"/>
                          </a:solidFill>
                        </a:rPr>
                        <a:t>2280602572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65666675"/>
                  </a:ext>
                </a:extLst>
              </a:tr>
              <a:tr h="370840">
                <a:tc>
                  <a:txBody>
                    <a:bodyPr/>
                    <a:lstStyle/>
                    <a:p>
                      <a:r>
                        <a:rPr lang="en-US" b="0" dirty="0">
                          <a:solidFill>
                            <a:schemeClr val="bg1"/>
                          </a:solidFill>
                        </a:rPr>
                        <a:t>Trương Nguyễn Bảo Ngọc</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bg1"/>
                          </a:solidFill>
                        </a:rPr>
                        <a:t>22DTHE4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800" kern="1200" dirty="0">
                          <a:solidFill>
                            <a:schemeClr val="bg1"/>
                          </a:solidFill>
                          <a:effectLst/>
                          <a:latin typeface="+mn-lt"/>
                          <a:ea typeface="+mn-ea"/>
                          <a:cs typeface="+mn-cs"/>
                        </a:rPr>
                        <a:t>2280611873</a:t>
                      </a:r>
                      <a:endParaRPr lang="en-US" b="0" dirty="0">
                        <a:solidFill>
                          <a:schemeClr val="bg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49958831"/>
                  </a:ext>
                </a:extLst>
              </a:tr>
            </a:tbl>
          </a:graphicData>
        </a:graphic>
      </p:graphicFrame>
      <p:grpSp>
        <p:nvGrpSpPr>
          <p:cNvPr id="1055" name="Group 1054">
            <a:extLst>
              <a:ext uri="{FF2B5EF4-FFF2-40B4-BE49-F238E27FC236}">
                <a16:creationId xmlns:a16="http://schemas.microsoft.com/office/drawing/2014/main" id="{2D4719E7-F822-3561-96B4-715F2CCC98CA}"/>
              </a:ext>
            </a:extLst>
          </p:cNvPr>
          <p:cNvGrpSpPr/>
          <p:nvPr/>
        </p:nvGrpSpPr>
        <p:grpSpPr>
          <a:xfrm>
            <a:off x="6283590" y="-394826"/>
            <a:ext cx="9236479" cy="8009556"/>
            <a:chOff x="6054990" y="-420226"/>
            <a:chExt cx="9236479" cy="8009556"/>
          </a:xfrm>
          <a:effectLst>
            <a:glow rad="88900">
              <a:schemeClr val="bg1">
                <a:alpha val="58000"/>
              </a:schemeClr>
            </a:glow>
          </a:effectLst>
        </p:grpSpPr>
        <p:sp>
          <p:nvSpPr>
            <p:cNvPr id="1056" name="Trapezoid 1055">
              <a:extLst>
                <a:ext uri="{FF2B5EF4-FFF2-40B4-BE49-F238E27FC236}">
                  <a16:creationId xmlns:a16="http://schemas.microsoft.com/office/drawing/2014/main" id="{78EB5A9E-F5D2-AC33-409B-BFF49285CAA8}"/>
                </a:ext>
              </a:extLst>
            </p:cNvPr>
            <p:cNvSpPr/>
            <p:nvPr/>
          </p:nvSpPr>
          <p:spPr>
            <a:xfrm>
              <a:off x="6096000" y="-25400"/>
              <a:ext cx="9195469" cy="6883400"/>
            </a:xfrm>
            <a:prstGeom prst="trapezoid">
              <a:avLst>
                <a:gd name="adj" fmla="val 37121"/>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7" name="Parallelogram 1056">
              <a:extLst>
                <a:ext uri="{FF2B5EF4-FFF2-40B4-BE49-F238E27FC236}">
                  <a16:creationId xmlns:a16="http://schemas.microsoft.com/office/drawing/2014/main" id="{46768918-3618-6667-1C33-695D15ACD5FD}"/>
                </a:ext>
              </a:extLst>
            </p:cNvPr>
            <p:cNvSpPr/>
            <p:nvPr/>
          </p:nvSpPr>
          <p:spPr>
            <a:xfrm>
              <a:off x="7796646" y="0"/>
              <a:ext cx="1124416" cy="1434421"/>
            </a:xfrm>
            <a:prstGeom prst="parallelogram">
              <a:avLst>
                <a:gd name="adj" fmla="val 47491"/>
              </a:avLst>
            </a:prstGeom>
            <a:solidFill>
              <a:srgbClr val="2B77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8" name="Parallelogram 1057">
              <a:extLst>
                <a:ext uri="{FF2B5EF4-FFF2-40B4-BE49-F238E27FC236}">
                  <a16:creationId xmlns:a16="http://schemas.microsoft.com/office/drawing/2014/main" id="{CE0C78A2-712D-B22A-3F24-1F88B78B730C}"/>
                </a:ext>
              </a:extLst>
            </p:cNvPr>
            <p:cNvSpPr/>
            <p:nvPr/>
          </p:nvSpPr>
          <p:spPr>
            <a:xfrm rot="587286">
              <a:off x="6054991" y="4363407"/>
              <a:ext cx="886040" cy="2652593"/>
            </a:xfrm>
            <a:prstGeom prst="parallelogram">
              <a:avLst>
                <a:gd name="adj" fmla="val 56879"/>
              </a:avLst>
            </a:prstGeom>
            <a:solidFill>
              <a:srgbClr val="2B77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9" name="Parallelogram 1058">
              <a:extLst>
                <a:ext uri="{FF2B5EF4-FFF2-40B4-BE49-F238E27FC236}">
                  <a16:creationId xmlns:a16="http://schemas.microsoft.com/office/drawing/2014/main" id="{ABAA9714-4B7C-E640-CC0D-F77F161E696B}"/>
                </a:ext>
              </a:extLst>
            </p:cNvPr>
            <p:cNvSpPr/>
            <p:nvPr/>
          </p:nvSpPr>
          <p:spPr>
            <a:xfrm rot="587286">
              <a:off x="6054990" y="4936737"/>
              <a:ext cx="886040" cy="2652593"/>
            </a:xfrm>
            <a:prstGeom prst="parallelogram">
              <a:avLst>
                <a:gd name="adj" fmla="val 56879"/>
              </a:avLst>
            </a:prstGeom>
            <a:solidFill>
              <a:srgbClr val="3A9EC6"/>
            </a:solidFill>
            <a:ln>
              <a:noFill/>
            </a:ln>
            <a:effectLst>
              <a:outerShdw blurRad="127000" dist="635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0" name="Parallelogram 1059">
              <a:extLst>
                <a:ext uri="{FF2B5EF4-FFF2-40B4-BE49-F238E27FC236}">
                  <a16:creationId xmlns:a16="http://schemas.microsoft.com/office/drawing/2014/main" id="{DE69FDB0-F5AF-5DAA-C578-16F4EBC99074}"/>
                </a:ext>
              </a:extLst>
            </p:cNvPr>
            <p:cNvSpPr/>
            <p:nvPr/>
          </p:nvSpPr>
          <p:spPr>
            <a:xfrm>
              <a:off x="7777288" y="-420226"/>
              <a:ext cx="1124416" cy="1434421"/>
            </a:xfrm>
            <a:prstGeom prst="parallelogram">
              <a:avLst>
                <a:gd name="adj" fmla="val 47491"/>
              </a:avLst>
            </a:prstGeom>
            <a:solidFill>
              <a:srgbClr val="3A9EC6"/>
            </a:solidFill>
            <a:ln>
              <a:noFill/>
            </a:ln>
            <a:effectLst>
              <a:outerShdw blurRad="127000" dist="63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62" name="Picture 8" descr="Ý nghĩa logo Đại học Công nghệ Tp.HCM (HUTECH)">
            <a:extLst>
              <a:ext uri="{FF2B5EF4-FFF2-40B4-BE49-F238E27FC236}">
                <a16:creationId xmlns:a16="http://schemas.microsoft.com/office/drawing/2014/main" id="{229E7293-E482-E495-3D2F-2F13B29CBA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08096" y="159827"/>
            <a:ext cx="1817203" cy="582783"/>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oup 24">
            <a:extLst>
              <a:ext uri="{FF2B5EF4-FFF2-40B4-BE49-F238E27FC236}">
                <a16:creationId xmlns:a16="http://schemas.microsoft.com/office/drawing/2014/main" id="{FF5F3A1A-C534-7645-FE51-53F546E6266F}"/>
              </a:ext>
            </a:extLst>
          </p:cNvPr>
          <p:cNvGrpSpPr/>
          <p:nvPr/>
        </p:nvGrpSpPr>
        <p:grpSpPr>
          <a:xfrm>
            <a:off x="51124" y="2641274"/>
            <a:ext cx="5957715" cy="406125"/>
            <a:chOff x="0" y="0"/>
            <a:chExt cx="16718383" cy="1139658"/>
          </a:xfrm>
          <a:effectLst>
            <a:glow rad="76200">
              <a:srgbClr val="6DB1CC">
                <a:alpha val="19000"/>
              </a:srgbClr>
            </a:glow>
          </a:effectLst>
        </p:grpSpPr>
        <p:sp>
          <p:nvSpPr>
            <p:cNvPr id="15" name="Freeform 25">
              <a:extLst>
                <a:ext uri="{FF2B5EF4-FFF2-40B4-BE49-F238E27FC236}">
                  <a16:creationId xmlns:a16="http://schemas.microsoft.com/office/drawing/2014/main" id="{DD430C56-E59A-DFB2-4CB9-BA0E36B7F3E8}"/>
                </a:ext>
              </a:extLst>
            </p:cNvPr>
            <p:cNvSpPr/>
            <p:nvPr/>
          </p:nvSpPr>
          <p:spPr>
            <a:xfrm>
              <a:off x="0" y="0"/>
              <a:ext cx="3214420" cy="1139658"/>
            </a:xfrm>
            <a:custGeom>
              <a:avLst/>
              <a:gdLst/>
              <a:ahLst/>
              <a:cxnLst/>
              <a:rect l="l" t="t" r="r" b="b"/>
              <a:pathLst>
                <a:path w="3214420" h="1139658">
                  <a:moveTo>
                    <a:pt x="0" y="0"/>
                  </a:moveTo>
                  <a:lnTo>
                    <a:pt x="3214420" y="0"/>
                  </a:lnTo>
                  <a:lnTo>
                    <a:pt x="3214420" y="1139658"/>
                  </a:lnTo>
                  <a:lnTo>
                    <a:pt x="0" y="1139658"/>
                  </a:lnTo>
                  <a:lnTo>
                    <a:pt x="0" y="0"/>
                  </a:lnTo>
                  <a:close/>
                </a:path>
              </a:pathLst>
            </a:custGeom>
            <a:blipFill>
              <a:blip>
                <a:alphaModFix amt="85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6" name="AutoShape 26">
              <a:extLst>
                <a:ext uri="{FF2B5EF4-FFF2-40B4-BE49-F238E27FC236}">
                  <a16:creationId xmlns:a16="http://schemas.microsoft.com/office/drawing/2014/main" id="{5DB79B9E-169D-A4CE-7A0E-9DCE05A2E73A}"/>
                </a:ext>
              </a:extLst>
            </p:cNvPr>
            <p:cNvSpPr/>
            <p:nvPr/>
          </p:nvSpPr>
          <p:spPr>
            <a:xfrm rot="-10800000">
              <a:off x="15047121" y="189456"/>
              <a:ext cx="1671262" cy="0"/>
            </a:xfrm>
            <a:prstGeom prst="line">
              <a:avLst/>
            </a:prstGeom>
            <a:ln w="25400" cap="rnd">
              <a:solidFill>
                <a:srgbClr val="F4F4F4">
                  <a:alpha val="84706"/>
                </a:srgbClr>
              </a:solidFill>
              <a:prstDash val="solid"/>
              <a:headEnd type="none" w="sm" len="sm"/>
              <a:tailEnd type="none" w="sm" len="sm"/>
            </a:ln>
          </p:spPr>
          <p:txBody>
            <a:bodyPr/>
            <a:lstStyle/>
            <a:p>
              <a:endParaRPr lang="en-US"/>
            </a:p>
          </p:txBody>
        </p:sp>
        <p:sp>
          <p:nvSpPr>
            <p:cNvPr id="17" name="AutoShape 27">
              <a:extLst>
                <a:ext uri="{FF2B5EF4-FFF2-40B4-BE49-F238E27FC236}">
                  <a16:creationId xmlns:a16="http://schemas.microsoft.com/office/drawing/2014/main" id="{EA81F9CA-FCE6-3A35-69B5-0A0EB41FFADC}"/>
                </a:ext>
              </a:extLst>
            </p:cNvPr>
            <p:cNvSpPr/>
            <p:nvPr/>
          </p:nvSpPr>
          <p:spPr>
            <a:xfrm rot="7885181">
              <a:off x="14572913" y="407668"/>
              <a:ext cx="581989" cy="0"/>
            </a:xfrm>
            <a:prstGeom prst="line">
              <a:avLst/>
            </a:prstGeom>
            <a:ln w="25400" cap="rnd">
              <a:solidFill>
                <a:srgbClr val="F4F4F4">
                  <a:alpha val="84706"/>
                </a:srgbClr>
              </a:solidFill>
              <a:prstDash val="solid"/>
              <a:headEnd type="none" w="sm" len="sm"/>
              <a:tailEnd type="none" w="sm" len="sm"/>
            </a:ln>
          </p:spPr>
          <p:txBody>
            <a:bodyPr/>
            <a:lstStyle/>
            <a:p>
              <a:endParaRPr lang="en-US"/>
            </a:p>
          </p:txBody>
        </p:sp>
        <p:sp>
          <p:nvSpPr>
            <p:cNvPr id="18" name="AutoShape 28">
              <a:extLst>
                <a:ext uri="{FF2B5EF4-FFF2-40B4-BE49-F238E27FC236}">
                  <a16:creationId xmlns:a16="http://schemas.microsoft.com/office/drawing/2014/main" id="{2B42C285-691A-6471-2237-3045BE18E964}"/>
                </a:ext>
              </a:extLst>
            </p:cNvPr>
            <p:cNvSpPr/>
            <p:nvPr/>
          </p:nvSpPr>
          <p:spPr>
            <a:xfrm rot="-10800000">
              <a:off x="3771270" y="625880"/>
              <a:ext cx="10912759" cy="0"/>
            </a:xfrm>
            <a:prstGeom prst="line">
              <a:avLst/>
            </a:prstGeom>
            <a:ln w="25400" cap="rnd">
              <a:solidFill>
                <a:srgbClr val="F4F4F4">
                  <a:alpha val="84706"/>
                </a:srgbClr>
              </a:solidFill>
              <a:prstDash val="solid"/>
              <a:headEnd type="none" w="sm" len="sm"/>
              <a:tailEnd type="none" w="sm" len="sm"/>
            </a:ln>
          </p:spPr>
          <p:txBody>
            <a:bodyPr/>
            <a:lstStyle/>
            <a:p>
              <a:endParaRPr lang="en-US"/>
            </a:p>
          </p:txBody>
        </p:sp>
        <p:sp>
          <p:nvSpPr>
            <p:cNvPr id="19" name="Freeform 29">
              <a:extLst>
                <a:ext uri="{FF2B5EF4-FFF2-40B4-BE49-F238E27FC236}">
                  <a16:creationId xmlns:a16="http://schemas.microsoft.com/office/drawing/2014/main" id="{230A87C5-CDDA-EFE4-C0A0-1EE0E6683B49}"/>
                </a:ext>
              </a:extLst>
            </p:cNvPr>
            <p:cNvSpPr/>
            <p:nvPr/>
          </p:nvSpPr>
          <p:spPr>
            <a:xfrm rot="-10800000">
              <a:off x="5896703" y="105930"/>
              <a:ext cx="1524000" cy="304800"/>
            </a:xfrm>
            <a:custGeom>
              <a:avLst/>
              <a:gdLst/>
              <a:ahLst/>
              <a:cxnLst/>
              <a:rect l="l" t="t" r="r" b="b"/>
              <a:pathLst>
                <a:path w="1524000" h="304800">
                  <a:moveTo>
                    <a:pt x="0" y="0"/>
                  </a:moveTo>
                  <a:lnTo>
                    <a:pt x="1524000" y="0"/>
                  </a:lnTo>
                  <a:lnTo>
                    <a:pt x="1524000" y="304800"/>
                  </a:lnTo>
                  <a:lnTo>
                    <a:pt x="0" y="304800"/>
                  </a:lnTo>
                  <a:lnTo>
                    <a:pt x="0" y="0"/>
                  </a:lnTo>
                  <a:close/>
                </a:path>
              </a:pathLst>
            </a:custGeom>
            <a:blipFill>
              <a:blip>
                <a:alphaModFix amt="85000"/>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0" name="Freeform 30">
              <a:extLst>
                <a:ext uri="{FF2B5EF4-FFF2-40B4-BE49-F238E27FC236}">
                  <a16:creationId xmlns:a16="http://schemas.microsoft.com/office/drawing/2014/main" id="{04ED6AB0-E7DB-7D4C-A343-A4106DA68444}"/>
                </a:ext>
              </a:extLst>
            </p:cNvPr>
            <p:cNvSpPr/>
            <p:nvPr/>
          </p:nvSpPr>
          <p:spPr>
            <a:xfrm rot="-10800000">
              <a:off x="4271103" y="105930"/>
              <a:ext cx="1524000" cy="304800"/>
            </a:xfrm>
            <a:custGeom>
              <a:avLst/>
              <a:gdLst/>
              <a:ahLst/>
              <a:cxnLst/>
              <a:rect l="l" t="t" r="r" b="b"/>
              <a:pathLst>
                <a:path w="1524000" h="304800">
                  <a:moveTo>
                    <a:pt x="0" y="0"/>
                  </a:moveTo>
                  <a:lnTo>
                    <a:pt x="1524000" y="0"/>
                  </a:lnTo>
                  <a:lnTo>
                    <a:pt x="1524000" y="304800"/>
                  </a:lnTo>
                  <a:lnTo>
                    <a:pt x="0" y="304800"/>
                  </a:lnTo>
                  <a:lnTo>
                    <a:pt x="0" y="0"/>
                  </a:lnTo>
                  <a:close/>
                </a:path>
              </a:pathLst>
            </a:custGeom>
            <a:blipFill>
              <a:blip>
                <a:alphaModFix amt="85000"/>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1" name="AutoShape 31">
              <a:extLst>
                <a:ext uri="{FF2B5EF4-FFF2-40B4-BE49-F238E27FC236}">
                  <a16:creationId xmlns:a16="http://schemas.microsoft.com/office/drawing/2014/main" id="{BB71854F-6E35-5B1D-7DF2-41FEC21458E6}"/>
                </a:ext>
              </a:extLst>
            </p:cNvPr>
            <p:cNvSpPr/>
            <p:nvPr/>
          </p:nvSpPr>
          <p:spPr>
            <a:xfrm>
              <a:off x="7688242" y="258330"/>
              <a:ext cx="6659288" cy="0"/>
            </a:xfrm>
            <a:prstGeom prst="line">
              <a:avLst/>
            </a:prstGeom>
            <a:ln w="25400" cap="flat">
              <a:solidFill>
                <a:srgbClr val="F4F4F4">
                  <a:alpha val="84706"/>
                </a:srgbClr>
              </a:solidFill>
              <a:prstDash val="lgDash"/>
              <a:headEnd type="none" w="sm" len="sm"/>
              <a:tailEnd type="none" w="sm" len="sm"/>
            </a:ln>
          </p:spPr>
          <p:txBody>
            <a:bodyPr/>
            <a:lstStyle/>
            <a:p>
              <a:endParaRPr lang="en-US"/>
            </a:p>
          </p:txBody>
        </p:sp>
      </p:grpSp>
      <p:sp>
        <p:nvSpPr>
          <p:cNvPr id="4" name="TextBox 3">
            <a:extLst>
              <a:ext uri="{FF2B5EF4-FFF2-40B4-BE49-F238E27FC236}">
                <a16:creationId xmlns:a16="http://schemas.microsoft.com/office/drawing/2014/main" id="{44317B71-4213-DF8A-7C42-A0F32F56481F}"/>
              </a:ext>
            </a:extLst>
          </p:cNvPr>
          <p:cNvSpPr txBox="1"/>
          <p:nvPr/>
        </p:nvSpPr>
        <p:spPr>
          <a:xfrm>
            <a:off x="272738" y="779604"/>
            <a:ext cx="3933502" cy="400110"/>
          </a:xfrm>
          <a:prstGeom prst="rect">
            <a:avLst/>
          </a:prstGeom>
          <a:noFill/>
        </p:spPr>
        <p:txBody>
          <a:bodyPr wrap="square">
            <a:spAutoFit/>
          </a:bodyPr>
          <a:lstStyle/>
          <a:p>
            <a:r>
              <a:rPr lang="en-US" sz="2000" b="1" dirty="0">
                <a:solidFill>
                  <a:schemeClr val="accent2">
                    <a:lumMod val="20000"/>
                    <a:lumOff val="80000"/>
                  </a:schemeClr>
                </a:solidFill>
                <a:latin typeface="Segoe UI" panose="020B0502040204020203" pitchFamily="34" charset="0"/>
                <a:cs typeface="Segoe UI" panose="020B0502040204020203" pitchFamily="34" charset="0"/>
              </a:rPr>
              <a:t>BÁO CÁO ĐỒ ÁN MÔN HỌC</a:t>
            </a:r>
            <a:endParaRPr lang="en-US" sz="2000" dirty="0"/>
          </a:p>
        </p:txBody>
      </p:sp>
    </p:spTree>
    <p:extLst>
      <p:ext uri="{BB962C8B-B14F-4D97-AF65-F5344CB8AC3E}">
        <p14:creationId xmlns:p14="http://schemas.microsoft.com/office/powerpoint/2010/main" val="3666730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8" descr="Ý nghĩa logo Đại học Công nghệ Tp.HCM (HUTECH)">
            <a:extLst>
              <a:ext uri="{FF2B5EF4-FFF2-40B4-BE49-F238E27FC236}">
                <a16:creationId xmlns:a16="http://schemas.microsoft.com/office/drawing/2014/main" id="{B8935C18-B37B-842E-9991-0E03410227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8096" y="159827"/>
            <a:ext cx="1817203" cy="582783"/>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3B0A7F24-FC4B-DFBE-A075-BF046ED08A4F}"/>
              </a:ext>
            </a:extLst>
          </p:cNvPr>
          <p:cNvGrpSpPr/>
          <p:nvPr/>
        </p:nvGrpSpPr>
        <p:grpSpPr>
          <a:xfrm>
            <a:off x="-19878" y="788664"/>
            <a:ext cx="12191999" cy="366174"/>
            <a:chOff x="1" y="6307500"/>
            <a:chExt cx="12191999" cy="366174"/>
          </a:xfrm>
          <a:effectLst>
            <a:glow rad="63500">
              <a:schemeClr val="accent1">
                <a:satMod val="175000"/>
                <a:alpha val="40000"/>
              </a:schemeClr>
            </a:glow>
          </a:effectLst>
        </p:grpSpPr>
        <p:sp>
          <p:nvSpPr>
            <p:cNvPr id="7" name="AutoShape 37">
              <a:extLst>
                <a:ext uri="{FF2B5EF4-FFF2-40B4-BE49-F238E27FC236}">
                  <a16:creationId xmlns:a16="http://schemas.microsoft.com/office/drawing/2014/main" id="{8CEFE032-E338-C7C5-B355-BDDB5DAE551C}"/>
                </a:ext>
              </a:extLst>
            </p:cNvPr>
            <p:cNvSpPr/>
            <p:nvPr/>
          </p:nvSpPr>
          <p:spPr>
            <a:xfrm>
              <a:off x="1" y="6646250"/>
              <a:ext cx="9413932"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8" name="AutoShape 38">
              <a:extLst>
                <a:ext uri="{FF2B5EF4-FFF2-40B4-BE49-F238E27FC236}">
                  <a16:creationId xmlns:a16="http://schemas.microsoft.com/office/drawing/2014/main" id="{0532268A-CA27-A276-6846-ED3FC4064890}"/>
                </a:ext>
              </a:extLst>
            </p:cNvPr>
            <p:cNvSpPr/>
            <p:nvPr/>
          </p:nvSpPr>
          <p:spPr>
            <a:xfrm rot="18000001">
              <a:off x="9315823" y="6490587"/>
              <a:ext cx="366174"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9" name="AutoShape 40">
              <a:extLst>
                <a:ext uri="{FF2B5EF4-FFF2-40B4-BE49-F238E27FC236}">
                  <a16:creationId xmlns:a16="http://schemas.microsoft.com/office/drawing/2014/main" id="{13A9C6BE-DDC6-5518-9F8E-D38CB4A88AA6}"/>
                </a:ext>
              </a:extLst>
            </p:cNvPr>
            <p:cNvSpPr/>
            <p:nvPr/>
          </p:nvSpPr>
          <p:spPr>
            <a:xfrm>
              <a:off x="9584694" y="6332029"/>
              <a:ext cx="2607306" cy="0"/>
            </a:xfrm>
            <a:prstGeom prst="line">
              <a:avLst/>
            </a:prstGeom>
            <a:ln w="19050" cap="flat">
              <a:solidFill>
                <a:srgbClr val="6DB1CC">
                  <a:alpha val="80000"/>
                </a:srgbClr>
              </a:solidFill>
              <a:prstDash val="solid"/>
              <a:headEnd type="none" w="sm" len="sm"/>
              <a:tailEnd type="none" w="sm" len="sm"/>
            </a:ln>
          </p:spPr>
          <p:txBody>
            <a:bodyPr/>
            <a:lstStyle/>
            <a:p>
              <a:endParaRPr lang="en-US"/>
            </a:p>
          </p:txBody>
        </p:sp>
      </p:grpSp>
      <p:sp>
        <p:nvSpPr>
          <p:cNvPr id="10" name="Rectangle 9">
            <a:extLst>
              <a:ext uri="{FF2B5EF4-FFF2-40B4-BE49-F238E27FC236}">
                <a16:creationId xmlns:a16="http://schemas.microsoft.com/office/drawing/2014/main" id="{81F00A38-9622-8C96-E11B-9E54E9BCD69E}"/>
              </a:ext>
            </a:extLst>
          </p:cNvPr>
          <p:cNvSpPr/>
          <p:nvPr/>
        </p:nvSpPr>
        <p:spPr>
          <a:xfrm>
            <a:off x="647481" y="463478"/>
            <a:ext cx="8142621" cy="593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3400" b="1" dirty="0">
                <a:solidFill>
                  <a:srgbClr val="6DB1CC"/>
                </a:solidFill>
                <a:latin typeface="Segoe UI" panose="020B0502040204020203" pitchFamily="34" charset="0"/>
                <a:cs typeface="Segoe UI" panose="020B0502040204020203" pitchFamily="34" charset="0"/>
              </a:rPr>
              <a:t>NỘI DUNG THUYẾT TRÌNH</a:t>
            </a:r>
          </a:p>
        </p:txBody>
      </p:sp>
      <p:sp>
        <p:nvSpPr>
          <p:cNvPr id="16" name="Rectangle 15">
            <a:extLst>
              <a:ext uri="{FF2B5EF4-FFF2-40B4-BE49-F238E27FC236}">
                <a16:creationId xmlns:a16="http://schemas.microsoft.com/office/drawing/2014/main" id="{901100C6-D623-5394-BE62-484564EA0EB6}"/>
              </a:ext>
            </a:extLst>
          </p:cNvPr>
          <p:cNvSpPr/>
          <p:nvPr/>
        </p:nvSpPr>
        <p:spPr>
          <a:xfrm>
            <a:off x="-6064224" y="2234628"/>
            <a:ext cx="4359478" cy="700217"/>
          </a:xfrm>
          <a:prstGeom prst="rect">
            <a:avLst/>
          </a:prstGeom>
          <a:solidFill>
            <a:srgbClr val="93C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191919"/>
                </a:solidFill>
                <a:latin typeface="Calibri" panose="020F0502020204030204" pitchFamily="34" charset="0"/>
                <a:ea typeface="Calibri" panose="020F0502020204030204" pitchFamily="34" charset="0"/>
                <a:cs typeface="Calibri" panose="020F0502020204030204" pitchFamily="34" charset="0"/>
              </a:rPr>
              <a:t>CƠ SỞ LÝ THUYẾT</a:t>
            </a:r>
          </a:p>
        </p:txBody>
      </p:sp>
      <p:sp>
        <p:nvSpPr>
          <p:cNvPr id="19" name="Rectangle 18">
            <a:extLst>
              <a:ext uri="{FF2B5EF4-FFF2-40B4-BE49-F238E27FC236}">
                <a16:creationId xmlns:a16="http://schemas.microsoft.com/office/drawing/2014/main" id="{2C82251A-7DE1-12D1-03C4-4854489455A9}"/>
              </a:ext>
            </a:extLst>
          </p:cNvPr>
          <p:cNvSpPr/>
          <p:nvPr/>
        </p:nvSpPr>
        <p:spPr>
          <a:xfrm>
            <a:off x="-6064224" y="3084231"/>
            <a:ext cx="4359478" cy="700217"/>
          </a:xfrm>
          <a:prstGeom prst="rect">
            <a:avLst/>
          </a:prstGeom>
          <a:solidFill>
            <a:srgbClr val="D1E6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191919"/>
                </a:solidFill>
                <a:latin typeface="Calibri" panose="020F0502020204030204" pitchFamily="34" charset="0"/>
                <a:ea typeface="Calibri" panose="020F0502020204030204" pitchFamily="34" charset="0"/>
                <a:cs typeface="Calibri" panose="020F0502020204030204" pitchFamily="34" charset="0"/>
              </a:rPr>
              <a:t>PHÂN TÍCH &amp; THIẾT KẾ HỆ THỐNG</a:t>
            </a:r>
          </a:p>
        </p:txBody>
      </p:sp>
      <p:sp>
        <p:nvSpPr>
          <p:cNvPr id="20" name="Rectangle 19">
            <a:extLst>
              <a:ext uri="{FF2B5EF4-FFF2-40B4-BE49-F238E27FC236}">
                <a16:creationId xmlns:a16="http://schemas.microsoft.com/office/drawing/2014/main" id="{E9D04058-8B96-E4FA-7AEF-69268956D94B}"/>
              </a:ext>
            </a:extLst>
          </p:cNvPr>
          <p:cNvSpPr/>
          <p:nvPr/>
        </p:nvSpPr>
        <p:spPr>
          <a:xfrm>
            <a:off x="-6064224" y="3933834"/>
            <a:ext cx="4359478" cy="700217"/>
          </a:xfrm>
          <a:prstGeom prst="rect">
            <a:avLst/>
          </a:prstGeom>
          <a:solidFill>
            <a:srgbClr val="93C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191919"/>
                </a:solidFill>
                <a:latin typeface="Calibri" panose="020F0502020204030204" pitchFamily="34" charset="0"/>
                <a:ea typeface="Calibri" panose="020F0502020204030204" pitchFamily="34" charset="0"/>
                <a:cs typeface="Calibri" panose="020F0502020204030204" pitchFamily="34" charset="0"/>
              </a:rPr>
              <a:t>THỬ NGHIỆM &amp; ĐÁNH GIÁ</a:t>
            </a:r>
          </a:p>
        </p:txBody>
      </p:sp>
      <p:sp>
        <p:nvSpPr>
          <p:cNvPr id="21" name="Rectangle 20">
            <a:extLst>
              <a:ext uri="{FF2B5EF4-FFF2-40B4-BE49-F238E27FC236}">
                <a16:creationId xmlns:a16="http://schemas.microsoft.com/office/drawing/2014/main" id="{3BC18340-E121-71E0-3FC7-1B80F943264F}"/>
              </a:ext>
            </a:extLst>
          </p:cNvPr>
          <p:cNvSpPr/>
          <p:nvPr/>
        </p:nvSpPr>
        <p:spPr>
          <a:xfrm>
            <a:off x="-6064224" y="4783437"/>
            <a:ext cx="4359478" cy="700217"/>
          </a:xfrm>
          <a:prstGeom prst="rect">
            <a:avLst/>
          </a:prstGeom>
          <a:solidFill>
            <a:srgbClr val="D1E6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191919"/>
                </a:solidFill>
                <a:latin typeface="Calibri" panose="020F0502020204030204" pitchFamily="34" charset="0"/>
                <a:ea typeface="Calibri" panose="020F0502020204030204" pitchFamily="34" charset="0"/>
                <a:cs typeface="Calibri" panose="020F0502020204030204" pitchFamily="34" charset="0"/>
              </a:rPr>
              <a:t>KẾT LUẬN</a:t>
            </a:r>
          </a:p>
        </p:txBody>
      </p:sp>
      <p:sp>
        <p:nvSpPr>
          <p:cNvPr id="12" name="Rectangle 11">
            <a:extLst>
              <a:ext uri="{FF2B5EF4-FFF2-40B4-BE49-F238E27FC236}">
                <a16:creationId xmlns:a16="http://schemas.microsoft.com/office/drawing/2014/main" id="{174C6A8E-F5BE-64BD-C232-D0652157D866}"/>
              </a:ext>
            </a:extLst>
          </p:cNvPr>
          <p:cNvSpPr/>
          <p:nvPr/>
        </p:nvSpPr>
        <p:spPr>
          <a:xfrm>
            <a:off x="717772" y="2794735"/>
            <a:ext cx="2049691" cy="1979425"/>
          </a:xfrm>
          <a:prstGeom prst="rect">
            <a:avLst/>
          </a:prstGeom>
          <a:solidFill>
            <a:srgbClr val="D1E6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191919"/>
                </a:solidFill>
                <a:latin typeface="Calibri" panose="020F0502020204030204" pitchFamily="34" charset="0"/>
                <a:ea typeface="Calibri" panose="020F0502020204030204" pitchFamily="34" charset="0"/>
                <a:cs typeface="Calibri" panose="020F0502020204030204" pitchFamily="34" charset="0"/>
              </a:rPr>
              <a:t>ĐẶT VẤN ĐỀ</a:t>
            </a:r>
          </a:p>
        </p:txBody>
      </p:sp>
      <p:sp>
        <p:nvSpPr>
          <p:cNvPr id="2" name="Rectangle 1">
            <a:extLst>
              <a:ext uri="{FF2B5EF4-FFF2-40B4-BE49-F238E27FC236}">
                <a16:creationId xmlns:a16="http://schemas.microsoft.com/office/drawing/2014/main" id="{01C57173-43AF-0264-CBCD-1966E343E542}"/>
              </a:ext>
            </a:extLst>
          </p:cNvPr>
          <p:cNvSpPr/>
          <p:nvPr/>
        </p:nvSpPr>
        <p:spPr>
          <a:xfrm>
            <a:off x="2894463" y="2794735"/>
            <a:ext cx="2049691" cy="1979425"/>
          </a:xfrm>
          <a:prstGeom prst="rect">
            <a:avLst/>
          </a:prstGeom>
          <a:solidFill>
            <a:srgbClr val="6DB1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191919"/>
                </a:solidFill>
                <a:latin typeface="Calibri" panose="020F0502020204030204" pitchFamily="34" charset="0"/>
                <a:ea typeface="Calibri" panose="020F0502020204030204" pitchFamily="34" charset="0"/>
                <a:cs typeface="Calibri" panose="020F0502020204030204" pitchFamily="34" charset="0"/>
              </a:rPr>
              <a:t>CƠ SỞ LÝ THUYẾT</a:t>
            </a:r>
          </a:p>
        </p:txBody>
      </p:sp>
      <p:sp>
        <p:nvSpPr>
          <p:cNvPr id="3" name="Rectangle 2">
            <a:extLst>
              <a:ext uri="{FF2B5EF4-FFF2-40B4-BE49-F238E27FC236}">
                <a16:creationId xmlns:a16="http://schemas.microsoft.com/office/drawing/2014/main" id="{750DC219-C84A-0A9F-6C6B-024F1162A209}"/>
              </a:ext>
            </a:extLst>
          </p:cNvPr>
          <p:cNvSpPr/>
          <p:nvPr/>
        </p:nvSpPr>
        <p:spPr>
          <a:xfrm>
            <a:off x="5071154" y="2794735"/>
            <a:ext cx="2049691" cy="1979425"/>
          </a:xfrm>
          <a:prstGeom prst="rect">
            <a:avLst/>
          </a:prstGeom>
          <a:solidFill>
            <a:srgbClr val="D1E6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191919"/>
                </a:solidFill>
                <a:latin typeface="Calibri" panose="020F0502020204030204" pitchFamily="34" charset="0"/>
                <a:ea typeface="Calibri" panose="020F0502020204030204" pitchFamily="34" charset="0"/>
                <a:cs typeface="Calibri" panose="020F0502020204030204" pitchFamily="34" charset="0"/>
              </a:rPr>
              <a:t>PHÂN TÍCH &amp; THIẾT KẾ HỆ THỐNG</a:t>
            </a:r>
          </a:p>
        </p:txBody>
      </p:sp>
      <p:sp>
        <p:nvSpPr>
          <p:cNvPr id="4" name="Rectangle 3">
            <a:extLst>
              <a:ext uri="{FF2B5EF4-FFF2-40B4-BE49-F238E27FC236}">
                <a16:creationId xmlns:a16="http://schemas.microsoft.com/office/drawing/2014/main" id="{083939C8-4A3D-C24A-9147-6C149552C3F9}"/>
              </a:ext>
            </a:extLst>
          </p:cNvPr>
          <p:cNvSpPr/>
          <p:nvPr/>
        </p:nvSpPr>
        <p:spPr>
          <a:xfrm>
            <a:off x="7247845" y="2794735"/>
            <a:ext cx="2049691" cy="1979425"/>
          </a:xfrm>
          <a:prstGeom prst="rect">
            <a:avLst/>
          </a:prstGeom>
          <a:solidFill>
            <a:srgbClr val="6DB1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191919"/>
                </a:solidFill>
                <a:latin typeface="Calibri" panose="020F0502020204030204" pitchFamily="34" charset="0"/>
                <a:ea typeface="Calibri" panose="020F0502020204030204" pitchFamily="34" charset="0"/>
                <a:cs typeface="Calibri" panose="020F0502020204030204" pitchFamily="34" charset="0"/>
              </a:rPr>
              <a:t>THỬ NGHIỆM &amp; ĐÁNH GIÁ</a:t>
            </a:r>
          </a:p>
        </p:txBody>
      </p:sp>
      <p:sp>
        <p:nvSpPr>
          <p:cNvPr id="11" name="Rectangle 10">
            <a:extLst>
              <a:ext uri="{FF2B5EF4-FFF2-40B4-BE49-F238E27FC236}">
                <a16:creationId xmlns:a16="http://schemas.microsoft.com/office/drawing/2014/main" id="{8D78337A-35D1-0719-93C9-2DF5AEFFCEB6}"/>
              </a:ext>
            </a:extLst>
          </p:cNvPr>
          <p:cNvSpPr/>
          <p:nvPr/>
        </p:nvSpPr>
        <p:spPr>
          <a:xfrm>
            <a:off x="9424536" y="2794735"/>
            <a:ext cx="2049691" cy="1979425"/>
          </a:xfrm>
          <a:prstGeom prst="rect">
            <a:avLst/>
          </a:prstGeom>
          <a:solidFill>
            <a:srgbClr val="D1E6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191919"/>
                </a:solidFill>
                <a:latin typeface="Calibri" panose="020F0502020204030204" pitchFamily="34" charset="0"/>
                <a:ea typeface="Calibri" panose="020F0502020204030204" pitchFamily="34" charset="0"/>
                <a:cs typeface="Calibri" panose="020F0502020204030204" pitchFamily="34" charset="0"/>
              </a:rPr>
              <a:t>KẾT LUẬN</a:t>
            </a:r>
          </a:p>
        </p:txBody>
      </p:sp>
      <p:sp>
        <p:nvSpPr>
          <p:cNvPr id="14" name="Rectangle 13">
            <a:extLst>
              <a:ext uri="{FF2B5EF4-FFF2-40B4-BE49-F238E27FC236}">
                <a16:creationId xmlns:a16="http://schemas.microsoft.com/office/drawing/2014/main" id="{E5146F40-A538-2FCF-5724-7A251547F407}"/>
              </a:ext>
            </a:extLst>
          </p:cNvPr>
          <p:cNvSpPr/>
          <p:nvPr/>
        </p:nvSpPr>
        <p:spPr>
          <a:xfrm>
            <a:off x="717772" y="2030348"/>
            <a:ext cx="764387" cy="7643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dirty="0">
                <a:effectLst>
                  <a:glow rad="254000">
                    <a:srgbClr val="B2D6E4">
                      <a:alpha val="15000"/>
                    </a:srgbClr>
                  </a:glow>
                </a:effectLst>
                <a:latin typeface="Segoe UI" panose="020B0502040204020203" pitchFamily="34" charset="0"/>
                <a:cs typeface="Segoe UI" panose="020B0502040204020203" pitchFamily="34" charset="0"/>
              </a:rPr>
              <a:t>01</a:t>
            </a:r>
          </a:p>
        </p:txBody>
      </p:sp>
      <p:sp>
        <p:nvSpPr>
          <p:cNvPr id="15" name="Rectangle 14">
            <a:extLst>
              <a:ext uri="{FF2B5EF4-FFF2-40B4-BE49-F238E27FC236}">
                <a16:creationId xmlns:a16="http://schemas.microsoft.com/office/drawing/2014/main" id="{2860CCE0-08B4-995C-0CCF-00550A3E8B09}"/>
              </a:ext>
            </a:extLst>
          </p:cNvPr>
          <p:cNvSpPr/>
          <p:nvPr/>
        </p:nvSpPr>
        <p:spPr>
          <a:xfrm>
            <a:off x="2894463" y="2030348"/>
            <a:ext cx="764387" cy="7643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dirty="0">
                <a:effectLst>
                  <a:glow rad="254000">
                    <a:srgbClr val="6DB1CC">
                      <a:alpha val="15000"/>
                    </a:srgbClr>
                  </a:glow>
                </a:effectLst>
                <a:latin typeface="Segoe UI" panose="020B0502040204020203" pitchFamily="34" charset="0"/>
                <a:cs typeface="Segoe UI" panose="020B0502040204020203" pitchFamily="34" charset="0"/>
              </a:rPr>
              <a:t>02</a:t>
            </a:r>
          </a:p>
        </p:txBody>
      </p:sp>
      <p:sp>
        <p:nvSpPr>
          <p:cNvPr id="17" name="Rectangle 16">
            <a:extLst>
              <a:ext uri="{FF2B5EF4-FFF2-40B4-BE49-F238E27FC236}">
                <a16:creationId xmlns:a16="http://schemas.microsoft.com/office/drawing/2014/main" id="{D594C447-F06D-73A4-7404-FEE939D6B5C0}"/>
              </a:ext>
            </a:extLst>
          </p:cNvPr>
          <p:cNvSpPr/>
          <p:nvPr/>
        </p:nvSpPr>
        <p:spPr>
          <a:xfrm>
            <a:off x="5071154" y="2030348"/>
            <a:ext cx="764387" cy="7643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dirty="0">
                <a:effectLst>
                  <a:glow rad="254000">
                    <a:srgbClr val="B2D6E4">
                      <a:alpha val="15000"/>
                    </a:srgbClr>
                  </a:glow>
                </a:effectLst>
                <a:latin typeface="Segoe UI" panose="020B0502040204020203" pitchFamily="34" charset="0"/>
                <a:cs typeface="Segoe UI" panose="020B0502040204020203" pitchFamily="34" charset="0"/>
              </a:rPr>
              <a:t>03</a:t>
            </a:r>
          </a:p>
        </p:txBody>
      </p:sp>
      <p:sp>
        <p:nvSpPr>
          <p:cNvPr id="18" name="Rectangle 17">
            <a:extLst>
              <a:ext uri="{FF2B5EF4-FFF2-40B4-BE49-F238E27FC236}">
                <a16:creationId xmlns:a16="http://schemas.microsoft.com/office/drawing/2014/main" id="{503A6918-800C-615A-7394-EA0A5936DC11}"/>
              </a:ext>
            </a:extLst>
          </p:cNvPr>
          <p:cNvSpPr/>
          <p:nvPr/>
        </p:nvSpPr>
        <p:spPr>
          <a:xfrm>
            <a:off x="7247845" y="2030347"/>
            <a:ext cx="764387" cy="7643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dirty="0">
                <a:effectLst>
                  <a:glow rad="254000">
                    <a:srgbClr val="6DB1CC">
                      <a:alpha val="15000"/>
                    </a:srgbClr>
                  </a:glow>
                </a:effectLst>
                <a:latin typeface="Segoe UI" panose="020B0502040204020203" pitchFamily="34" charset="0"/>
                <a:cs typeface="Segoe UI" panose="020B0502040204020203" pitchFamily="34" charset="0"/>
              </a:rPr>
              <a:t>04</a:t>
            </a:r>
          </a:p>
        </p:txBody>
      </p:sp>
      <p:sp>
        <p:nvSpPr>
          <p:cNvPr id="22" name="Rectangle 21">
            <a:extLst>
              <a:ext uri="{FF2B5EF4-FFF2-40B4-BE49-F238E27FC236}">
                <a16:creationId xmlns:a16="http://schemas.microsoft.com/office/drawing/2014/main" id="{40993883-D04F-4688-B72F-1BBB0940B579}"/>
              </a:ext>
            </a:extLst>
          </p:cNvPr>
          <p:cNvSpPr/>
          <p:nvPr/>
        </p:nvSpPr>
        <p:spPr>
          <a:xfrm>
            <a:off x="9430192" y="2030347"/>
            <a:ext cx="764387" cy="7643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dirty="0">
                <a:effectLst>
                  <a:glow rad="254000">
                    <a:srgbClr val="B2D6E4">
                      <a:alpha val="15000"/>
                    </a:srgbClr>
                  </a:glow>
                </a:effectLst>
                <a:latin typeface="Segoe UI" panose="020B0502040204020203" pitchFamily="34" charset="0"/>
                <a:cs typeface="Segoe UI" panose="020B0502040204020203" pitchFamily="34" charset="0"/>
              </a:rPr>
              <a:t>05</a:t>
            </a:r>
          </a:p>
        </p:txBody>
      </p:sp>
    </p:spTree>
    <p:extLst>
      <p:ext uri="{BB962C8B-B14F-4D97-AF65-F5344CB8AC3E}">
        <p14:creationId xmlns:p14="http://schemas.microsoft.com/office/powerpoint/2010/main" val="3831280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Ý nghĩa logo Đại học Công nghệ Tp.HCM (HUTECH)">
            <a:extLst>
              <a:ext uri="{FF2B5EF4-FFF2-40B4-BE49-F238E27FC236}">
                <a16:creationId xmlns:a16="http://schemas.microsoft.com/office/drawing/2014/main" id="{72BC7F13-2329-EDCF-8E58-E339C5A52B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8096" y="159827"/>
            <a:ext cx="1817203" cy="582783"/>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CCB85C4E-82CB-9727-B5E7-5AD76BCAC804}"/>
              </a:ext>
            </a:extLst>
          </p:cNvPr>
          <p:cNvGrpSpPr/>
          <p:nvPr/>
        </p:nvGrpSpPr>
        <p:grpSpPr>
          <a:xfrm>
            <a:off x="-19878" y="788664"/>
            <a:ext cx="12191999" cy="366174"/>
            <a:chOff x="1" y="6307500"/>
            <a:chExt cx="12191999" cy="366174"/>
          </a:xfrm>
          <a:effectLst>
            <a:glow rad="63500">
              <a:schemeClr val="accent1">
                <a:satMod val="175000"/>
                <a:alpha val="40000"/>
              </a:schemeClr>
            </a:glow>
          </a:effectLst>
        </p:grpSpPr>
        <p:sp>
          <p:nvSpPr>
            <p:cNvPr id="11" name="AutoShape 37">
              <a:extLst>
                <a:ext uri="{FF2B5EF4-FFF2-40B4-BE49-F238E27FC236}">
                  <a16:creationId xmlns:a16="http://schemas.microsoft.com/office/drawing/2014/main" id="{FA8B8BCE-69A1-2CC0-4CE5-1956D8ADD4E9}"/>
                </a:ext>
              </a:extLst>
            </p:cNvPr>
            <p:cNvSpPr/>
            <p:nvPr/>
          </p:nvSpPr>
          <p:spPr>
            <a:xfrm>
              <a:off x="1" y="6646250"/>
              <a:ext cx="9413932"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12" name="AutoShape 38">
              <a:extLst>
                <a:ext uri="{FF2B5EF4-FFF2-40B4-BE49-F238E27FC236}">
                  <a16:creationId xmlns:a16="http://schemas.microsoft.com/office/drawing/2014/main" id="{85A0F184-8D8F-4AC7-F549-8A8F10027F4B}"/>
                </a:ext>
              </a:extLst>
            </p:cNvPr>
            <p:cNvSpPr/>
            <p:nvPr/>
          </p:nvSpPr>
          <p:spPr>
            <a:xfrm rot="18000001">
              <a:off x="9315823" y="6490587"/>
              <a:ext cx="366174"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13" name="AutoShape 40">
              <a:extLst>
                <a:ext uri="{FF2B5EF4-FFF2-40B4-BE49-F238E27FC236}">
                  <a16:creationId xmlns:a16="http://schemas.microsoft.com/office/drawing/2014/main" id="{CCDBC5BE-B43E-5A6A-8138-099025552C5A}"/>
                </a:ext>
              </a:extLst>
            </p:cNvPr>
            <p:cNvSpPr/>
            <p:nvPr/>
          </p:nvSpPr>
          <p:spPr>
            <a:xfrm>
              <a:off x="9584694" y="6332029"/>
              <a:ext cx="2607306" cy="0"/>
            </a:xfrm>
            <a:prstGeom prst="line">
              <a:avLst/>
            </a:prstGeom>
            <a:ln w="19050" cap="flat">
              <a:solidFill>
                <a:srgbClr val="6DB1CC">
                  <a:alpha val="80000"/>
                </a:srgbClr>
              </a:solidFill>
              <a:prstDash val="solid"/>
              <a:headEnd type="none" w="sm" len="sm"/>
              <a:tailEnd type="none" w="sm" len="sm"/>
            </a:ln>
          </p:spPr>
          <p:txBody>
            <a:bodyPr/>
            <a:lstStyle/>
            <a:p>
              <a:endParaRPr lang="en-US"/>
            </a:p>
          </p:txBody>
        </p:sp>
      </p:grpSp>
      <p:sp>
        <p:nvSpPr>
          <p:cNvPr id="14" name="Rectangle 13">
            <a:extLst>
              <a:ext uri="{FF2B5EF4-FFF2-40B4-BE49-F238E27FC236}">
                <a16:creationId xmlns:a16="http://schemas.microsoft.com/office/drawing/2014/main" id="{27023DF1-FF0A-5E38-8150-BBD09E84D50A}"/>
              </a:ext>
            </a:extLst>
          </p:cNvPr>
          <p:cNvSpPr/>
          <p:nvPr/>
        </p:nvSpPr>
        <p:spPr>
          <a:xfrm>
            <a:off x="647481" y="463478"/>
            <a:ext cx="8142621" cy="593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3400" b="1" dirty="0">
                <a:solidFill>
                  <a:srgbClr val="6DB1CC"/>
                </a:solidFill>
                <a:latin typeface="Segoe UI" panose="020B0502040204020203" pitchFamily="34" charset="0"/>
                <a:cs typeface="Segoe UI" panose="020B0502040204020203" pitchFamily="34" charset="0"/>
              </a:rPr>
              <a:t>LÝ DO CHỌN ĐỀ TÀI</a:t>
            </a:r>
          </a:p>
        </p:txBody>
      </p:sp>
      <p:sp>
        <p:nvSpPr>
          <p:cNvPr id="18" name="Rectangle 17">
            <a:extLst>
              <a:ext uri="{FF2B5EF4-FFF2-40B4-BE49-F238E27FC236}">
                <a16:creationId xmlns:a16="http://schemas.microsoft.com/office/drawing/2014/main" id="{6ADE6E83-88B5-8101-A4ED-2E551A7FD44E}"/>
              </a:ext>
            </a:extLst>
          </p:cNvPr>
          <p:cNvSpPr/>
          <p:nvPr/>
        </p:nvSpPr>
        <p:spPr>
          <a:xfrm>
            <a:off x="600467" y="1047173"/>
            <a:ext cx="10991065" cy="123330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spcBef>
                <a:spcPts val="600"/>
              </a:spcBef>
            </a:pPr>
            <a:r>
              <a:rPr lang="en-US" sz="2200" b="1" dirty="0" err="1">
                <a:solidFill>
                  <a:schemeClr val="bg1"/>
                </a:solidFill>
                <a:latin typeface="Segoe UI" panose="020B0502040204020203" pitchFamily="34" charset="0"/>
                <a:cs typeface="Segoe UI" panose="020B0502040204020203" pitchFamily="34" charset="0"/>
              </a:rPr>
              <a:t>Đặt</a:t>
            </a:r>
            <a:r>
              <a:rPr lang="en-US" sz="2200" b="1" dirty="0">
                <a:solidFill>
                  <a:schemeClr val="bg1"/>
                </a:solidFill>
                <a:latin typeface="Segoe UI" panose="020B0502040204020203" pitchFamily="34" charset="0"/>
                <a:cs typeface="Segoe UI" panose="020B0502040204020203" pitchFamily="34" charset="0"/>
              </a:rPr>
              <a:t> </a:t>
            </a:r>
            <a:r>
              <a:rPr lang="en-US" sz="2200" b="1" dirty="0" err="1">
                <a:solidFill>
                  <a:schemeClr val="bg1"/>
                </a:solidFill>
                <a:latin typeface="Segoe UI" panose="020B0502040204020203" pitchFamily="34" charset="0"/>
                <a:cs typeface="Segoe UI" panose="020B0502040204020203" pitchFamily="34" charset="0"/>
              </a:rPr>
              <a:t>vấn</a:t>
            </a:r>
            <a:r>
              <a:rPr lang="en-US" sz="2200" b="1" dirty="0">
                <a:solidFill>
                  <a:schemeClr val="bg1"/>
                </a:solidFill>
                <a:latin typeface="Segoe UI" panose="020B0502040204020203" pitchFamily="34" charset="0"/>
                <a:cs typeface="Segoe UI" panose="020B0502040204020203" pitchFamily="34" charset="0"/>
              </a:rPr>
              <a:t> </a:t>
            </a:r>
            <a:r>
              <a:rPr lang="en-US" sz="2200" b="1" dirty="0" err="1">
                <a:solidFill>
                  <a:schemeClr val="bg1"/>
                </a:solidFill>
                <a:latin typeface="Segoe UI" panose="020B0502040204020203" pitchFamily="34" charset="0"/>
                <a:cs typeface="Segoe UI" panose="020B0502040204020203" pitchFamily="34" charset="0"/>
              </a:rPr>
              <a:t>đề</a:t>
            </a:r>
            <a:endParaRPr lang="en-US" sz="2200" dirty="0">
              <a:solidFill>
                <a:schemeClr val="bg1"/>
              </a:solidFill>
              <a:latin typeface="Segoe UI" panose="020B0502040204020203" pitchFamily="34" charset="0"/>
              <a:cs typeface="Segoe UI" panose="020B0502040204020203" pitchFamily="34" charset="0"/>
            </a:endParaRPr>
          </a:p>
        </p:txBody>
      </p:sp>
      <p:grpSp>
        <p:nvGrpSpPr>
          <p:cNvPr id="19" name="Group 18">
            <a:extLst>
              <a:ext uri="{FF2B5EF4-FFF2-40B4-BE49-F238E27FC236}">
                <a16:creationId xmlns:a16="http://schemas.microsoft.com/office/drawing/2014/main" id="{B9B9C1BE-B8C0-DD88-D27C-9004EFACA4E3}"/>
              </a:ext>
            </a:extLst>
          </p:cNvPr>
          <p:cNvGrpSpPr/>
          <p:nvPr/>
        </p:nvGrpSpPr>
        <p:grpSpPr>
          <a:xfrm>
            <a:off x="-402695" y="1566880"/>
            <a:ext cx="853837" cy="326966"/>
            <a:chOff x="-402695" y="1540627"/>
            <a:chExt cx="853837" cy="326966"/>
          </a:xfrm>
          <a:solidFill>
            <a:srgbClr val="6DB1CC"/>
          </a:solidFill>
        </p:grpSpPr>
        <p:sp>
          <p:nvSpPr>
            <p:cNvPr id="20" name="Rectangle 19">
              <a:extLst>
                <a:ext uri="{FF2B5EF4-FFF2-40B4-BE49-F238E27FC236}">
                  <a16:creationId xmlns:a16="http://schemas.microsoft.com/office/drawing/2014/main" id="{C7BB5F98-3888-D648-4C7E-37AC4063ECAC}"/>
                </a:ext>
              </a:extLst>
            </p:cNvPr>
            <p:cNvSpPr/>
            <p:nvPr/>
          </p:nvSpPr>
          <p:spPr>
            <a:xfrm>
              <a:off x="-402695" y="1540627"/>
              <a:ext cx="552019" cy="32696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5DC088C-71D8-028F-89C5-93F7FAE97F38}"/>
                </a:ext>
              </a:extLst>
            </p:cNvPr>
            <p:cNvSpPr/>
            <p:nvPr/>
          </p:nvSpPr>
          <p:spPr>
            <a:xfrm>
              <a:off x="197772" y="1540627"/>
              <a:ext cx="118416" cy="32696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011D307-1753-2CB7-E4CC-E31B4CCF8714}"/>
                </a:ext>
              </a:extLst>
            </p:cNvPr>
            <p:cNvSpPr/>
            <p:nvPr/>
          </p:nvSpPr>
          <p:spPr>
            <a:xfrm>
              <a:off x="364636" y="1540627"/>
              <a:ext cx="86506" cy="32696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extBox 22">
            <a:extLst>
              <a:ext uri="{FF2B5EF4-FFF2-40B4-BE49-F238E27FC236}">
                <a16:creationId xmlns:a16="http://schemas.microsoft.com/office/drawing/2014/main" id="{C2D1AE30-8B63-EB08-28CF-75EF96294314}"/>
              </a:ext>
            </a:extLst>
          </p:cNvPr>
          <p:cNvSpPr txBox="1"/>
          <p:nvPr/>
        </p:nvSpPr>
        <p:spPr>
          <a:xfrm>
            <a:off x="804718" y="1905657"/>
            <a:ext cx="11001895" cy="1881990"/>
          </a:xfrm>
          <a:prstGeom prst="rect">
            <a:avLst/>
          </a:prstGeom>
          <a:noFill/>
        </p:spPr>
        <p:txBody>
          <a:bodyPr wrap="square">
            <a:spAutoFit/>
          </a:bodyPr>
          <a:lstStyle/>
          <a:p>
            <a:pPr marL="342900" indent="-342900">
              <a:lnSpc>
                <a:spcPct val="150000"/>
              </a:lnSpc>
              <a:buFont typeface="Arial" panose="020B0604020202020204" pitchFamily="34" charset="0"/>
              <a:buChar char="•"/>
            </a:pPr>
            <a:r>
              <a:rPr lang="vi-VN" sz="2000" dirty="0">
                <a:solidFill>
                  <a:schemeClr val="bg1"/>
                </a:solidFill>
                <a:cs typeface="Arial" panose="020B0604020202020204" pitchFamily="34" charset="0"/>
              </a:rPr>
              <a:t>Lỗ hổng buffer overflow vẫn phổ biến trong phần mềm hệ thống (đặc biệt C/C++).</a:t>
            </a:r>
          </a:p>
          <a:p>
            <a:pPr marL="342900" indent="-342900">
              <a:lnSpc>
                <a:spcPct val="150000"/>
              </a:lnSpc>
              <a:buFont typeface="Arial" panose="020B0604020202020204" pitchFamily="34" charset="0"/>
              <a:buChar char="•"/>
            </a:pPr>
            <a:r>
              <a:rPr lang="vi-VN" sz="2000" dirty="0">
                <a:solidFill>
                  <a:schemeClr val="bg1"/>
                </a:solidFill>
                <a:cs typeface="Arial" panose="020B0604020202020204" pitchFamily="34" charset="0"/>
              </a:rPr>
              <a:t>Khi khai thác thành công, attacker có thể chiếm quyền điều khiển luồng thực thi.</a:t>
            </a:r>
          </a:p>
          <a:p>
            <a:pPr marL="342900" indent="-342900">
              <a:lnSpc>
                <a:spcPct val="150000"/>
              </a:lnSpc>
              <a:buFont typeface="Arial" panose="020B0604020202020204" pitchFamily="34" charset="0"/>
              <a:buChar char="•"/>
            </a:pPr>
            <a:r>
              <a:rPr lang="vi-VN" sz="2000" dirty="0">
                <a:solidFill>
                  <a:schemeClr val="bg1"/>
                </a:solidFill>
                <a:cs typeface="Arial" panose="020B0604020202020204" pitchFamily="34" charset="0"/>
              </a:rPr>
              <a:t>Câu hỏi thực tế: ASLR bảo vệ hiệu quả đến mức nào?</a:t>
            </a:r>
          </a:p>
          <a:p>
            <a:pPr marL="342900" indent="-342900">
              <a:lnSpc>
                <a:spcPct val="150000"/>
              </a:lnSpc>
              <a:buFont typeface="Arial" panose="020B0604020202020204" pitchFamily="34" charset="0"/>
              <a:buChar char="•"/>
            </a:pPr>
            <a:r>
              <a:rPr lang="vi-VN" sz="2000" dirty="0">
                <a:solidFill>
                  <a:schemeClr val="bg1"/>
                </a:solidFill>
                <a:cs typeface="Arial" panose="020B0604020202020204" pitchFamily="34" charset="0"/>
              </a:rPr>
              <a:t>Nhiều tài liệu nói ASLR hiệu quả, nhưng cần thực nghiệm có số liệu để kết luận rõ.</a:t>
            </a:r>
            <a:endParaRPr lang="en-US" sz="2000" dirty="0">
              <a:solidFill>
                <a:schemeClr val="bg1"/>
              </a:solidFill>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F62DC850-0BB5-60F8-964E-48991A30507E}"/>
              </a:ext>
            </a:extLst>
          </p:cNvPr>
          <p:cNvSpPr/>
          <p:nvPr/>
        </p:nvSpPr>
        <p:spPr>
          <a:xfrm>
            <a:off x="600467" y="3505451"/>
            <a:ext cx="10991065" cy="123330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spcBef>
                <a:spcPts val="600"/>
              </a:spcBef>
            </a:pPr>
            <a:r>
              <a:rPr lang="en-US" sz="2200" b="1" dirty="0">
                <a:solidFill>
                  <a:schemeClr val="bg1"/>
                </a:solidFill>
                <a:latin typeface="Segoe UI" panose="020B0502040204020203" pitchFamily="34" charset="0"/>
                <a:cs typeface="Segoe UI" panose="020B0502040204020203" pitchFamily="34" charset="0"/>
              </a:rPr>
              <a:t>Lý do </a:t>
            </a:r>
            <a:r>
              <a:rPr lang="en-US" sz="2200" b="1" dirty="0" err="1">
                <a:solidFill>
                  <a:schemeClr val="bg1"/>
                </a:solidFill>
                <a:latin typeface="Segoe UI" panose="020B0502040204020203" pitchFamily="34" charset="0"/>
                <a:cs typeface="Segoe UI" panose="020B0502040204020203" pitchFamily="34" charset="0"/>
              </a:rPr>
              <a:t>chọn</a:t>
            </a:r>
            <a:r>
              <a:rPr lang="en-US" sz="2200" b="1" dirty="0">
                <a:solidFill>
                  <a:schemeClr val="bg1"/>
                </a:solidFill>
                <a:latin typeface="Segoe UI" panose="020B0502040204020203" pitchFamily="34" charset="0"/>
                <a:cs typeface="Segoe UI" panose="020B0502040204020203" pitchFamily="34" charset="0"/>
              </a:rPr>
              <a:t> </a:t>
            </a:r>
            <a:r>
              <a:rPr lang="en-US" sz="2200" b="1" dirty="0" err="1">
                <a:solidFill>
                  <a:schemeClr val="bg1"/>
                </a:solidFill>
                <a:latin typeface="Segoe UI" panose="020B0502040204020203" pitchFamily="34" charset="0"/>
                <a:cs typeface="Segoe UI" panose="020B0502040204020203" pitchFamily="34" charset="0"/>
              </a:rPr>
              <a:t>đề</a:t>
            </a:r>
            <a:r>
              <a:rPr lang="en-US" sz="2200" b="1" dirty="0">
                <a:solidFill>
                  <a:schemeClr val="bg1"/>
                </a:solidFill>
                <a:latin typeface="Segoe UI" panose="020B0502040204020203" pitchFamily="34" charset="0"/>
                <a:cs typeface="Segoe UI" panose="020B0502040204020203" pitchFamily="34" charset="0"/>
              </a:rPr>
              <a:t> </a:t>
            </a:r>
            <a:r>
              <a:rPr lang="en-US" sz="2200" b="1" dirty="0" err="1">
                <a:solidFill>
                  <a:schemeClr val="bg1"/>
                </a:solidFill>
                <a:latin typeface="Segoe UI" panose="020B0502040204020203" pitchFamily="34" charset="0"/>
                <a:cs typeface="Segoe UI" panose="020B0502040204020203" pitchFamily="34" charset="0"/>
              </a:rPr>
              <a:t>tài</a:t>
            </a:r>
            <a:endParaRPr lang="en-US" sz="2200" dirty="0">
              <a:solidFill>
                <a:schemeClr val="bg1"/>
              </a:solidFill>
              <a:latin typeface="Segoe UI" panose="020B0502040204020203" pitchFamily="34" charset="0"/>
              <a:cs typeface="Segoe UI" panose="020B0502040204020203" pitchFamily="34" charset="0"/>
            </a:endParaRPr>
          </a:p>
        </p:txBody>
      </p:sp>
      <p:grpSp>
        <p:nvGrpSpPr>
          <p:cNvPr id="25" name="Group 24">
            <a:extLst>
              <a:ext uri="{FF2B5EF4-FFF2-40B4-BE49-F238E27FC236}">
                <a16:creationId xmlns:a16="http://schemas.microsoft.com/office/drawing/2014/main" id="{78EFF40B-803F-B7E1-A42E-ED14F3F67CCF}"/>
              </a:ext>
            </a:extLst>
          </p:cNvPr>
          <p:cNvGrpSpPr/>
          <p:nvPr/>
        </p:nvGrpSpPr>
        <p:grpSpPr>
          <a:xfrm>
            <a:off x="-402695" y="4025158"/>
            <a:ext cx="853837" cy="326966"/>
            <a:chOff x="-402695" y="1540627"/>
            <a:chExt cx="853837" cy="326966"/>
          </a:xfrm>
          <a:solidFill>
            <a:srgbClr val="6DB1CC"/>
          </a:solidFill>
        </p:grpSpPr>
        <p:sp>
          <p:nvSpPr>
            <p:cNvPr id="26" name="Rectangle 25">
              <a:extLst>
                <a:ext uri="{FF2B5EF4-FFF2-40B4-BE49-F238E27FC236}">
                  <a16:creationId xmlns:a16="http://schemas.microsoft.com/office/drawing/2014/main" id="{F0F31900-7F03-4E23-FBC3-E09AC0DF9ABC}"/>
                </a:ext>
              </a:extLst>
            </p:cNvPr>
            <p:cNvSpPr/>
            <p:nvPr/>
          </p:nvSpPr>
          <p:spPr>
            <a:xfrm>
              <a:off x="-402695" y="1540627"/>
              <a:ext cx="552019" cy="32696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40F14CA-5FC4-3446-1D68-F5ACF43ABEC1}"/>
                </a:ext>
              </a:extLst>
            </p:cNvPr>
            <p:cNvSpPr/>
            <p:nvPr/>
          </p:nvSpPr>
          <p:spPr>
            <a:xfrm>
              <a:off x="197772" y="1540627"/>
              <a:ext cx="118416" cy="32696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1E440E12-059F-7255-4070-1C5E6CBCB0D3}"/>
                </a:ext>
              </a:extLst>
            </p:cNvPr>
            <p:cNvSpPr/>
            <p:nvPr/>
          </p:nvSpPr>
          <p:spPr>
            <a:xfrm>
              <a:off x="364636" y="1540627"/>
              <a:ext cx="86506" cy="32696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TextBox 28">
            <a:extLst>
              <a:ext uri="{FF2B5EF4-FFF2-40B4-BE49-F238E27FC236}">
                <a16:creationId xmlns:a16="http://schemas.microsoft.com/office/drawing/2014/main" id="{47BEB466-ED39-2395-248C-6B6C3E499B6F}"/>
              </a:ext>
            </a:extLst>
          </p:cNvPr>
          <p:cNvSpPr txBox="1"/>
          <p:nvPr/>
        </p:nvSpPr>
        <p:spPr>
          <a:xfrm>
            <a:off x="804718" y="4363935"/>
            <a:ext cx="11001895" cy="1881990"/>
          </a:xfrm>
          <a:prstGeom prst="rect">
            <a:avLst/>
          </a:prstGeom>
          <a:noFill/>
        </p:spPr>
        <p:txBody>
          <a:bodyPr wrap="square">
            <a:spAutoFit/>
          </a:bodyPr>
          <a:lstStyle/>
          <a:p>
            <a:pPr marL="342900" indent="-342900">
              <a:lnSpc>
                <a:spcPct val="150000"/>
              </a:lnSpc>
              <a:buFont typeface="Arial" panose="020B0604020202020204" pitchFamily="34" charset="0"/>
              <a:buChar char="•"/>
            </a:pPr>
            <a:r>
              <a:rPr lang="vi-VN" sz="2000" dirty="0">
                <a:solidFill>
                  <a:schemeClr val="bg1"/>
                </a:solidFill>
                <a:cs typeface="Arial" panose="020B0604020202020204" pitchFamily="34" charset="0"/>
              </a:rPr>
              <a:t>Đề tài bám sát môn học, kết hợp cả tấn công và phòng thủ.</a:t>
            </a:r>
            <a:endParaRPr lang="en-US" sz="2000" dirty="0">
              <a:solidFill>
                <a:schemeClr val="bg1"/>
              </a:solidFill>
              <a:cs typeface="Arial" panose="020B0604020202020204" pitchFamily="34" charset="0"/>
            </a:endParaRPr>
          </a:p>
          <a:p>
            <a:pPr marL="342900" indent="-342900">
              <a:lnSpc>
                <a:spcPct val="150000"/>
              </a:lnSpc>
              <a:buFont typeface="Arial" panose="020B0604020202020204" pitchFamily="34" charset="0"/>
              <a:buChar char="•"/>
            </a:pPr>
            <a:r>
              <a:rPr lang="vi-VN" sz="2000" dirty="0">
                <a:solidFill>
                  <a:schemeClr val="bg1"/>
                </a:solidFill>
                <a:cs typeface="Arial" panose="020B0604020202020204" pitchFamily="34" charset="0"/>
              </a:rPr>
              <a:t>Có thể xây dựng mô hình demo trực quan: ASLR OFF/ON, leak, NX, PIE.</a:t>
            </a:r>
          </a:p>
          <a:p>
            <a:pPr marL="342900" indent="-342900">
              <a:lnSpc>
                <a:spcPct val="150000"/>
              </a:lnSpc>
              <a:buFont typeface="Arial" panose="020B0604020202020204" pitchFamily="34" charset="0"/>
              <a:buChar char="•"/>
            </a:pPr>
            <a:r>
              <a:rPr lang="vi-VN" sz="2000" dirty="0">
                <a:solidFill>
                  <a:schemeClr val="bg1"/>
                </a:solidFill>
                <a:cs typeface="Arial" panose="020B0604020202020204" pitchFamily="34" charset="0"/>
              </a:rPr>
              <a:t>Dễ lượng hóa bằng chỉ số: success rate, entropy, mitigation matrix.</a:t>
            </a:r>
          </a:p>
          <a:p>
            <a:pPr marL="342900" indent="-342900">
              <a:lnSpc>
                <a:spcPct val="150000"/>
              </a:lnSpc>
              <a:buFont typeface="Arial" panose="020B0604020202020204" pitchFamily="34" charset="0"/>
              <a:buChar char="•"/>
            </a:pPr>
            <a:r>
              <a:rPr lang="vi-VN" sz="2000" dirty="0">
                <a:solidFill>
                  <a:schemeClr val="bg1"/>
                </a:solidFill>
                <a:cs typeface="Arial" panose="020B0604020202020204" pitchFamily="34" charset="0"/>
              </a:rPr>
              <a:t>Kết quả có thể tái lập bằng script, phù hợp yêu cầu báo cáo và thuyết trình.</a:t>
            </a:r>
            <a:endParaRPr lang="en-US"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32624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1FA26FA0-91D3-2337-8D32-4B25705CCB6B}"/>
              </a:ext>
            </a:extLst>
          </p:cNvPr>
          <p:cNvGrpSpPr/>
          <p:nvPr/>
        </p:nvGrpSpPr>
        <p:grpSpPr>
          <a:xfrm>
            <a:off x="-19878" y="788664"/>
            <a:ext cx="12191999" cy="366174"/>
            <a:chOff x="1" y="6307500"/>
            <a:chExt cx="12191999" cy="366174"/>
          </a:xfrm>
          <a:effectLst>
            <a:glow rad="63500">
              <a:schemeClr val="accent1">
                <a:satMod val="175000"/>
                <a:alpha val="40000"/>
              </a:schemeClr>
            </a:glow>
          </a:effectLst>
        </p:grpSpPr>
        <p:sp>
          <p:nvSpPr>
            <p:cNvPr id="5" name="AutoShape 37">
              <a:extLst>
                <a:ext uri="{FF2B5EF4-FFF2-40B4-BE49-F238E27FC236}">
                  <a16:creationId xmlns:a16="http://schemas.microsoft.com/office/drawing/2014/main" id="{3D0223FF-12E0-D3E8-A605-84C5C7E3F7DE}"/>
                </a:ext>
              </a:extLst>
            </p:cNvPr>
            <p:cNvSpPr/>
            <p:nvPr/>
          </p:nvSpPr>
          <p:spPr>
            <a:xfrm>
              <a:off x="1" y="6646250"/>
              <a:ext cx="9413932"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6" name="AutoShape 38">
              <a:extLst>
                <a:ext uri="{FF2B5EF4-FFF2-40B4-BE49-F238E27FC236}">
                  <a16:creationId xmlns:a16="http://schemas.microsoft.com/office/drawing/2014/main" id="{5E9BA8B3-B46C-91D9-B621-63B1A235F611}"/>
                </a:ext>
              </a:extLst>
            </p:cNvPr>
            <p:cNvSpPr/>
            <p:nvPr/>
          </p:nvSpPr>
          <p:spPr>
            <a:xfrm rot="18000001">
              <a:off x="9315823" y="6490587"/>
              <a:ext cx="366174"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7" name="AutoShape 40">
              <a:extLst>
                <a:ext uri="{FF2B5EF4-FFF2-40B4-BE49-F238E27FC236}">
                  <a16:creationId xmlns:a16="http://schemas.microsoft.com/office/drawing/2014/main" id="{79788CC3-93AC-AB20-E928-12AC839DC125}"/>
                </a:ext>
              </a:extLst>
            </p:cNvPr>
            <p:cNvSpPr/>
            <p:nvPr/>
          </p:nvSpPr>
          <p:spPr>
            <a:xfrm>
              <a:off x="9584694" y="6332029"/>
              <a:ext cx="2607306" cy="0"/>
            </a:xfrm>
            <a:prstGeom prst="line">
              <a:avLst/>
            </a:prstGeom>
            <a:ln w="19050" cap="flat">
              <a:solidFill>
                <a:srgbClr val="6DB1CC">
                  <a:alpha val="80000"/>
                </a:srgbClr>
              </a:solidFill>
              <a:prstDash val="solid"/>
              <a:headEnd type="none" w="sm" len="sm"/>
              <a:tailEnd type="none" w="sm" len="sm"/>
            </a:ln>
          </p:spPr>
          <p:txBody>
            <a:bodyPr/>
            <a:lstStyle/>
            <a:p>
              <a:endParaRPr lang="en-US"/>
            </a:p>
          </p:txBody>
        </p:sp>
      </p:grpSp>
      <p:sp>
        <p:nvSpPr>
          <p:cNvPr id="8" name="Rectangle 7">
            <a:extLst>
              <a:ext uri="{FF2B5EF4-FFF2-40B4-BE49-F238E27FC236}">
                <a16:creationId xmlns:a16="http://schemas.microsoft.com/office/drawing/2014/main" id="{2F1E0843-CB69-6CA4-8CBA-96C43BD60E13}"/>
              </a:ext>
            </a:extLst>
          </p:cNvPr>
          <p:cNvSpPr/>
          <p:nvPr/>
        </p:nvSpPr>
        <p:spPr>
          <a:xfrm>
            <a:off x="647481" y="463478"/>
            <a:ext cx="8142621" cy="593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3400" b="1" dirty="0">
                <a:solidFill>
                  <a:srgbClr val="6DB1CC"/>
                </a:solidFill>
                <a:latin typeface="Segoe UI" panose="020B0502040204020203" pitchFamily="34" charset="0"/>
                <a:cs typeface="Segoe UI" panose="020B0502040204020203" pitchFamily="34" charset="0"/>
              </a:rPr>
              <a:t>MỤC TIÊU ĐỒ ÁN</a:t>
            </a:r>
          </a:p>
        </p:txBody>
      </p:sp>
      <p:pic>
        <p:nvPicPr>
          <p:cNvPr id="9" name="Picture 8" descr="Ý nghĩa logo Đại học Công nghệ Tp.HCM (HUTECH)">
            <a:extLst>
              <a:ext uri="{FF2B5EF4-FFF2-40B4-BE49-F238E27FC236}">
                <a16:creationId xmlns:a16="http://schemas.microsoft.com/office/drawing/2014/main" id="{02B237A1-8495-C766-269B-E266001AA6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8096" y="159827"/>
            <a:ext cx="1817203" cy="582783"/>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0A54E97D-E893-08A7-84C7-4427FDC24BC6}"/>
              </a:ext>
            </a:extLst>
          </p:cNvPr>
          <p:cNvSpPr/>
          <p:nvPr/>
        </p:nvSpPr>
        <p:spPr>
          <a:xfrm>
            <a:off x="600467" y="1057010"/>
            <a:ext cx="10991065" cy="17132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spcBef>
                <a:spcPts val="600"/>
              </a:spcBef>
            </a:pPr>
            <a:r>
              <a:rPr lang="en-US" sz="2200" b="1" dirty="0" err="1">
                <a:solidFill>
                  <a:schemeClr val="bg1"/>
                </a:solidFill>
                <a:latin typeface="Segoe UI" panose="020B0502040204020203" pitchFamily="34" charset="0"/>
                <a:cs typeface="Segoe UI" panose="020B0502040204020203" pitchFamily="34" charset="0"/>
              </a:rPr>
              <a:t>Mục</a:t>
            </a:r>
            <a:r>
              <a:rPr lang="en-US" sz="2200" b="1" dirty="0">
                <a:solidFill>
                  <a:schemeClr val="bg1"/>
                </a:solidFill>
                <a:latin typeface="Segoe UI" panose="020B0502040204020203" pitchFamily="34" charset="0"/>
                <a:cs typeface="Segoe UI" panose="020B0502040204020203" pitchFamily="34" charset="0"/>
              </a:rPr>
              <a:t> </a:t>
            </a:r>
            <a:r>
              <a:rPr lang="en-US" sz="2200" b="1" dirty="0" err="1">
                <a:solidFill>
                  <a:schemeClr val="bg1"/>
                </a:solidFill>
                <a:latin typeface="Segoe UI" panose="020B0502040204020203" pitchFamily="34" charset="0"/>
                <a:cs typeface="Segoe UI" panose="020B0502040204020203" pitchFamily="34" charset="0"/>
              </a:rPr>
              <a:t>tiêu</a:t>
            </a:r>
            <a:r>
              <a:rPr lang="en-US" sz="2200" b="1" dirty="0">
                <a:solidFill>
                  <a:schemeClr val="bg1"/>
                </a:solidFill>
                <a:latin typeface="Segoe UI" panose="020B0502040204020203" pitchFamily="34" charset="0"/>
                <a:cs typeface="Segoe UI" panose="020B0502040204020203" pitchFamily="34" charset="0"/>
              </a:rPr>
              <a:t> </a:t>
            </a:r>
            <a:r>
              <a:rPr lang="en-US" sz="2200" b="1" dirty="0" err="1">
                <a:solidFill>
                  <a:schemeClr val="bg1"/>
                </a:solidFill>
                <a:latin typeface="Segoe UI" panose="020B0502040204020203" pitchFamily="34" charset="0"/>
                <a:cs typeface="Segoe UI" panose="020B0502040204020203" pitchFamily="34" charset="0"/>
              </a:rPr>
              <a:t>chung</a:t>
            </a:r>
            <a:r>
              <a:rPr lang="en-US" sz="2200" b="1" dirty="0">
                <a:solidFill>
                  <a:schemeClr val="bg1"/>
                </a:solidFill>
                <a:latin typeface="Segoe UI" panose="020B0502040204020203" pitchFamily="34" charset="0"/>
                <a:cs typeface="Segoe UI" panose="020B0502040204020203" pitchFamily="34" charset="0"/>
              </a:rPr>
              <a:t>: </a:t>
            </a:r>
            <a:r>
              <a:rPr lang="vi-VN" sz="2000" dirty="0">
                <a:solidFill>
                  <a:schemeClr val="bg1"/>
                </a:solidFill>
                <a:latin typeface="Segoe UI" panose="020B0502040204020203" pitchFamily="34" charset="0"/>
                <a:cs typeface="Segoe UI" panose="020B0502040204020203" pitchFamily="34" charset="0"/>
              </a:rPr>
              <a:t>Đánh giá hiệu quả của ASLR trong việc giảm khả năng khai thác buffer overflow bằng thực nghiệm có kiểm chứng, đồng thời làm rõ điểm mạnh, giới hạn và vai trò của ASLR khi kết hợp với các cơ chế bảo vệ khác.</a:t>
            </a:r>
            <a:endParaRPr lang="en-US" sz="2200" dirty="0">
              <a:solidFill>
                <a:schemeClr val="bg1"/>
              </a:solidFill>
              <a:latin typeface="Segoe UI" panose="020B0502040204020203" pitchFamily="34" charset="0"/>
              <a:cs typeface="Segoe UI" panose="020B0502040204020203" pitchFamily="34" charset="0"/>
            </a:endParaRPr>
          </a:p>
        </p:txBody>
      </p:sp>
      <p:grpSp>
        <p:nvGrpSpPr>
          <p:cNvPr id="17" name="Group 16">
            <a:extLst>
              <a:ext uri="{FF2B5EF4-FFF2-40B4-BE49-F238E27FC236}">
                <a16:creationId xmlns:a16="http://schemas.microsoft.com/office/drawing/2014/main" id="{054BA86C-BF94-26A6-859D-6B6CF2C05FC9}"/>
              </a:ext>
            </a:extLst>
          </p:cNvPr>
          <p:cNvGrpSpPr/>
          <p:nvPr/>
        </p:nvGrpSpPr>
        <p:grpSpPr>
          <a:xfrm>
            <a:off x="-402695" y="1344221"/>
            <a:ext cx="853837" cy="326966"/>
            <a:chOff x="-402695" y="1540627"/>
            <a:chExt cx="853837" cy="326966"/>
          </a:xfrm>
          <a:solidFill>
            <a:srgbClr val="6DB1CC"/>
          </a:solidFill>
        </p:grpSpPr>
        <p:sp>
          <p:nvSpPr>
            <p:cNvPr id="18" name="Rectangle 17">
              <a:extLst>
                <a:ext uri="{FF2B5EF4-FFF2-40B4-BE49-F238E27FC236}">
                  <a16:creationId xmlns:a16="http://schemas.microsoft.com/office/drawing/2014/main" id="{D366AF9A-A326-E364-AAEF-17619E9C3E1E}"/>
                </a:ext>
              </a:extLst>
            </p:cNvPr>
            <p:cNvSpPr/>
            <p:nvPr/>
          </p:nvSpPr>
          <p:spPr>
            <a:xfrm>
              <a:off x="-402695" y="1540627"/>
              <a:ext cx="552019" cy="32696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E9D087F-4B97-191D-1BFB-9154158F8298}"/>
                </a:ext>
              </a:extLst>
            </p:cNvPr>
            <p:cNvSpPr/>
            <p:nvPr/>
          </p:nvSpPr>
          <p:spPr>
            <a:xfrm>
              <a:off x="197772" y="1540627"/>
              <a:ext cx="118416" cy="32696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240AC9A-BE03-6825-5B1D-C9B53D359BB2}"/>
                </a:ext>
              </a:extLst>
            </p:cNvPr>
            <p:cNvSpPr/>
            <p:nvPr/>
          </p:nvSpPr>
          <p:spPr>
            <a:xfrm>
              <a:off x="364636" y="1540627"/>
              <a:ext cx="86506" cy="32696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Rectangle 34">
            <a:extLst>
              <a:ext uri="{FF2B5EF4-FFF2-40B4-BE49-F238E27FC236}">
                <a16:creationId xmlns:a16="http://schemas.microsoft.com/office/drawing/2014/main" id="{D8F6EB4C-D934-6CAB-5FC4-4F7152727495}"/>
              </a:ext>
            </a:extLst>
          </p:cNvPr>
          <p:cNvSpPr/>
          <p:nvPr/>
        </p:nvSpPr>
        <p:spPr>
          <a:xfrm>
            <a:off x="600467" y="2770232"/>
            <a:ext cx="6388100" cy="593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0"/>
              </a:spcBef>
            </a:pPr>
            <a:r>
              <a:rPr lang="en-US" sz="2200" b="1" dirty="0" err="1">
                <a:solidFill>
                  <a:srgbClr val="F5F6FC"/>
                </a:solidFill>
                <a:latin typeface="Segoe UI" panose="020B0502040204020203" pitchFamily="34" charset="0"/>
                <a:cs typeface="Segoe UI" panose="020B0502040204020203" pitchFamily="34" charset="0"/>
              </a:rPr>
              <a:t>Mục</a:t>
            </a:r>
            <a:r>
              <a:rPr lang="en-US" sz="2200" b="1" dirty="0">
                <a:solidFill>
                  <a:srgbClr val="F5F6FC"/>
                </a:solidFill>
                <a:latin typeface="Segoe UI" panose="020B0502040204020203" pitchFamily="34" charset="0"/>
                <a:cs typeface="Segoe UI" panose="020B0502040204020203" pitchFamily="34" charset="0"/>
              </a:rPr>
              <a:t> </a:t>
            </a:r>
            <a:r>
              <a:rPr lang="en-US" sz="2200" b="1" dirty="0" err="1">
                <a:solidFill>
                  <a:srgbClr val="F5F6FC"/>
                </a:solidFill>
                <a:latin typeface="Segoe UI" panose="020B0502040204020203" pitchFamily="34" charset="0"/>
                <a:cs typeface="Segoe UI" panose="020B0502040204020203" pitchFamily="34" charset="0"/>
              </a:rPr>
              <a:t>tiêu</a:t>
            </a:r>
            <a:r>
              <a:rPr lang="en-US" sz="2200" b="1" dirty="0">
                <a:solidFill>
                  <a:srgbClr val="F5F6FC"/>
                </a:solidFill>
                <a:latin typeface="Segoe UI" panose="020B0502040204020203" pitchFamily="34" charset="0"/>
                <a:cs typeface="Segoe UI" panose="020B0502040204020203" pitchFamily="34" charset="0"/>
              </a:rPr>
              <a:t> </a:t>
            </a:r>
            <a:r>
              <a:rPr lang="en-US" sz="2200" b="1" dirty="0" err="1">
                <a:solidFill>
                  <a:srgbClr val="F5F6FC"/>
                </a:solidFill>
                <a:latin typeface="Segoe UI" panose="020B0502040204020203" pitchFamily="34" charset="0"/>
                <a:cs typeface="Segoe UI" panose="020B0502040204020203" pitchFamily="34" charset="0"/>
              </a:rPr>
              <a:t>cụ</a:t>
            </a:r>
            <a:r>
              <a:rPr lang="en-US" sz="2200" b="1" dirty="0">
                <a:solidFill>
                  <a:srgbClr val="F5F6FC"/>
                </a:solidFill>
                <a:latin typeface="Segoe UI" panose="020B0502040204020203" pitchFamily="34" charset="0"/>
                <a:cs typeface="Segoe UI" panose="020B0502040204020203" pitchFamily="34" charset="0"/>
              </a:rPr>
              <a:t> </a:t>
            </a:r>
            <a:r>
              <a:rPr lang="en-US" sz="2200" b="1" dirty="0" err="1">
                <a:solidFill>
                  <a:srgbClr val="F5F6FC"/>
                </a:solidFill>
                <a:latin typeface="Segoe UI" panose="020B0502040204020203" pitchFamily="34" charset="0"/>
                <a:cs typeface="Segoe UI" panose="020B0502040204020203" pitchFamily="34" charset="0"/>
              </a:rPr>
              <a:t>thể</a:t>
            </a:r>
            <a:endParaRPr lang="en-US" sz="2200" b="1" dirty="0">
              <a:solidFill>
                <a:srgbClr val="F5F6FC"/>
              </a:solidFill>
              <a:latin typeface="Segoe UI" panose="020B0502040204020203" pitchFamily="34" charset="0"/>
              <a:cs typeface="Segoe UI" panose="020B0502040204020203" pitchFamily="34" charset="0"/>
            </a:endParaRPr>
          </a:p>
        </p:txBody>
      </p:sp>
      <p:grpSp>
        <p:nvGrpSpPr>
          <p:cNvPr id="36" name="Group 35">
            <a:extLst>
              <a:ext uri="{FF2B5EF4-FFF2-40B4-BE49-F238E27FC236}">
                <a16:creationId xmlns:a16="http://schemas.microsoft.com/office/drawing/2014/main" id="{5B56E366-0133-C49F-08AD-655EC41CDB92}"/>
              </a:ext>
            </a:extLst>
          </p:cNvPr>
          <p:cNvGrpSpPr/>
          <p:nvPr/>
        </p:nvGrpSpPr>
        <p:grpSpPr>
          <a:xfrm>
            <a:off x="-402695" y="2903515"/>
            <a:ext cx="853837" cy="326966"/>
            <a:chOff x="-402695" y="1540627"/>
            <a:chExt cx="853837" cy="326966"/>
          </a:xfrm>
          <a:solidFill>
            <a:srgbClr val="8DC2D7"/>
          </a:solidFill>
        </p:grpSpPr>
        <p:sp>
          <p:nvSpPr>
            <p:cNvPr id="37" name="Rectangle 36">
              <a:extLst>
                <a:ext uri="{FF2B5EF4-FFF2-40B4-BE49-F238E27FC236}">
                  <a16:creationId xmlns:a16="http://schemas.microsoft.com/office/drawing/2014/main" id="{321C5E65-DE41-3E03-D1C4-5121F98DAF0F}"/>
                </a:ext>
              </a:extLst>
            </p:cNvPr>
            <p:cNvSpPr/>
            <p:nvPr/>
          </p:nvSpPr>
          <p:spPr>
            <a:xfrm>
              <a:off x="-402695" y="1540627"/>
              <a:ext cx="552019" cy="32696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C5BC4E07-2330-520C-E3AC-242C020C0522}"/>
                </a:ext>
              </a:extLst>
            </p:cNvPr>
            <p:cNvSpPr/>
            <p:nvPr/>
          </p:nvSpPr>
          <p:spPr>
            <a:xfrm>
              <a:off x="197772" y="1540627"/>
              <a:ext cx="118416" cy="32696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7F654E5C-513E-89DE-0F0C-7321D6C1B321}"/>
                </a:ext>
              </a:extLst>
            </p:cNvPr>
            <p:cNvSpPr/>
            <p:nvPr/>
          </p:nvSpPr>
          <p:spPr>
            <a:xfrm>
              <a:off x="364636" y="1540627"/>
              <a:ext cx="86506" cy="32696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0" name="Group 89">
            <a:extLst>
              <a:ext uri="{FF2B5EF4-FFF2-40B4-BE49-F238E27FC236}">
                <a16:creationId xmlns:a16="http://schemas.microsoft.com/office/drawing/2014/main" id="{31FCEFA0-6664-2E0A-1433-2AA8BDD9AD0F}"/>
              </a:ext>
            </a:extLst>
          </p:cNvPr>
          <p:cNvGrpSpPr/>
          <p:nvPr/>
        </p:nvGrpSpPr>
        <p:grpSpPr>
          <a:xfrm>
            <a:off x="149324" y="3655404"/>
            <a:ext cx="11872196" cy="2389403"/>
            <a:chOff x="149324" y="3557096"/>
            <a:chExt cx="11872196" cy="2389403"/>
          </a:xfrm>
        </p:grpSpPr>
        <p:sp>
          <p:nvSpPr>
            <p:cNvPr id="41" name="Rectangle 40">
              <a:extLst>
                <a:ext uri="{FF2B5EF4-FFF2-40B4-BE49-F238E27FC236}">
                  <a16:creationId xmlns:a16="http://schemas.microsoft.com/office/drawing/2014/main" id="{27A4500C-CA46-81DF-80C4-E03B7014EF5E}"/>
                </a:ext>
              </a:extLst>
            </p:cNvPr>
            <p:cNvSpPr/>
            <p:nvPr/>
          </p:nvSpPr>
          <p:spPr>
            <a:xfrm>
              <a:off x="149324" y="4087769"/>
              <a:ext cx="2822426" cy="1858730"/>
            </a:xfrm>
            <a:prstGeom prst="rect">
              <a:avLst/>
            </a:prstGeom>
            <a:solidFill>
              <a:schemeClr val="accent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sz="2000" dirty="0">
                  <a:latin typeface="Segoe UI" panose="020B0502040204020203" pitchFamily="34" charset="0"/>
                  <a:cs typeface="Segoe UI" panose="020B0502040204020203" pitchFamily="34" charset="0"/>
                </a:rPr>
                <a:t>Xây dựng chương trình demo có lỗ hổng stack buffer overflow.</a:t>
              </a:r>
              <a:endParaRPr lang="en-US" sz="2000" dirty="0">
                <a:latin typeface="Segoe UI" panose="020B0502040204020203" pitchFamily="34" charset="0"/>
                <a:cs typeface="Segoe UI" panose="020B0502040204020203" pitchFamily="34" charset="0"/>
              </a:endParaRPr>
            </a:p>
          </p:txBody>
        </p:sp>
        <p:sp>
          <p:nvSpPr>
            <p:cNvPr id="80" name="Rectangle 79">
              <a:extLst>
                <a:ext uri="{FF2B5EF4-FFF2-40B4-BE49-F238E27FC236}">
                  <a16:creationId xmlns:a16="http://schemas.microsoft.com/office/drawing/2014/main" id="{378464F1-24CC-7956-6D04-55136775B47F}"/>
                </a:ext>
              </a:extLst>
            </p:cNvPr>
            <p:cNvSpPr/>
            <p:nvPr/>
          </p:nvSpPr>
          <p:spPr>
            <a:xfrm>
              <a:off x="3165914" y="4087769"/>
              <a:ext cx="2822426" cy="1858730"/>
            </a:xfrm>
            <a:prstGeom prst="rect">
              <a:avLst/>
            </a:prstGeom>
            <a:solidFill>
              <a:schemeClr val="accent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sz="2000" dirty="0">
                  <a:latin typeface="Segoe UI" panose="020B0502040204020203" pitchFamily="34" charset="0"/>
                  <a:cs typeface="Segoe UI" panose="020B0502040204020203" pitchFamily="34" charset="0"/>
                </a:rPr>
                <a:t>Thiết lập các cấu hình thử nghiệm:ASLR ON/OFF, leak, NX, PIE</a:t>
              </a:r>
              <a:endParaRPr lang="en-US" sz="2000" dirty="0">
                <a:latin typeface="Segoe UI" panose="020B0502040204020203" pitchFamily="34" charset="0"/>
                <a:cs typeface="Segoe UI" panose="020B0502040204020203" pitchFamily="34" charset="0"/>
              </a:endParaRPr>
            </a:p>
          </p:txBody>
        </p:sp>
        <p:sp>
          <p:nvSpPr>
            <p:cNvPr id="81" name="Rectangle 80">
              <a:extLst>
                <a:ext uri="{FF2B5EF4-FFF2-40B4-BE49-F238E27FC236}">
                  <a16:creationId xmlns:a16="http://schemas.microsoft.com/office/drawing/2014/main" id="{B1DC9F49-5A7E-B848-D2DE-058959BDF1E5}"/>
                </a:ext>
              </a:extLst>
            </p:cNvPr>
            <p:cNvSpPr/>
            <p:nvPr/>
          </p:nvSpPr>
          <p:spPr>
            <a:xfrm>
              <a:off x="6182504" y="4087769"/>
              <a:ext cx="2822426" cy="1858730"/>
            </a:xfrm>
            <a:prstGeom prst="rect">
              <a:avLst/>
            </a:prstGeom>
            <a:solidFill>
              <a:schemeClr val="accent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sz="2000" dirty="0">
                  <a:latin typeface="Segoe UI" panose="020B0502040204020203" pitchFamily="34" charset="0"/>
                  <a:cs typeface="Segoe UI" panose="020B0502040204020203" pitchFamily="34" charset="0"/>
                </a:rPr>
                <a:t>Triển khai exploit theo 5 phase</a:t>
              </a:r>
              <a:r>
                <a:rPr lang="en-US" sz="2000" dirty="0">
                  <a:latin typeface="Segoe UI" panose="020B0502040204020203" pitchFamily="34" charset="0"/>
                  <a:cs typeface="Segoe UI" panose="020B0502040204020203" pitchFamily="34" charset="0"/>
                </a:rPr>
                <a:t> </a:t>
              </a:r>
              <a:r>
                <a:rPr lang="vi-VN" sz="2000" dirty="0">
                  <a:latin typeface="Segoe UI" panose="020B0502040204020203" pitchFamily="34" charset="0"/>
                  <a:cs typeface="Segoe UI" panose="020B0502040204020203" pitchFamily="34" charset="0"/>
                </a:rPr>
                <a:t>để kiểm chứng từng kịch bả</a:t>
              </a:r>
              <a:endParaRPr lang="en-US" sz="2000" dirty="0">
                <a:latin typeface="Segoe UI" panose="020B0502040204020203" pitchFamily="34" charset="0"/>
                <a:cs typeface="Segoe UI" panose="020B0502040204020203" pitchFamily="34" charset="0"/>
              </a:endParaRPr>
            </a:p>
          </p:txBody>
        </p:sp>
        <p:sp>
          <p:nvSpPr>
            <p:cNvPr id="82" name="Rectangle 81">
              <a:extLst>
                <a:ext uri="{FF2B5EF4-FFF2-40B4-BE49-F238E27FC236}">
                  <a16:creationId xmlns:a16="http://schemas.microsoft.com/office/drawing/2014/main" id="{E668F458-D5CD-B5B9-8AD0-191A86AE8E54}"/>
                </a:ext>
              </a:extLst>
            </p:cNvPr>
            <p:cNvSpPr/>
            <p:nvPr/>
          </p:nvSpPr>
          <p:spPr>
            <a:xfrm>
              <a:off x="9199094" y="4087769"/>
              <a:ext cx="2822426" cy="1858730"/>
            </a:xfrm>
            <a:prstGeom prst="rect">
              <a:avLst/>
            </a:prstGeom>
            <a:solidFill>
              <a:schemeClr val="accent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sz="2000" dirty="0">
                  <a:latin typeface="Segoe UI" panose="020B0502040204020203" pitchFamily="34" charset="0"/>
                  <a:cs typeface="Segoe UI" panose="020B0502040204020203" pitchFamily="34" charset="0"/>
                </a:rPr>
                <a:t>Đo lường &amp; phân tích:</a:t>
              </a:r>
              <a:r>
                <a:rPr lang="en-US" sz="2000" dirty="0">
                  <a:latin typeface="Segoe UI" panose="020B0502040204020203" pitchFamily="34" charset="0"/>
                  <a:cs typeface="Segoe UI" panose="020B0502040204020203" pitchFamily="34" charset="0"/>
                </a:rPr>
                <a:t> </a:t>
              </a:r>
              <a:r>
                <a:rPr lang="vi-VN" sz="2000" dirty="0">
                  <a:latin typeface="Segoe UI" panose="020B0502040204020203" pitchFamily="34" charset="0"/>
                  <a:cs typeface="Segoe UI" panose="020B0502040204020203" pitchFamily="34" charset="0"/>
                </a:rPr>
                <a:t>success rate, entropy,so sánh PIE vs non-PIE</a:t>
              </a:r>
              <a:endParaRPr lang="en-US" sz="2000" dirty="0">
                <a:latin typeface="Segoe UI" panose="020B0502040204020203" pitchFamily="34" charset="0"/>
                <a:cs typeface="Segoe UI" panose="020B0502040204020203" pitchFamily="34" charset="0"/>
              </a:endParaRPr>
            </a:p>
          </p:txBody>
        </p:sp>
        <p:sp>
          <p:nvSpPr>
            <p:cNvPr id="86" name="Rectangle 85">
              <a:extLst>
                <a:ext uri="{FF2B5EF4-FFF2-40B4-BE49-F238E27FC236}">
                  <a16:creationId xmlns:a16="http://schemas.microsoft.com/office/drawing/2014/main" id="{1C3052AE-C731-FC1E-44FE-DBE60EB6E834}"/>
                </a:ext>
              </a:extLst>
            </p:cNvPr>
            <p:cNvSpPr/>
            <p:nvPr/>
          </p:nvSpPr>
          <p:spPr>
            <a:xfrm>
              <a:off x="149324" y="3557096"/>
              <a:ext cx="2783760" cy="44546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Segoe UI" panose="020B0502040204020203" pitchFamily="34" charset="0"/>
                  <a:cs typeface="Segoe UI" panose="020B0502040204020203" pitchFamily="34" charset="0"/>
                </a:rPr>
                <a:t>01</a:t>
              </a:r>
            </a:p>
          </p:txBody>
        </p:sp>
        <p:sp>
          <p:nvSpPr>
            <p:cNvPr id="87" name="Rectangle 86">
              <a:extLst>
                <a:ext uri="{FF2B5EF4-FFF2-40B4-BE49-F238E27FC236}">
                  <a16:creationId xmlns:a16="http://schemas.microsoft.com/office/drawing/2014/main" id="{AC19C899-A7E3-40C5-3C0F-4D0A5E3C1913}"/>
                </a:ext>
              </a:extLst>
            </p:cNvPr>
            <p:cNvSpPr/>
            <p:nvPr/>
          </p:nvSpPr>
          <p:spPr>
            <a:xfrm>
              <a:off x="3165914" y="3557096"/>
              <a:ext cx="2822426" cy="44546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Segoe UI" panose="020B0502040204020203" pitchFamily="34" charset="0"/>
                  <a:cs typeface="Segoe UI" panose="020B0502040204020203" pitchFamily="34" charset="0"/>
                </a:rPr>
                <a:t>02</a:t>
              </a:r>
            </a:p>
          </p:txBody>
        </p:sp>
        <p:sp>
          <p:nvSpPr>
            <p:cNvPr id="88" name="Rectangle 87">
              <a:extLst>
                <a:ext uri="{FF2B5EF4-FFF2-40B4-BE49-F238E27FC236}">
                  <a16:creationId xmlns:a16="http://schemas.microsoft.com/office/drawing/2014/main" id="{A5B790E6-D3F9-2BDB-6FC2-845D535DE240}"/>
                </a:ext>
              </a:extLst>
            </p:cNvPr>
            <p:cNvSpPr/>
            <p:nvPr/>
          </p:nvSpPr>
          <p:spPr>
            <a:xfrm>
              <a:off x="6182504" y="3557096"/>
              <a:ext cx="2822426" cy="44546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Segoe UI" panose="020B0502040204020203" pitchFamily="34" charset="0"/>
                  <a:cs typeface="Segoe UI" panose="020B0502040204020203" pitchFamily="34" charset="0"/>
                </a:rPr>
                <a:t>03</a:t>
              </a:r>
            </a:p>
          </p:txBody>
        </p:sp>
        <p:sp>
          <p:nvSpPr>
            <p:cNvPr id="89" name="Rectangle 88">
              <a:extLst>
                <a:ext uri="{FF2B5EF4-FFF2-40B4-BE49-F238E27FC236}">
                  <a16:creationId xmlns:a16="http://schemas.microsoft.com/office/drawing/2014/main" id="{960C9091-765B-33B8-C327-CA6BB7516668}"/>
                </a:ext>
              </a:extLst>
            </p:cNvPr>
            <p:cNvSpPr/>
            <p:nvPr/>
          </p:nvSpPr>
          <p:spPr>
            <a:xfrm>
              <a:off x="9199094" y="3557096"/>
              <a:ext cx="2822426" cy="44546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Segoe UI" panose="020B0502040204020203" pitchFamily="34" charset="0"/>
                  <a:cs typeface="Segoe UI" panose="020B0502040204020203" pitchFamily="34" charset="0"/>
                </a:rPr>
                <a:t>04</a:t>
              </a:r>
            </a:p>
          </p:txBody>
        </p:sp>
      </p:grpSp>
    </p:spTree>
    <p:extLst>
      <p:ext uri="{BB962C8B-B14F-4D97-AF65-F5344CB8AC3E}">
        <p14:creationId xmlns:p14="http://schemas.microsoft.com/office/powerpoint/2010/main" val="1387932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EAFB2-949F-3DFB-DB93-842F3ABB4D13}"/>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3BB94935-706C-572E-0B52-797C758E3BEB}"/>
              </a:ext>
            </a:extLst>
          </p:cNvPr>
          <p:cNvGrpSpPr/>
          <p:nvPr/>
        </p:nvGrpSpPr>
        <p:grpSpPr>
          <a:xfrm>
            <a:off x="-19878" y="788664"/>
            <a:ext cx="12191999" cy="366174"/>
            <a:chOff x="1" y="6307500"/>
            <a:chExt cx="12191999" cy="366174"/>
          </a:xfrm>
          <a:effectLst>
            <a:glow rad="63500">
              <a:schemeClr val="accent1">
                <a:satMod val="175000"/>
                <a:alpha val="40000"/>
              </a:schemeClr>
            </a:glow>
          </a:effectLst>
        </p:grpSpPr>
        <p:sp>
          <p:nvSpPr>
            <p:cNvPr id="5" name="AutoShape 37">
              <a:extLst>
                <a:ext uri="{FF2B5EF4-FFF2-40B4-BE49-F238E27FC236}">
                  <a16:creationId xmlns:a16="http://schemas.microsoft.com/office/drawing/2014/main" id="{1B18A9EA-2878-36A5-D92A-83459D94C6B6}"/>
                </a:ext>
              </a:extLst>
            </p:cNvPr>
            <p:cNvSpPr/>
            <p:nvPr/>
          </p:nvSpPr>
          <p:spPr>
            <a:xfrm>
              <a:off x="1" y="6646250"/>
              <a:ext cx="9413932"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6" name="AutoShape 38">
              <a:extLst>
                <a:ext uri="{FF2B5EF4-FFF2-40B4-BE49-F238E27FC236}">
                  <a16:creationId xmlns:a16="http://schemas.microsoft.com/office/drawing/2014/main" id="{E3E1AAC4-07DC-E8D4-F1E9-1B60FAE1D5F7}"/>
                </a:ext>
              </a:extLst>
            </p:cNvPr>
            <p:cNvSpPr/>
            <p:nvPr/>
          </p:nvSpPr>
          <p:spPr>
            <a:xfrm rot="18000001">
              <a:off x="9315823" y="6490587"/>
              <a:ext cx="366174"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7" name="AutoShape 40">
              <a:extLst>
                <a:ext uri="{FF2B5EF4-FFF2-40B4-BE49-F238E27FC236}">
                  <a16:creationId xmlns:a16="http://schemas.microsoft.com/office/drawing/2014/main" id="{0E7D789B-7140-575E-0000-BB4C599A0A51}"/>
                </a:ext>
              </a:extLst>
            </p:cNvPr>
            <p:cNvSpPr/>
            <p:nvPr/>
          </p:nvSpPr>
          <p:spPr>
            <a:xfrm>
              <a:off x="9584694" y="6332029"/>
              <a:ext cx="2607306" cy="0"/>
            </a:xfrm>
            <a:prstGeom prst="line">
              <a:avLst/>
            </a:prstGeom>
            <a:ln w="19050" cap="flat">
              <a:solidFill>
                <a:srgbClr val="6DB1CC">
                  <a:alpha val="80000"/>
                </a:srgbClr>
              </a:solidFill>
              <a:prstDash val="solid"/>
              <a:headEnd type="none" w="sm" len="sm"/>
              <a:tailEnd type="none" w="sm" len="sm"/>
            </a:ln>
          </p:spPr>
          <p:txBody>
            <a:bodyPr/>
            <a:lstStyle/>
            <a:p>
              <a:endParaRPr lang="en-US"/>
            </a:p>
          </p:txBody>
        </p:sp>
      </p:grpSp>
      <p:sp>
        <p:nvSpPr>
          <p:cNvPr id="8" name="Rectangle 7">
            <a:extLst>
              <a:ext uri="{FF2B5EF4-FFF2-40B4-BE49-F238E27FC236}">
                <a16:creationId xmlns:a16="http://schemas.microsoft.com/office/drawing/2014/main" id="{364CD621-6C15-DB03-CB93-5F1551438273}"/>
              </a:ext>
            </a:extLst>
          </p:cNvPr>
          <p:cNvSpPr/>
          <p:nvPr/>
        </p:nvSpPr>
        <p:spPr>
          <a:xfrm>
            <a:off x="647481" y="463478"/>
            <a:ext cx="8142621" cy="593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3400" b="1" dirty="0">
                <a:solidFill>
                  <a:srgbClr val="6DB1CC"/>
                </a:solidFill>
                <a:latin typeface="Segoe UI" panose="020B0502040204020203" pitchFamily="34" charset="0"/>
                <a:cs typeface="Segoe UI" panose="020B0502040204020203" pitchFamily="34" charset="0"/>
              </a:rPr>
              <a:t>PHẠM VI &amp; GIỚI HẠN</a:t>
            </a:r>
          </a:p>
        </p:txBody>
      </p:sp>
      <p:pic>
        <p:nvPicPr>
          <p:cNvPr id="9" name="Picture 8" descr="Ý nghĩa logo Đại học Công nghệ Tp.HCM (HUTECH)">
            <a:extLst>
              <a:ext uri="{FF2B5EF4-FFF2-40B4-BE49-F238E27FC236}">
                <a16:creationId xmlns:a16="http://schemas.microsoft.com/office/drawing/2014/main" id="{80A6240A-748C-C72D-6B64-E40B0D9045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8096" y="159827"/>
            <a:ext cx="1817203" cy="58278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E9E2C1F-5E9C-4F91-FDD0-E26D1CC162ED}"/>
              </a:ext>
            </a:extLst>
          </p:cNvPr>
          <p:cNvSpPr txBox="1"/>
          <p:nvPr/>
        </p:nvSpPr>
        <p:spPr>
          <a:xfrm>
            <a:off x="595052" y="2230909"/>
            <a:ext cx="11001895" cy="3279616"/>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000" b="1" dirty="0" err="1">
                <a:solidFill>
                  <a:schemeClr val="bg1"/>
                </a:solidFill>
              </a:rPr>
              <a:t>Môi</a:t>
            </a:r>
            <a:r>
              <a:rPr lang="en-US" sz="2000" b="1" dirty="0">
                <a:solidFill>
                  <a:schemeClr val="bg1"/>
                </a:solidFill>
              </a:rPr>
              <a:t> </a:t>
            </a:r>
            <a:r>
              <a:rPr lang="en-US" sz="2000" b="1" dirty="0" err="1">
                <a:solidFill>
                  <a:schemeClr val="bg1"/>
                </a:solidFill>
              </a:rPr>
              <a:t>trường</a:t>
            </a:r>
            <a:r>
              <a:rPr lang="en-US" sz="2000" b="1" dirty="0">
                <a:solidFill>
                  <a:schemeClr val="bg1"/>
                </a:solidFill>
              </a:rPr>
              <a:t>: </a:t>
            </a:r>
            <a:r>
              <a:rPr lang="en-US" sz="2000" dirty="0">
                <a:solidFill>
                  <a:schemeClr val="bg1"/>
                </a:solidFill>
              </a:rPr>
              <a:t>Linux x86-64 (Kali/Ubuntu)</a:t>
            </a:r>
          </a:p>
          <a:p>
            <a:pPr marL="342900" indent="-342900" algn="just">
              <a:lnSpc>
                <a:spcPct val="150000"/>
              </a:lnSpc>
              <a:buFont typeface="Arial" panose="020B0604020202020204" pitchFamily="34" charset="0"/>
              <a:buChar char="•"/>
            </a:pPr>
            <a:r>
              <a:rPr lang="en-US" sz="2000" b="1" dirty="0">
                <a:solidFill>
                  <a:schemeClr val="bg1"/>
                </a:solidFill>
              </a:rPr>
              <a:t>Khai </a:t>
            </a:r>
            <a:r>
              <a:rPr lang="en-US" sz="2000" b="1" dirty="0" err="1">
                <a:solidFill>
                  <a:schemeClr val="bg1"/>
                </a:solidFill>
              </a:rPr>
              <a:t>thác</a:t>
            </a:r>
            <a:r>
              <a:rPr lang="en-US" sz="2000" b="1" dirty="0">
                <a:solidFill>
                  <a:schemeClr val="bg1"/>
                </a:solidFill>
              </a:rPr>
              <a:t>: </a:t>
            </a:r>
            <a:r>
              <a:rPr lang="en-US" sz="2000" dirty="0">
                <a:solidFill>
                  <a:schemeClr val="bg1"/>
                </a:solidFill>
              </a:rPr>
              <a:t>stack buffer overflow</a:t>
            </a:r>
          </a:p>
          <a:p>
            <a:pPr marL="342900" indent="-342900" algn="just">
              <a:lnSpc>
                <a:spcPct val="150000"/>
              </a:lnSpc>
              <a:buFont typeface="Arial" panose="020B0604020202020204" pitchFamily="34" charset="0"/>
              <a:buChar char="•"/>
            </a:pPr>
            <a:r>
              <a:rPr lang="en-US" sz="2000" b="1" dirty="0" err="1">
                <a:solidFill>
                  <a:schemeClr val="bg1"/>
                </a:solidFill>
              </a:rPr>
              <a:t>Phân</a:t>
            </a:r>
            <a:r>
              <a:rPr lang="en-US" sz="2000" b="1" dirty="0">
                <a:solidFill>
                  <a:schemeClr val="bg1"/>
                </a:solidFill>
              </a:rPr>
              <a:t> </a:t>
            </a:r>
            <a:r>
              <a:rPr lang="en-US" sz="2000" b="1" dirty="0" err="1">
                <a:solidFill>
                  <a:schemeClr val="bg1"/>
                </a:solidFill>
              </a:rPr>
              <a:t>tích</a:t>
            </a:r>
            <a:r>
              <a:rPr lang="en-US" sz="2000" b="1" dirty="0">
                <a:solidFill>
                  <a:schemeClr val="bg1"/>
                </a:solidFill>
              </a:rPr>
              <a:t>: </a:t>
            </a:r>
            <a:r>
              <a:rPr lang="en-US" sz="2000" dirty="0">
                <a:solidFill>
                  <a:schemeClr val="bg1"/>
                </a:solidFill>
              </a:rPr>
              <a:t>ASLR, NX, PIE, leak</a:t>
            </a:r>
          </a:p>
          <a:p>
            <a:pPr marL="342900" indent="-342900" algn="just">
              <a:lnSpc>
                <a:spcPct val="150000"/>
              </a:lnSpc>
              <a:buFont typeface="Arial" panose="020B0604020202020204" pitchFamily="34" charset="0"/>
              <a:buChar char="•"/>
            </a:pPr>
            <a:r>
              <a:rPr lang="en-US" sz="2000" b="1" dirty="0" err="1">
                <a:solidFill>
                  <a:schemeClr val="bg1"/>
                </a:solidFill>
              </a:rPr>
              <a:t>Giới</a:t>
            </a:r>
            <a:r>
              <a:rPr lang="en-US" sz="2000" b="1" dirty="0">
                <a:solidFill>
                  <a:schemeClr val="bg1"/>
                </a:solidFill>
              </a:rPr>
              <a:t> </a:t>
            </a:r>
            <a:r>
              <a:rPr lang="en-US" sz="2000" b="1" dirty="0" err="1">
                <a:solidFill>
                  <a:schemeClr val="bg1"/>
                </a:solidFill>
              </a:rPr>
              <a:t>hạn</a:t>
            </a:r>
            <a:r>
              <a:rPr lang="en-US" sz="2000" b="1" dirty="0">
                <a:solidFill>
                  <a:schemeClr val="bg1"/>
                </a:solidFill>
              </a:rPr>
              <a:t>:</a:t>
            </a:r>
          </a:p>
          <a:p>
            <a:pPr marL="800100" lvl="1" indent="-342900" algn="just">
              <a:lnSpc>
                <a:spcPct val="150000"/>
              </a:lnSpc>
              <a:buFont typeface="Courier New" panose="02070309020205020404" pitchFamily="49" charset="0"/>
              <a:buChar char="o"/>
            </a:pPr>
            <a:r>
              <a:rPr lang="en-US" sz="2000" dirty="0" err="1">
                <a:solidFill>
                  <a:schemeClr val="bg1"/>
                </a:solidFill>
              </a:rPr>
              <a:t>Không</a:t>
            </a:r>
            <a:r>
              <a:rPr lang="en-US" sz="2000" dirty="0">
                <a:solidFill>
                  <a:schemeClr val="bg1"/>
                </a:solidFill>
              </a:rPr>
              <a:t> </a:t>
            </a:r>
            <a:r>
              <a:rPr lang="en-US" sz="2000" dirty="0" err="1">
                <a:solidFill>
                  <a:schemeClr val="bg1"/>
                </a:solidFill>
              </a:rPr>
              <a:t>xét</a:t>
            </a:r>
            <a:r>
              <a:rPr lang="en-US" sz="2000" dirty="0">
                <a:solidFill>
                  <a:schemeClr val="bg1"/>
                </a:solidFill>
              </a:rPr>
              <a:t> kernel/KASLR</a:t>
            </a:r>
          </a:p>
          <a:p>
            <a:pPr marL="800100" lvl="1" indent="-342900" algn="just">
              <a:lnSpc>
                <a:spcPct val="150000"/>
              </a:lnSpc>
              <a:buFont typeface="Courier New" panose="02070309020205020404" pitchFamily="49" charset="0"/>
              <a:buChar char="o"/>
            </a:pPr>
            <a:r>
              <a:rPr lang="en-US" sz="2000" dirty="0" err="1">
                <a:solidFill>
                  <a:schemeClr val="bg1"/>
                </a:solidFill>
              </a:rPr>
              <a:t>Phụ</a:t>
            </a:r>
            <a:r>
              <a:rPr lang="en-US" sz="2000" dirty="0">
                <a:solidFill>
                  <a:schemeClr val="bg1"/>
                </a:solidFill>
              </a:rPr>
              <a:t> </a:t>
            </a:r>
            <a:r>
              <a:rPr lang="en-US" sz="2000" dirty="0" err="1">
                <a:solidFill>
                  <a:schemeClr val="bg1"/>
                </a:solidFill>
              </a:rPr>
              <a:t>thuộc</a:t>
            </a:r>
            <a:r>
              <a:rPr lang="en-US" sz="2000" dirty="0">
                <a:solidFill>
                  <a:schemeClr val="bg1"/>
                </a:solidFill>
              </a:rPr>
              <a:t> </a:t>
            </a:r>
            <a:r>
              <a:rPr lang="en-US" sz="2000" dirty="0" err="1">
                <a:solidFill>
                  <a:schemeClr val="bg1"/>
                </a:solidFill>
              </a:rPr>
              <a:t>vào</a:t>
            </a:r>
            <a:r>
              <a:rPr lang="en-US" sz="2000" dirty="0">
                <a:solidFill>
                  <a:schemeClr val="bg1"/>
                </a:solidFill>
              </a:rPr>
              <a:t> </a:t>
            </a:r>
            <a:r>
              <a:rPr lang="en-US" sz="2000" dirty="0" err="1">
                <a:solidFill>
                  <a:schemeClr val="bg1"/>
                </a:solidFill>
              </a:rPr>
              <a:t>môi</a:t>
            </a:r>
            <a:r>
              <a:rPr lang="en-US" sz="2000" dirty="0">
                <a:solidFill>
                  <a:schemeClr val="bg1"/>
                </a:solidFill>
              </a:rPr>
              <a:t> </a:t>
            </a:r>
            <a:r>
              <a:rPr lang="en-US" sz="2000" dirty="0" err="1">
                <a:solidFill>
                  <a:schemeClr val="bg1"/>
                </a:solidFill>
              </a:rPr>
              <a:t>trường</a:t>
            </a:r>
            <a:r>
              <a:rPr lang="en-US" sz="2000" dirty="0">
                <a:solidFill>
                  <a:schemeClr val="bg1"/>
                </a:solidFill>
              </a:rPr>
              <a:t> runtime</a:t>
            </a:r>
          </a:p>
          <a:p>
            <a:pPr marL="800100" lvl="1" indent="-342900" algn="just">
              <a:lnSpc>
                <a:spcPct val="150000"/>
              </a:lnSpc>
              <a:buFont typeface="Courier New" panose="02070309020205020404" pitchFamily="49" charset="0"/>
              <a:buChar char="o"/>
            </a:pPr>
            <a:r>
              <a:rPr lang="en-US" sz="2000" dirty="0" err="1">
                <a:solidFill>
                  <a:schemeClr val="bg1"/>
                </a:solidFill>
              </a:rPr>
              <a:t>Chỉ</a:t>
            </a:r>
            <a:r>
              <a:rPr lang="en-US" sz="2000" dirty="0">
                <a:solidFill>
                  <a:schemeClr val="bg1"/>
                </a:solidFill>
              </a:rPr>
              <a:t> </a:t>
            </a:r>
            <a:r>
              <a:rPr lang="en-US" sz="2000" dirty="0" err="1">
                <a:solidFill>
                  <a:schemeClr val="bg1"/>
                </a:solidFill>
              </a:rPr>
              <a:t>mang</a:t>
            </a:r>
            <a:r>
              <a:rPr lang="en-US" sz="2000" dirty="0">
                <a:solidFill>
                  <a:schemeClr val="bg1"/>
                </a:solidFill>
              </a:rPr>
              <a:t> </a:t>
            </a:r>
            <a:r>
              <a:rPr lang="en-US" sz="2000" dirty="0" err="1">
                <a:solidFill>
                  <a:schemeClr val="bg1"/>
                </a:solidFill>
              </a:rPr>
              <a:t>tính</a:t>
            </a:r>
            <a:r>
              <a:rPr lang="en-US" sz="2000" dirty="0">
                <a:solidFill>
                  <a:schemeClr val="bg1"/>
                </a:solidFill>
              </a:rPr>
              <a:t> </a:t>
            </a:r>
            <a:r>
              <a:rPr lang="en-US" sz="2000" dirty="0" err="1">
                <a:solidFill>
                  <a:schemeClr val="bg1"/>
                </a:solidFill>
              </a:rPr>
              <a:t>thực</a:t>
            </a:r>
            <a:r>
              <a:rPr lang="en-US" sz="2000" dirty="0">
                <a:solidFill>
                  <a:schemeClr val="bg1"/>
                </a:solidFill>
              </a:rPr>
              <a:t> </a:t>
            </a:r>
            <a:r>
              <a:rPr lang="en-US" sz="2000" dirty="0" err="1">
                <a:solidFill>
                  <a:schemeClr val="bg1"/>
                </a:solidFill>
              </a:rPr>
              <a:t>ngh</a:t>
            </a:r>
            <a:endParaRPr lang="en-US" sz="2000" dirty="0">
              <a:solidFill>
                <a:schemeClr val="bg1"/>
              </a:solidFill>
            </a:endParaRPr>
          </a:p>
        </p:txBody>
      </p:sp>
    </p:spTree>
    <p:extLst>
      <p:ext uri="{BB962C8B-B14F-4D97-AF65-F5344CB8AC3E}">
        <p14:creationId xmlns:p14="http://schemas.microsoft.com/office/powerpoint/2010/main" val="1815389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548FF-0445-05F6-EDBB-A6F45E5D3186}"/>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48AB2F81-F049-9B4A-460D-65D622AD0595}"/>
              </a:ext>
            </a:extLst>
          </p:cNvPr>
          <p:cNvGrpSpPr/>
          <p:nvPr/>
        </p:nvGrpSpPr>
        <p:grpSpPr>
          <a:xfrm>
            <a:off x="-19878" y="788664"/>
            <a:ext cx="12191999" cy="366174"/>
            <a:chOff x="1" y="6307500"/>
            <a:chExt cx="12191999" cy="366174"/>
          </a:xfrm>
          <a:effectLst>
            <a:glow rad="63500">
              <a:schemeClr val="accent1">
                <a:satMod val="175000"/>
                <a:alpha val="40000"/>
              </a:schemeClr>
            </a:glow>
          </a:effectLst>
        </p:grpSpPr>
        <p:sp>
          <p:nvSpPr>
            <p:cNvPr id="5" name="AutoShape 37">
              <a:extLst>
                <a:ext uri="{FF2B5EF4-FFF2-40B4-BE49-F238E27FC236}">
                  <a16:creationId xmlns:a16="http://schemas.microsoft.com/office/drawing/2014/main" id="{720D3CFF-C67F-1CE5-39AA-AD58B74CBC53}"/>
                </a:ext>
              </a:extLst>
            </p:cNvPr>
            <p:cNvSpPr/>
            <p:nvPr/>
          </p:nvSpPr>
          <p:spPr>
            <a:xfrm>
              <a:off x="1" y="6646250"/>
              <a:ext cx="9413932"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6" name="AutoShape 38">
              <a:extLst>
                <a:ext uri="{FF2B5EF4-FFF2-40B4-BE49-F238E27FC236}">
                  <a16:creationId xmlns:a16="http://schemas.microsoft.com/office/drawing/2014/main" id="{BD82E666-0109-28B3-BFEC-8163CB318527}"/>
                </a:ext>
              </a:extLst>
            </p:cNvPr>
            <p:cNvSpPr/>
            <p:nvPr/>
          </p:nvSpPr>
          <p:spPr>
            <a:xfrm rot="18000001">
              <a:off x="9315823" y="6490587"/>
              <a:ext cx="366174"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7" name="AutoShape 40">
              <a:extLst>
                <a:ext uri="{FF2B5EF4-FFF2-40B4-BE49-F238E27FC236}">
                  <a16:creationId xmlns:a16="http://schemas.microsoft.com/office/drawing/2014/main" id="{068C0071-16B4-0750-5CA1-3D85DFA0C867}"/>
                </a:ext>
              </a:extLst>
            </p:cNvPr>
            <p:cNvSpPr/>
            <p:nvPr/>
          </p:nvSpPr>
          <p:spPr>
            <a:xfrm>
              <a:off x="9584694" y="6332029"/>
              <a:ext cx="2607306" cy="0"/>
            </a:xfrm>
            <a:prstGeom prst="line">
              <a:avLst/>
            </a:prstGeom>
            <a:ln w="19050" cap="flat">
              <a:solidFill>
                <a:srgbClr val="6DB1CC">
                  <a:alpha val="80000"/>
                </a:srgbClr>
              </a:solidFill>
              <a:prstDash val="solid"/>
              <a:headEnd type="none" w="sm" len="sm"/>
              <a:tailEnd type="none" w="sm" len="sm"/>
            </a:ln>
          </p:spPr>
          <p:txBody>
            <a:bodyPr/>
            <a:lstStyle/>
            <a:p>
              <a:endParaRPr lang="en-US"/>
            </a:p>
          </p:txBody>
        </p:sp>
      </p:grpSp>
      <p:sp>
        <p:nvSpPr>
          <p:cNvPr id="8" name="Rectangle 7">
            <a:extLst>
              <a:ext uri="{FF2B5EF4-FFF2-40B4-BE49-F238E27FC236}">
                <a16:creationId xmlns:a16="http://schemas.microsoft.com/office/drawing/2014/main" id="{8C899421-AAEA-74E0-DD44-DBB6F32B3CF8}"/>
              </a:ext>
            </a:extLst>
          </p:cNvPr>
          <p:cNvSpPr/>
          <p:nvPr/>
        </p:nvSpPr>
        <p:spPr>
          <a:xfrm>
            <a:off x="647481" y="463478"/>
            <a:ext cx="8142621" cy="593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3400" b="1" dirty="0">
                <a:solidFill>
                  <a:srgbClr val="6DB1CC"/>
                </a:solidFill>
                <a:latin typeface="Segoe UI" panose="020B0502040204020203" pitchFamily="34" charset="0"/>
                <a:cs typeface="Segoe UI" panose="020B0502040204020203" pitchFamily="34" charset="0"/>
              </a:rPr>
              <a:t>CƠ SỞ LÝ THUYẾT</a:t>
            </a:r>
          </a:p>
        </p:txBody>
      </p:sp>
      <p:sp>
        <p:nvSpPr>
          <p:cNvPr id="10" name="Rectangle 9">
            <a:extLst>
              <a:ext uri="{FF2B5EF4-FFF2-40B4-BE49-F238E27FC236}">
                <a16:creationId xmlns:a16="http://schemas.microsoft.com/office/drawing/2014/main" id="{ED7A7458-71D3-0D19-C941-319E7E2F3837}"/>
              </a:ext>
            </a:extLst>
          </p:cNvPr>
          <p:cNvSpPr/>
          <p:nvPr/>
        </p:nvSpPr>
        <p:spPr>
          <a:xfrm>
            <a:off x="647481" y="1197819"/>
            <a:ext cx="8142621" cy="5117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2800" dirty="0"/>
              <a:t>MEMORY → STACK → BUFFER OVERFLOW</a:t>
            </a:r>
            <a:endParaRPr lang="vi-VN" sz="2600" dirty="0">
              <a:solidFill>
                <a:schemeClr val="bg1"/>
              </a:solidFill>
              <a:latin typeface="Segoe UI" panose="020B0502040204020203" pitchFamily="34" charset="0"/>
              <a:cs typeface="Segoe UI" panose="020B0502040204020203" pitchFamily="34" charset="0"/>
            </a:endParaRPr>
          </a:p>
        </p:txBody>
      </p:sp>
      <p:sp>
        <p:nvSpPr>
          <p:cNvPr id="14" name="TextBox 13">
            <a:extLst>
              <a:ext uri="{FF2B5EF4-FFF2-40B4-BE49-F238E27FC236}">
                <a16:creationId xmlns:a16="http://schemas.microsoft.com/office/drawing/2014/main" id="{92496E6D-784B-EEC9-2656-2A99A2738A6F}"/>
              </a:ext>
            </a:extLst>
          </p:cNvPr>
          <p:cNvSpPr txBox="1"/>
          <p:nvPr/>
        </p:nvSpPr>
        <p:spPr>
          <a:xfrm>
            <a:off x="595052" y="1951509"/>
            <a:ext cx="11001895" cy="4354012"/>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000" b="1" dirty="0">
                <a:solidFill>
                  <a:schemeClr val="bg1"/>
                </a:solidFill>
              </a:rPr>
              <a:t>Memory Layout: </a:t>
            </a:r>
            <a:r>
              <a:rPr lang="en-US" sz="2000" dirty="0">
                <a:solidFill>
                  <a:schemeClr val="bg1"/>
                </a:solidFill>
              </a:rPr>
              <a:t>Code (text), Stack, Heap, Library</a:t>
            </a:r>
          </a:p>
          <a:p>
            <a:pPr algn="just">
              <a:lnSpc>
                <a:spcPct val="150000"/>
              </a:lnSpc>
              <a:spcAft>
                <a:spcPts val="600"/>
              </a:spcAft>
            </a:pPr>
            <a:r>
              <a:rPr lang="en-US" sz="2000" dirty="0">
                <a:solidFill>
                  <a:schemeClr val="bg1"/>
                </a:solidFill>
              </a:rPr>
              <a:t>   ⇒ Stack </a:t>
            </a:r>
            <a:r>
              <a:rPr lang="en-US" sz="2000" dirty="0" err="1">
                <a:solidFill>
                  <a:schemeClr val="bg1"/>
                </a:solidFill>
              </a:rPr>
              <a:t>là</a:t>
            </a:r>
            <a:r>
              <a:rPr lang="en-US" sz="2000" dirty="0">
                <a:solidFill>
                  <a:schemeClr val="bg1"/>
                </a:solidFill>
              </a:rPr>
              <a:t> </a:t>
            </a:r>
            <a:r>
              <a:rPr lang="en-US" sz="2000" dirty="0" err="1">
                <a:solidFill>
                  <a:schemeClr val="bg1"/>
                </a:solidFill>
              </a:rPr>
              <a:t>mục</a:t>
            </a:r>
            <a:r>
              <a:rPr lang="en-US" sz="2000" dirty="0">
                <a:solidFill>
                  <a:schemeClr val="bg1"/>
                </a:solidFill>
              </a:rPr>
              <a:t> </a:t>
            </a:r>
            <a:r>
              <a:rPr lang="en-US" sz="2000" dirty="0" err="1">
                <a:solidFill>
                  <a:schemeClr val="bg1"/>
                </a:solidFill>
              </a:rPr>
              <a:t>tiêu</a:t>
            </a:r>
            <a:r>
              <a:rPr lang="en-US" sz="2000" dirty="0">
                <a:solidFill>
                  <a:schemeClr val="bg1"/>
                </a:solidFill>
              </a:rPr>
              <a:t> </a:t>
            </a:r>
            <a:r>
              <a:rPr lang="en-US" sz="2000" dirty="0" err="1">
                <a:solidFill>
                  <a:schemeClr val="bg1"/>
                </a:solidFill>
              </a:rPr>
              <a:t>chính</a:t>
            </a:r>
            <a:endParaRPr lang="en-US" sz="2000" dirty="0">
              <a:solidFill>
                <a:schemeClr val="bg1"/>
              </a:solidFill>
            </a:endParaRPr>
          </a:p>
          <a:p>
            <a:pPr marL="342900" indent="-342900" algn="just">
              <a:lnSpc>
                <a:spcPct val="150000"/>
              </a:lnSpc>
              <a:buFont typeface="Arial" panose="020B0604020202020204" pitchFamily="34" charset="0"/>
              <a:buChar char="•"/>
            </a:pPr>
            <a:r>
              <a:rPr lang="en-US" sz="2000" b="1" dirty="0">
                <a:solidFill>
                  <a:schemeClr val="bg1"/>
                </a:solidFill>
              </a:rPr>
              <a:t>Stack Structure</a:t>
            </a:r>
            <a:r>
              <a:rPr lang="en-US" sz="2000" dirty="0">
                <a:solidFill>
                  <a:schemeClr val="bg1"/>
                </a:solidFill>
              </a:rPr>
              <a:t>:</a:t>
            </a:r>
          </a:p>
          <a:p>
            <a:pPr marL="800100" lvl="1" indent="-342900" algn="just">
              <a:lnSpc>
                <a:spcPct val="150000"/>
              </a:lnSpc>
              <a:buFont typeface="Courier New" panose="02070309020205020404" pitchFamily="49" charset="0"/>
              <a:buChar char="o"/>
            </a:pPr>
            <a:r>
              <a:rPr lang="en-US" sz="2000" dirty="0">
                <a:solidFill>
                  <a:schemeClr val="bg1"/>
                </a:solidFill>
              </a:rPr>
              <a:t>Lưu </a:t>
            </a:r>
            <a:r>
              <a:rPr lang="en-US" sz="2000" dirty="0" err="1">
                <a:solidFill>
                  <a:schemeClr val="bg1"/>
                </a:solidFill>
              </a:rPr>
              <a:t>biến</a:t>
            </a:r>
            <a:r>
              <a:rPr lang="en-US" sz="2000" dirty="0">
                <a:solidFill>
                  <a:schemeClr val="bg1"/>
                </a:solidFill>
              </a:rPr>
              <a:t> </a:t>
            </a:r>
            <a:r>
              <a:rPr lang="en-US" sz="2000" dirty="0" err="1">
                <a:solidFill>
                  <a:schemeClr val="bg1"/>
                </a:solidFill>
              </a:rPr>
              <a:t>cục</a:t>
            </a:r>
            <a:r>
              <a:rPr lang="en-US" sz="2000" dirty="0">
                <a:solidFill>
                  <a:schemeClr val="bg1"/>
                </a:solidFill>
              </a:rPr>
              <a:t> </a:t>
            </a:r>
            <a:r>
              <a:rPr lang="en-US" sz="2000" dirty="0" err="1">
                <a:solidFill>
                  <a:schemeClr val="bg1"/>
                </a:solidFill>
              </a:rPr>
              <a:t>bộ</a:t>
            </a:r>
            <a:endParaRPr lang="en-US" sz="2000" dirty="0">
              <a:solidFill>
                <a:schemeClr val="bg1"/>
              </a:solidFill>
            </a:endParaRPr>
          </a:p>
          <a:p>
            <a:pPr marL="800100" lvl="1" indent="-342900" algn="just">
              <a:lnSpc>
                <a:spcPct val="150000"/>
              </a:lnSpc>
              <a:buFont typeface="Courier New" panose="02070309020205020404" pitchFamily="49" charset="0"/>
              <a:buChar char="o"/>
            </a:pPr>
            <a:r>
              <a:rPr lang="en-US" sz="2000" dirty="0">
                <a:solidFill>
                  <a:schemeClr val="bg1"/>
                </a:solidFill>
              </a:rPr>
              <a:t>Lưu return address (RIP)</a:t>
            </a:r>
          </a:p>
          <a:p>
            <a:pPr algn="just">
              <a:lnSpc>
                <a:spcPct val="150000"/>
              </a:lnSpc>
              <a:spcAft>
                <a:spcPts val="600"/>
              </a:spcAft>
            </a:pPr>
            <a:r>
              <a:rPr lang="en-US" sz="2000" dirty="0">
                <a:solidFill>
                  <a:schemeClr val="bg1"/>
                </a:solidFill>
              </a:rPr>
              <a:t>   ⇒ </a:t>
            </a:r>
            <a:r>
              <a:rPr lang="en-US" sz="2000" dirty="0" err="1">
                <a:solidFill>
                  <a:schemeClr val="bg1"/>
                </a:solidFill>
              </a:rPr>
              <a:t>Quyết</a:t>
            </a:r>
            <a:r>
              <a:rPr lang="en-US" sz="2000" dirty="0">
                <a:solidFill>
                  <a:schemeClr val="bg1"/>
                </a:solidFill>
              </a:rPr>
              <a:t> </a:t>
            </a:r>
            <a:r>
              <a:rPr lang="en-US" sz="2000" dirty="0" err="1">
                <a:solidFill>
                  <a:schemeClr val="bg1"/>
                </a:solidFill>
              </a:rPr>
              <a:t>định</a:t>
            </a:r>
            <a:r>
              <a:rPr lang="en-US" sz="2000" dirty="0">
                <a:solidFill>
                  <a:schemeClr val="bg1"/>
                </a:solidFill>
              </a:rPr>
              <a:t> </a:t>
            </a:r>
            <a:r>
              <a:rPr lang="en-US" sz="2000" dirty="0" err="1">
                <a:solidFill>
                  <a:schemeClr val="bg1"/>
                </a:solidFill>
              </a:rPr>
              <a:t>luồn</a:t>
            </a:r>
            <a:r>
              <a:rPr lang="en-US" sz="2000" dirty="0">
                <a:solidFill>
                  <a:schemeClr val="bg1"/>
                </a:solidFill>
              </a:rPr>
              <a:t> </a:t>
            </a:r>
            <a:r>
              <a:rPr lang="en-US" sz="2000" dirty="0" err="1">
                <a:solidFill>
                  <a:schemeClr val="bg1"/>
                </a:solidFill>
              </a:rPr>
              <a:t>thực</a:t>
            </a:r>
            <a:r>
              <a:rPr lang="en-US" sz="2000" dirty="0">
                <a:solidFill>
                  <a:schemeClr val="bg1"/>
                </a:solidFill>
              </a:rPr>
              <a:t> </a:t>
            </a:r>
            <a:r>
              <a:rPr lang="en-US" sz="2000" dirty="0" err="1">
                <a:solidFill>
                  <a:schemeClr val="bg1"/>
                </a:solidFill>
              </a:rPr>
              <a:t>thi</a:t>
            </a:r>
            <a:endParaRPr lang="en-US" sz="2000" dirty="0">
              <a:solidFill>
                <a:schemeClr val="bg1"/>
              </a:solidFill>
            </a:endParaRPr>
          </a:p>
          <a:p>
            <a:pPr marL="342900" indent="-342900" algn="just">
              <a:lnSpc>
                <a:spcPct val="150000"/>
              </a:lnSpc>
              <a:buFont typeface="Arial" panose="020B0604020202020204" pitchFamily="34" charset="0"/>
              <a:buChar char="•"/>
            </a:pPr>
            <a:r>
              <a:rPr lang="en-US" sz="2000" b="1" dirty="0">
                <a:solidFill>
                  <a:schemeClr val="bg1"/>
                </a:solidFill>
              </a:rPr>
              <a:t>Buffer Overflow:</a:t>
            </a:r>
          </a:p>
          <a:p>
            <a:pPr marL="800100" lvl="1" indent="-342900" algn="just">
              <a:lnSpc>
                <a:spcPct val="150000"/>
              </a:lnSpc>
              <a:buFont typeface="Courier New" panose="02070309020205020404" pitchFamily="49" charset="0"/>
              <a:buChar char="o"/>
            </a:pPr>
            <a:r>
              <a:rPr lang="en-US" sz="2000" dirty="0" err="1">
                <a:solidFill>
                  <a:schemeClr val="bg1"/>
                </a:solidFill>
              </a:rPr>
              <a:t>Ghi</a:t>
            </a:r>
            <a:r>
              <a:rPr lang="en-US" sz="2000" dirty="0">
                <a:solidFill>
                  <a:schemeClr val="bg1"/>
                </a:solidFill>
              </a:rPr>
              <a:t> </a:t>
            </a:r>
            <a:r>
              <a:rPr lang="en-US" sz="2000" dirty="0" err="1">
                <a:solidFill>
                  <a:schemeClr val="bg1"/>
                </a:solidFill>
              </a:rPr>
              <a:t>đè</a:t>
            </a:r>
            <a:r>
              <a:rPr lang="en-US" sz="2000" dirty="0">
                <a:solidFill>
                  <a:schemeClr val="bg1"/>
                </a:solidFill>
              </a:rPr>
              <a:t> return address OFFSET_RET = 72</a:t>
            </a:r>
            <a:endParaRPr lang="en-US" sz="2000" b="1" dirty="0">
              <a:solidFill>
                <a:schemeClr val="bg1"/>
              </a:solidFill>
            </a:endParaRPr>
          </a:p>
          <a:p>
            <a:pPr algn="just">
              <a:lnSpc>
                <a:spcPct val="150000"/>
              </a:lnSpc>
            </a:pPr>
            <a:r>
              <a:rPr lang="en-US" sz="2000" dirty="0">
                <a:solidFill>
                  <a:schemeClr val="bg1"/>
                </a:solidFill>
              </a:rPr>
              <a:t>   ⇒ </a:t>
            </a:r>
            <a:r>
              <a:rPr lang="en-US" sz="2000" dirty="0" err="1">
                <a:solidFill>
                  <a:schemeClr val="bg1"/>
                </a:solidFill>
              </a:rPr>
              <a:t>Điều</a:t>
            </a:r>
            <a:r>
              <a:rPr lang="en-US" sz="2000" dirty="0">
                <a:solidFill>
                  <a:schemeClr val="bg1"/>
                </a:solidFill>
              </a:rPr>
              <a:t> </a:t>
            </a:r>
            <a:r>
              <a:rPr lang="en-US" sz="2000" dirty="0" err="1">
                <a:solidFill>
                  <a:schemeClr val="bg1"/>
                </a:solidFill>
              </a:rPr>
              <a:t>khiển</a:t>
            </a:r>
            <a:r>
              <a:rPr lang="en-US" sz="2000" dirty="0">
                <a:solidFill>
                  <a:schemeClr val="bg1"/>
                </a:solidFill>
              </a:rPr>
              <a:t> </a:t>
            </a:r>
            <a:r>
              <a:rPr lang="en-US" sz="2000" dirty="0" err="1">
                <a:solidFill>
                  <a:schemeClr val="bg1"/>
                </a:solidFill>
              </a:rPr>
              <a:t>chương</a:t>
            </a:r>
            <a:r>
              <a:rPr lang="en-US" sz="2000" dirty="0">
                <a:solidFill>
                  <a:schemeClr val="bg1"/>
                </a:solidFill>
              </a:rPr>
              <a:t> </a:t>
            </a:r>
            <a:r>
              <a:rPr lang="en-US" sz="2000" dirty="0" err="1">
                <a:solidFill>
                  <a:schemeClr val="bg1"/>
                </a:solidFill>
              </a:rPr>
              <a:t>trình</a:t>
            </a:r>
            <a:endParaRPr lang="en-US" sz="2000" b="1" dirty="0">
              <a:solidFill>
                <a:schemeClr val="bg1"/>
              </a:solidFill>
            </a:endParaRPr>
          </a:p>
        </p:txBody>
      </p:sp>
      <p:grpSp>
        <p:nvGrpSpPr>
          <p:cNvPr id="20" name="Group 19">
            <a:extLst>
              <a:ext uri="{FF2B5EF4-FFF2-40B4-BE49-F238E27FC236}">
                <a16:creationId xmlns:a16="http://schemas.microsoft.com/office/drawing/2014/main" id="{68B01017-CFF7-4200-74B7-FA0D2FD75C4C}"/>
              </a:ext>
            </a:extLst>
          </p:cNvPr>
          <p:cNvGrpSpPr/>
          <p:nvPr/>
        </p:nvGrpSpPr>
        <p:grpSpPr>
          <a:xfrm>
            <a:off x="7970542" y="0"/>
            <a:ext cx="3349561" cy="6852148"/>
            <a:chOff x="6758535" y="5852"/>
            <a:chExt cx="3349561" cy="6852148"/>
          </a:xfrm>
        </p:grpSpPr>
        <p:sp>
          <p:nvSpPr>
            <p:cNvPr id="21" name="Rectangle 20">
              <a:extLst>
                <a:ext uri="{FF2B5EF4-FFF2-40B4-BE49-F238E27FC236}">
                  <a16:creationId xmlns:a16="http://schemas.microsoft.com/office/drawing/2014/main" id="{D435A40E-4BF5-9D55-F9ED-F3C1CA4314AF}"/>
                </a:ext>
              </a:extLst>
            </p:cNvPr>
            <p:cNvSpPr/>
            <p:nvPr/>
          </p:nvSpPr>
          <p:spPr>
            <a:xfrm>
              <a:off x="9393202" y="5852"/>
              <a:ext cx="714894" cy="3954397"/>
            </a:xfrm>
            <a:prstGeom prst="rect">
              <a:avLst/>
            </a:prstGeom>
            <a:solidFill>
              <a:srgbClr val="68AECA"/>
            </a:solidFill>
            <a:ln>
              <a:noFill/>
            </a:ln>
            <a:effectLst>
              <a:glow rad="127000">
                <a:srgbClr val="93C5D9">
                  <a:alpha val="2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5B03822-A35F-2827-93E5-03C47D50961A}"/>
                </a:ext>
              </a:extLst>
            </p:cNvPr>
            <p:cNvSpPr/>
            <p:nvPr/>
          </p:nvSpPr>
          <p:spPr>
            <a:xfrm>
              <a:off x="6758535" y="2903603"/>
              <a:ext cx="714894" cy="3954397"/>
            </a:xfrm>
            <a:prstGeom prst="rect">
              <a:avLst/>
            </a:prstGeom>
            <a:solidFill>
              <a:srgbClr val="68AECA"/>
            </a:solidFill>
            <a:ln>
              <a:noFill/>
            </a:ln>
            <a:effectLst>
              <a:glow rad="127000">
                <a:srgbClr val="93C5D9">
                  <a:alpha val="2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a:extLst>
                <a:ext uri="{FF2B5EF4-FFF2-40B4-BE49-F238E27FC236}">
                  <a16:creationId xmlns:a16="http://schemas.microsoft.com/office/drawing/2014/main" id="{4444E0AE-B949-D214-0BEF-E37EE9BE1F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46956" y="172873"/>
              <a:ext cx="2973175" cy="6512254"/>
            </a:xfrm>
            <a:prstGeom prst="rect">
              <a:avLst/>
            </a:prstGeom>
          </p:spPr>
        </p:pic>
      </p:grpSp>
      <p:pic>
        <p:nvPicPr>
          <p:cNvPr id="24" name="Picture 23" descr="Ý nghĩa logo Đại học Công nghệ Tp.HCM (HUTECH)">
            <a:extLst>
              <a:ext uri="{FF2B5EF4-FFF2-40B4-BE49-F238E27FC236}">
                <a16:creationId xmlns:a16="http://schemas.microsoft.com/office/drawing/2014/main" id="{B108A4AF-B895-E918-6A1F-C40CE9D5E5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08096" y="159827"/>
            <a:ext cx="1817203" cy="5827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2951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0023A-2059-AA8E-1D85-5C6159BBE112}"/>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30DFB13B-E1A2-0809-1FF2-8B546FE44B5C}"/>
              </a:ext>
            </a:extLst>
          </p:cNvPr>
          <p:cNvGrpSpPr/>
          <p:nvPr/>
        </p:nvGrpSpPr>
        <p:grpSpPr>
          <a:xfrm>
            <a:off x="-19878" y="788664"/>
            <a:ext cx="12191999" cy="366174"/>
            <a:chOff x="1" y="6307500"/>
            <a:chExt cx="12191999" cy="366174"/>
          </a:xfrm>
          <a:effectLst>
            <a:glow rad="63500">
              <a:schemeClr val="accent1">
                <a:satMod val="175000"/>
                <a:alpha val="40000"/>
              </a:schemeClr>
            </a:glow>
          </a:effectLst>
        </p:grpSpPr>
        <p:sp>
          <p:nvSpPr>
            <p:cNvPr id="5" name="AutoShape 37">
              <a:extLst>
                <a:ext uri="{FF2B5EF4-FFF2-40B4-BE49-F238E27FC236}">
                  <a16:creationId xmlns:a16="http://schemas.microsoft.com/office/drawing/2014/main" id="{15F1A1C6-8E07-88E6-FB4E-A1FC09ADE41B}"/>
                </a:ext>
              </a:extLst>
            </p:cNvPr>
            <p:cNvSpPr/>
            <p:nvPr/>
          </p:nvSpPr>
          <p:spPr>
            <a:xfrm>
              <a:off x="1" y="6646250"/>
              <a:ext cx="9413932"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6" name="AutoShape 38">
              <a:extLst>
                <a:ext uri="{FF2B5EF4-FFF2-40B4-BE49-F238E27FC236}">
                  <a16:creationId xmlns:a16="http://schemas.microsoft.com/office/drawing/2014/main" id="{024E97D0-7E53-04F1-9B69-12D20F1DBFCC}"/>
                </a:ext>
              </a:extLst>
            </p:cNvPr>
            <p:cNvSpPr/>
            <p:nvPr/>
          </p:nvSpPr>
          <p:spPr>
            <a:xfrm rot="18000001">
              <a:off x="9315823" y="6490587"/>
              <a:ext cx="366174"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7" name="AutoShape 40">
              <a:extLst>
                <a:ext uri="{FF2B5EF4-FFF2-40B4-BE49-F238E27FC236}">
                  <a16:creationId xmlns:a16="http://schemas.microsoft.com/office/drawing/2014/main" id="{0C0BB369-2E4D-3F98-05F0-E66E043F5C63}"/>
                </a:ext>
              </a:extLst>
            </p:cNvPr>
            <p:cNvSpPr/>
            <p:nvPr/>
          </p:nvSpPr>
          <p:spPr>
            <a:xfrm>
              <a:off x="9584694" y="6332029"/>
              <a:ext cx="2607306" cy="0"/>
            </a:xfrm>
            <a:prstGeom prst="line">
              <a:avLst/>
            </a:prstGeom>
            <a:ln w="19050" cap="flat">
              <a:solidFill>
                <a:srgbClr val="6DB1CC">
                  <a:alpha val="80000"/>
                </a:srgbClr>
              </a:solidFill>
              <a:prstDash val="solid"/>
              <a:headEnd type="none" w="sm" len="sm"/>
              <a:tailEnd type="none" w="sm" len="sm"/>
            </a:ln>
          </p:spPr>
          <p:txBody>
            <a:bodyPr/>
            <a:lstStyle/>
            <a:p>
              <a:endParaRPr lang="en-US"/>
            </a:p>
          </p:txBody>
        </p:sp>
      </p:grpSp>
      <p:sp>
        <p:nvSpPr>
          <p:cNvPr id="8" name="Rectangle 7">
            <a:extLst>
              <a:ext uri="{FF2B5EF4-FFF2-40B4-BE49-F238E27FC236}">
                <a16:creationId xmlns:a16="http://schemas.microsoft.com/office/drawing/2014/main" id="{8B7356C1-54C6-AFB7-196C-8D47DAF888DB}"/>
              </a:ext>
            </a:extLst>
          </p:cNvPr>
          <p:cNvSpPr/>
          <p:nvPr/>
        </p:nvSpPr>
        <p:spPr>
          <a:xfrm>
            <a:off x="647481" y="463478"/>
            <a:ext cx="8142621" cy="593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3400" b="1" dirty="0">
                <a:solidFill>
                  <a:srgbClr val="6DB1CC"/>
                </a:solidFill>
                <a:latin typeface="Segoe UI" panose="020B0502040204020203" pitchFamily="34" charset="0"/>
                <a:cs typeface="Segoe UI" panose="020B0502040204020203" pitchFamily="34" charset="0"/>
              </a:rPr>
              <a:t>CƠ SỞ LÝ THUYẾT</a:t>
            </a:r>
          </a:p>
        </p:txBody>
      </p:sp>
      <p:pic>
        <p:nvPicPr>
          <p:cNvPr id="9" name="Picture 8" descr="Ý nghĩa logo Đại học Công nghệ Tp.HCM (HUTECH)">
            <a:extLst>
              <a:ext uri="{FF2B5EF4-FFF2-40B4-BE49-F238E27FC236}">
                <a16:creationId xmlns:a16="http://schemas.microsoft.com/office/drawing/2014/main" id="{6EEF13BD-91C7-5478-F49D-2F6DEBC12F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8096" y="159827"/>
            <a:ext cx="1817203" cy="582783"/>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78BD98BE-9464-6A85-900D-639D0E241964}"/>
              </a:ext>
            </a:extLst>
          </p:cNvPr>
          <p:cNvSpPr/>
          <p:nvPr/>
        </p:nvSpPr>
        <p:spPr>
          <a:xfrm>
            <a:off x="647481" y="1197819"/>
            <a:ext cx="8142621" cy="5117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2800" dirty="0"/>
              <a:t>ASLR OFF vs ASLR ON</a:t>
            </a:r>
            <a:endParaRPr lang="vi-VN" sz="2600" dirty="0">
              <a:solidFill>
                <a:schemeClr val="bg1"/>
              </a:solidFill>
              <a:latin typeface="Segoe UI" panose="020B0502040204020203" pitchFamily="34" charset="0"/>
              <a:cs typeface="Segoe UI" panose="020B0502040204020203" pitchFamily="34" charset="0"/>
            </a:endParaRPr>
          </a:p>
        </p:txBody>
      </p:sp>
      <mc:AlternateContent xmlns:mc="http://schemas.openxmlformats.org/markup-compatibility/2006" xmlns:a14="http://schemas.microsoft.com/office/drawing/2010/main">
        <mc:Choice Requires="a14">
          <p:graphicFrame>
            <p:nvGraphicFramePr>
              <p:cNvPr id="12" name="Table 11">
                <a:extLst>
                  <a:ext uri="{FF2B5EF4-FFF2-40B4-BE49-F238E27FC236}">
                    <a16:creationId xmlns:a16="http://schemas.microsoft.com/office/drawing/2014/main" id="{8BAACFC4-5E23-947F-E006-BF3FCC51D011}"/>
                  </a:ext>
                </a:extLst>
              </p:cNvPr>
              <p:cNvGraphicFramePr>
                <a:graphicFrameLocks noGrp="1"/>
              </p:cNvGraphicFramePr>
              <p:nvPr>
                <p:extLst>
                  <p:ext uri="{D42A27DB-BD31-4B8C-83A1-F6EECF244321}">
                    <p14:modId xmlns:p14="http://schemas.microsoft.com/office/powerpoint/2010/main" val="3542055321"/>
                  </p:ext>
                </p:extLst>
              </p:nvPr>
            </p:nvGraphicFramePr>
            <p:xfrm>
              <a:off x="989610" y="2484480"/>
              <a:ext cx="10212780" cy="2705938"/>
            </p:xfrm>
            <a:graphic>
              <a:graphicData uri="http://schemas.openxmlformats.org/drawingml/2006/table">
                <a:tbl>
                  <a:tblPr firstRow="1" bandRow="1">
                    <a:tableStyleId>{5C22544A-7EE6-4342-B048-85BDC9FD1C3A}</a:tableStyleId>
                  </a:tblPr>
                  <a:tblGrid>
                    <a:gridCol w="2540990">
                      <a:extLst>
                        <a:ext uri="{9D8B030D-6E8A-4147-A177-3AD203B41FA5}">
                          <a16:colId xmlns:a16="http://schemas.microsoft.com/office/drawing/2014/main" val="318480519"/>
                        </a:ext>
                      </a:extLst>
                    </a:gridCol>
                    <a:gridCol w="3831145">
                      <a:extLst>
                        <a:ext uri="{9D8B030D-6E8A-4147-A177-3AD203B41FA5}">
                          <a16:colId xmlns:a16="http://schemas.microsoft.com/office/drawing/2014/main" val="2480779245"/>
                        </a:ext>
                      </a:extLst>
                    </a:gridCol>
                    <a:gridCol w="3840645">
                      <a:extLst>
                        <a:ext uri="{9D8B030D-6E8A-4147-A177-3AD203B41FA5}">
                          <a16:colId xmlns:a16="http://schemas.microsoft.com/office/drawing/2014/main" val="3878055598"/>
                        </a:ext>
                      </a:extLst>
                    </a:gridCol>
                  </a:tblGrid>
                  <a:tr h="277242">
                    <a:tc>
                      <a:txBody>
                        <a:bodyPr/>
                        <a:lstStyle/>
                        <a:p>
                          <a:pPr algn="ctr"/>
                          <a:r>
                            <a:rPr lang="en-US" sz="2000" b="1" dirty="0" err="1">
                              <a:solidFill>
                                <a:schemeClr val="tx1"/>
                              </a:solidFill>
                              <a:latin typeface="Calibri" panose="020F0502020204030204" pitchFamily="34" charset="0"/>
                              <a:ea typeface="Calibri" panose="020F0502020204030204" pitchFamily="34" charset="0"/>
                              <a:cs typeface="Calibri" panose="020F0502020204030204" pitchFamily="34" charset="0"/>
                            </a:rPr>
                            <a:t>Tiêu</a:t>
                          </a:r>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2000" b="1" dirty="0" err="1">
                              <a:solidFill>
                                <a:schemeClr val="tx1"/>
                              </a:solidFill>
                              <a:latin typeface="Calibri" panose="020F0502020204030204" pitchFamily="34" charset="0"/>
                              <a:ea typeface="Calibri" panose="020F0502020204030204" pitchFamily="34" charset="0"/>
                              <a:cs typeface="Calibri" panose="020F0502020204030204" pitchFamily="34" charset="0"/>
                            </a:rPr>
                            <a:t>chí</a:t>
                          </a:r>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 so </a:t>
                          </a:r>
                          <a:r>
                            <a:rPr lang="en-US" sz="2000" b="1" dirty="0" err="1">
                              <a:solidFill>
                                <a:schemeClr val="tx1"/>
                              </a:solidFill>
                              <a:latin typeface="Calibri" panose="020F0502020204030204" pitchFamily="34" charset="0"/>
                              <a:ea typeface="Calibri" panose="020F0502020204030204" pitchFamily="34" charset="0"/>
                              <a:cs typeface="Calibri" panose="020F0502020204030204" pitchFamily="34" charset="0"/>
                            </a:rPr>
                            <a:t>sánh</a:t>
                          </a:r>
                          <a:endPar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DB1CC"/>
                        </a:solidFill>
                      </a:tcPr>
                    </a:tc>
                    <a:tc>
                      <a:txBody>
                        <a:bodyPr/>
                        <a:lstStyle/>
                        <a:p>
                          <a:pPr algn="ctr"/>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ASLR OFF</a:t>
                          </a: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8181"/>
                        </a:solidFill>
                      </a:tcPr>
                    </a:tc>
                    <a:tc>
                      <a:txBody>
                        <a:bodyPr/>
                        <a:lstStyle/>
                        <a:p>
                          <a:pPr algn="ctr"/>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ASLR ON</a:t>
                          </a: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2DF8D"/>
                        </a:solidFill>
                      </a:tcPr>
                    </a:tc>
                    <a:extLst>
                      <a:ext uri="{0D108BD9-81ED-4DB2-BD59-A6C34878D82A}">
                        <a16:rowId xmlns:a16="http://schemas.microsoft.com/office/drawing/2014/main" val="2893572874"/>
                      </a:ext>
                    </a:extLst>
                  </a:tr>
                  <a:tr h="867839">
                    <a:tc>
                      <a:txBody>
                        <a:bodyPr/>
                        <a:lstStyle/>
                        <a:p>
                          <a:pPr marL="0" indent="0" algn="l">
                            <a:lnSpc>
                              <a:spcPct val="100000"/>
                            </a:lnSpc>
                            <a:buFontTx/>
                            <a:buNone/>
                          </a:pPr>
                          <a:r>
                            <a:rPr lang="en-US" sz="2000">
                              <a:latin typeface="Calibri" panose="020F0502020204030204" pitchFamily="34" charset="0"/>
                              <a:ea typeface="Calibri" panose="020F0502020204030204" pitchFamily="34" charset="0"/>
                              <a:cs typeface="Calibri" panose="020F0502020204030204" pitchFamily="34" charset="0"/>
                            </a:rPr>
                            <a:t>Hành vi bộ nhớ</a:t>
                          </a:r>
                          <a:endParaRPr lang="en-US" sz="2000" dirty="0">
                            <a:latin typeface="Calibri" panose="020F0502020204030204" pitchFamily="34" charset="0"/>
                            <a:ea typeface="Calibri" panose="020F0502020204030204" pitchFamily="34" charset="0"/>
                            <a:cs typeface="Calibri" panose="020F0502020204030204" pitchFamily="34" charset="0"/>
                          </a:endParaRP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9D1E1"/>
                        </a:solidFill>
                      </a:tcPr>
                    </a:tc>
                    <a:tc>
                      <a:txBody>
                        <a:bodyPr/>
                        <a:lstStyle/>
                        <a:p>
                          <a:pPr marL="0" indent="0" algn="l">
                            <a:lnSpc>
                              <a:spcPct val="100000"/>
                            </a:lnSpc>
                            <a:buFontTx/>
                            <a:buNone/>
                          </a:pPr>
                          <a:r>
                            <a:rPr lang="en-US" sz="2000" dirty="0" err="1">
                              <a:latin typeface="Calibri" panose="020F0502020204030204" pitchFamily="34" charset="0"/>
                              <a:ea typeface="Calibri" panose="020F0502020204030204" pitchFamily="34" charset="0"/>
                              <a:cs typeface="Calibri" panose="020F0502020204030204" pitchFamily="34" charset="0"/>
                            </a:rPr>
                            <a:t>Địa</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chỉ</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cố</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định</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giữa</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các</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lần</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chạy</a:t>
                          </a:r>
                          <a:endParaRPr lang="en-US" sz="2000" dirty="0">
                            <a:latin typeface="Calibri" panose="020F0502020204030204" pitchFamily="34" charset="0"/>
                            <a:ea typeface="Calibri" panose="020F0502020204030204" pitchFamily="34" charset="0"/>
                            <a:cs typeface="Calibri" panose="020F0502020204030204" pitchFamily="34" charset="0"/>
                          </a:endParaRP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5C5"/>
                        </a:solidFill>
                      </a:tcPr>
                    </a:tc>
                    <a:tc>
                      <a:txBody>
                        <a:bodyPr/>
                        <a:lstStyle/>
                        <a:p>
                          <a:pPr marL="342900" indent="-342900" algn="l">
                            <a:lnSpc>
                              <a:spcPct val="100000"/>
                            </a:lnSpc>
                            <a:buFont typeface="Arial" panose="020B0604020202020204" pitchFamily="34" charset="0"/>
                            <a:buChar char="•"/>
                          </a:pPr>
                          <a:r>
                            <a:rPr lang="en-US" sz="2000" dirty="0" err="1">
                              <a:latin typeface="Calibri" panose="020F0502020204030204" pitchFamily="34" charset="0"/>
                              <a:ea typeface="Calibri" panose="020F0502020204030204" pitchFamily="34" charset="0"/>
                              <a:cs typeface="Calibri" panose="020F0502020204030204" pitchFamily="34" charset="0"/>
                            </a:rPr>
                            <a:t>Địa</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chỉ</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thay</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đổi</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mỗi</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lần</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chạy</a:t>
                          </a: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indent="-342900" algn="l">
                            <a:lnSpc>
                              <a:spcPct val="10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Random stack/heap/library</a:t>
                          </a: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026110469"/>
                      </a:ext>
                    </a:extLst>
                  </a:tr>
                  <a:tr h="867839">
                    <a:tc>
                      <a:txBody>
                        <a:bodyPr/>
                        <a:lstStyle/>
                        <a:p>
                          <a:pPr marL="0" indent="0" algn="l">
                            <a:lnSpc>
                              <a:spcPct val="100000"/>
                            </a:lnSpc>
                            <a:buFontTx/>
                            <a:buNone/>
                          </a:pPr>
                          <a:r>
                            <a:rPr lang="en-US" sz="2000" dirty="0" err="1">
                              <a:latin typeface="Calibri" panose="020F0502020204030204" pitchFamily="34" charset="0"/>
                              <a:ea typeface="Calibri" panose="020F0502020204030204" pitchFamily="34" charset="0"/>
                              <a:cs typeface="Calibri" panose="020F0502020204030204" pitchFamily="34" charset="0"/>
                            </a:rPr>
                            <a:t>Khả</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năng</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khai</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thác</a:t>
                          </a:r>
                          <a:endParaRPr lang="en-US" sz="2000" dirty="0">
                            <a:latin typeface="Calibri" panose="020F0502020204030204" pitchFamily="34" charset="0"/>
                            <a:ea typeface="Calibri" panose="020F0502020204030204" pitchFamily="34" charset="0"/>
                            <a:cs typeface="Calibri" panose="020F0502020204030204" pitchFamily="34" charset="0"/>
                          </a:endParaRP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9D1E1"/>
                        </a:solidFill>
                      </a:tcPr>
                    </a:tc>
                    <a:tc>
                      <a:txBody>
                        <a:bodyPr/>
                        <a:lstStyle/>
                        <a:p>
                          <a:pPr marL="0" indent="0" algn="l">
                            <a:lnSpc>
                              <a:spcPct val="100000"/>
                            </a:lnSpc>
                            <a:buFontTx/>
                            <a:buNone/>
                          </a:pPr>
                          <a:r>
                            <a:rPr lang="en-US" sz="2000" dirty="0" err="1">
                              <a:latin typeface="Calibri" panose="020F0502020204030204" pitchFamily="34" charset="0"/>
                              <a:ea typeface="Calibri" panose="020F0502020204030204" pitchFamily="34" charset="0"/>
                              <a:cs typeface="Calibri" panose="020F0502020204030204" pitchFamily="34" charset="0"/>
                            </a:rPr>
                            <a:t>Có</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thể</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đoán</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chính</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xác</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địa</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chỉ</a:t>
                          </a:r>
                          <a:endParaRPr lang="en-US" sz="2000" dirty="0">
                            <a:latin typeface="Calibri" panose="020F0502020204030204" pitchFamily="34" charset="0"/>
                            <a:ea typeface="Calibri" panose="020F0502020204030204" pitchFamily="34" charset="0"/>
                            <a:cs typeface="Calibri" panose="020F0502020204030204" pitchFamily="34" charset="0"/>
                          </a:endParaRP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5C5"/>
                        </a:solidFill>
                      </a:tcPr>
                    </a:tc>
                    <a:tc>
                      <a:txBody>
                        <a:bodyPr/>
                        <a:lstStyle/>
                        <a:p>
                          <a:pPr marL="0" indent="0" algn="l">
                            <a:lnSpc>
                              <a:spcPct val="100000"/>
                            </a:lnSpc>
                            <a:buFontTx/>
                            <a:buNone/>
                          </a:pPr>
                          <a:r>
                            <a:rPr lang="en-US" sz="2000" dirty="0" err="1">
                              <a:latin typeface="Calibri" panose="020F0502020204030204" pitchFamily="34" charset="0"/>
                              <a:ea typeface="Calibri" panose="020F0502020204030204" pitchFamily="34" charset="0"/>
                              <a:cs typeface="Calibri" panose="020F0502020204030204" pitchFamily="34" charset="0"/>
                            </a:rPr>
                            <a:t>Không</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thể</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dùng</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địa</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chỉ</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cố</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định</a:t>
                          </a:r>
                          <a:endParaRPr lang="en-US" sz="2000" dirty="0">
                            <a:latin typeface="Calibri" panose="020F0502020204030204" pitchFamily="34" charset="0"/>
                            <a:ea typeface="Calibri" panose="020F0502020204030204" pitchFamily="34" charset="0"/>
                            <a:cs typeface="Calibri" panose="020F0502020204030204" pitchFamily="34" charset="0"/>
                          </a:endParaRP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109753610"/>
                      </a:ext>
                    </a:extLst>
                  </a:tr>
                  <a:tr h="561934">
                    <a:tc>
                      <a:txBody>
                        <a:bodyPr/>
                        <a:lstStyle/>
                        <a:p>
                          <a:pPr marL="0" indent="0" algn="l">
                            <a:lnSpc>
                              <a:spcPct val="100000"/>
                            </a:lnSpc>
                            <a:buFontTx/>
                            <a:buNone/>
                          </a:pPr>
                          <a:r>
                            <a:rPr lang="en-US" sz="2000" b="1" dirty="0" err="1">
                              <a:latin typeface="Calibri" panose="020F0502020204030204" pitchFamily="34" charset="0"/>
                              <a:ea typeface="Calibri" panose="020F0502020204030204" pitchFamily="34" charset="0"/>
                              <a:cs typeface="Calibri" panose="020F0502020204030204" pitchFamily="34" charset="0"/>
                            </a:rPr>
                            <a:t>Kết</a:t>
                          </a:r>
                          <a:r>
                            <a:rPr lang="en-US" sz="2000" b="1" dirty="0">
                              <a:latin typeface="Calibri" panose="020F0502020204030204" pitchFamily="34" charset="0"/>
                              <a:ea typeface="Calibri" panose="020F0502020204030204" pitchFamily="34" charset="0"/>
                              <a:cs typeface="Calibri" panose="020F0502020204030204" pitchFamily="34" charset="0"/>
                            </a:rPr>
                            <a:t> </a:t>
                          </a:r>
                          <a:r>
                            <a:rPr lang="en-US" sz="2000" b="1" dirty="0" err="1">
                              <a:latin typeface="Calibri" panose="020F0502020204030204" pitchFamily="34" charset="0"/>
                              <a:ea typeface="Calibri" panose="020F0502020204030204" pitchFamily="34" charset="0"/>
                              <a:cs typeface="Calibri" panose="020F0502020204030204" pitchFamily="34" charset="0"/>
                            </a:rPr>
                            <a:t>quả</a:t>
                          </a:r>
                          <a:r>
                            <a:rPr lang="en-US" sz="2000" b="1" dirty="0">
                              <a:latin typeface="Calibri" panose="020F0502020204030204" pitchFamily="34" charset="0"/>
                              <a:ea typeface="Calibri" panose="020F0502020204030204" pitchFamily="34" charset="0"/>
                              <a:cs typeface="Calibri" panose="020F0502020204030204" pitchFamily="34" charset="0"/>
                            </a:rPr>
                            <a:t> </a:t>
                          </a:r>
                          <a:r>
                            <a:rPr lang="en-US" sz="2000" b="1" dirty="0" err="1">
                              <a:latin typeface="Calibri" panose="020F0502020204030204" pitchFamily="34" charset="0"/>
                              <a:ea typeface="Calibri" panose="020F0502020204030204" pitchFamily="34" charset="0"/>
                              <a:cs typeface="Calibri" panose="020F0502020204030204" pitchFamily="34" charset="0"/>
                            </a:rPr>
                            <a:t>khai</a:t>
                          </a:r>
                          <a:r>
                            <a:rPr lang="en-US" sz="2000" b="1" dirty="0">
                              <a:latin typeface="Calibri" panose="020F0502020204030204" pitchFamily="34" charset="0"/>
                              <a:ea typeface="Calibri" panose="020F0502020204030204" pitchFamily="34" charset="0"/>
                              <a:cs typeface="Calibri" panose="020F0502020204030204" pitchFamily="34" charset="0"/>
                            </a:rPr>
                            <a:t> </a:t>
                          </a:r>
                          <a:r>
                            <a:rPr lang="en-US" sz="2000" b="1" dirty="0" err="1">
                              <a:latin typeface="Calibri" panose="020F0502020204030204" pitchFamily="34" charset="0"/>
                              <a:ea typeface="Calibri" panose="020F0502020204030204" pitchFamily="34" charset="0"/>
                              <a:cs typeface="Calibri" panose="020F0502020204030204" pitchFamily="34" charset="0"/>
                            </a:rPr>
                            <a:t>thác</a:t>
                          </a:r>
                          <a:endParaRPr lang="en-US" sz="2000" b="1" dirty="0">
                            <a:latin typeface="Calibri" panose="020F0502020204030204" pitchFamily="34" charset="0"/>
                            <a:ea typeface="Calibri" panose="020F0502020204030204" pitchFamily="34" charset="0"/>
                            <a:cs typeface="Calibri" panose="020F0502020204030204" pitchFamily="34" charset="0"/>
                          </a:endParaRP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9D1E1"/>
                        </a:solidFill>
                      </a:tcPr>
                    </a:tc>
                    <a:tc>
                      <a:txBody>
                        <a:bodyPr/>
                        <a:lstStyle/>
                        <a:p>
                          <a:pPr marL="0" indent="0" algn="l">
                            <a:lnSpc>
                              <a:spcPct val="100000"/>
                            </a:lnSpc>
                            <a:buFontTx/>
                            <a:buNone/>
                          </a:pPr>
                          <a:r>
                            <a:rPr lang="en-US" sz="2000" b="1" dirty="0">
                              <a:latin typeface="Calibri" panose="020F0502020204030204" pitchFamily="34" charset="0"/>
                              <a:ea typeface="Calibri" panose="020F0502020204030204" pitchFamily="34" charset="0"/>
                              <a:cs typeface="Calibri" panose="020F0502020204030204" pitchFamily="34" charset="0"/>
                            </a:rPr>
                            <a:t>Thành </a:t>
                          </a:r>
                          <a:r>
                            <a:rPr lang="en-US" sz="2000" b="1" dirty="0" err="1">
                              <a:latin typeface="Calibri" panose="020F0502020204030204" pitchFamily="34" charset="0"/>
                              <a:ea typeface="Calibri" panose="020F0502020204030204" pitchFamily="34" charset="0"/>
                              <a:cs typeface="Calibri" panose="020F0502020204030204" pitchFamily="34" charset="0"/>
                            </a:rPr>
                            <a:t>công</a:t>
                          </a:r>
                          <a:r>
                            <a:rPr lang="en-US" sz="2000" b="1" dirty="0">
                              <a:latin typeface="Calibri" panose="020F0502020204030204" pitchFamily="34" charset="0"/>
                              <a:ea typeface="Calibri" panose="020F0502020204030204" pitchFamily="34" charset="0"/>
                              <a:cs typeface="Calibri" panose="020F0502020204030204" pitchFamily="34" charset="0"/>
                            </a:rPr>
                            <a:t> </a:t>
                          </a:r>
                          <a:r>
                            <a:rPr lang="en-US" sz="2000" b="1" dirty="0" err="1">
                              <a:latin typeface="Calibri" panose="020F0502020204030204" pitchFamily="34" charset="0"/>
                              <a:ea typeface="Calibri" panose="020F0502020204030204" pitchFamily="34" charset="0"/>
                              <a:cs typeface="Calibri" panose="020F0502020204030204" pitchFamily="34" charset="0"/>
                            </a:rPr>
                            <a:t>ổn</a:t>
                          </a:r>
                          <a:r>
                            <a:rPr lang="en-US" sz="2000" b="1" dirty="0">
                              <a:latin typeface="Calibri" panose="020F0502020204030204" pitchFamily="34" charset="0"/>
                              <a:ea typeface="Calibri" panose="020F0502020204030204" pitchFamily="34" charset="0"/>
                              <a:cs typeface="Calibri" panose="020F0502020204030204" pitchFamily="34" charset="0"/>
                            </a:rPr>
                            <a:t> </a:t>
                          </a:r>
                          <a:r>
                            <a:rPr lang="en-US" sz="2000" b="1" dirty="0" err="1">
                              <a:latin typeface="Calibri" panose="020F0502020204030204" pitchFamily="34" charset="0"/>
                              <a:ea typeface="Calibri" panose="020F0502020204030204" pitchFamily="34" charset="0"/>
                              <a:cs typeface="Calibri" panose="020F0502020204030204" pitchFamily="34" charset="0"/>
                            </a:rPr>
                            <a:t>định</a:t>
                          </a:r>
                          <a:endParaRPr lang="en-US" sz="2000" b="1" dirty="0">
                            <a:latin typeface="Calibri" panose="020F0502020204030204" pitchFamily="34" charset="0"/>
                            <a:ea typeface="Calibri" panose="020F0502020204030204" pitchFamily="34" charset="0"/>
                            <a:cs typeface="Calibri" panose="020F0502020204030204" pitchFamily="34" charset="0"/>
                          </a:endParaRP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5C5"/>
                        </a:solidFill>
                      </a:tcPr>
                    </a:tc>
                    <a:tc>
                      <a:txBody>
                        <a:bodyPr/>
                        <a:lstStyle/>
                        <a:p>
                          <a:pPr marL="0" indent="0" algn="l">
                            <a:lnSpc>
                              <a:spcPct val="100000"/>
                            </a:lnSpc>
                            <a:buFontTx/>
                            <a:buNone/>
                          </a:pPr>
                          <a:r>
                            <a:rPr lang="en-US" sz="2000" b="1" dirty="0">
                              <a:latin typeface="Calibri" panose="020F0502020204030204" pitchFamily="34" charset="0"/>
                              <a:ea typeface="Calibri" panose="020F0502020204030204" pitchFamily="34" charset="0"/>
                              <a:cs typeface="Calibri" panose="020F0502020204030204" pitchFamily="34" charset="0"/>
                            </a:rPr>
                            <a:t>Success rate </a:t>
                          </a:r>
                          <a14:m>
                            <m:oMath xmlns:m="http://schemas.openxmlformats.org/officeDocument/2006/math">
                              <m:r>
                                <a:rPr lang="en-US" sz="2000" b="1" dirty="0" smtClean="0">
                                  <a:latin typeface="Cambria Math" panose="02040503050406030204" pitchFamily="18" charset="0"/>
                                </a:rPr>
                                <m:t>≈</m:t>
                              </m:r>
                            </m:oMath>
                          </a14:m>
                          <a:r>
                            <a:rPr lang="en-US" sz="2000" b="1" dirty="0">
                              <a:latin typeface="Calibri" panose="020F0502020204030204" pitchFamily="34" charset="0"/>
                              <a:ea typeface="Calibri" panose="020F0502020204030204" pitchFamily="34" charset="0"/>
                              <a:cs typeface="Calibri" panose="020F0502020204030204" pitchFamily="34" charset="0"/>
                            </a:rPr>
                            <a:t> 0%</a:t>
                          </a: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298878502"/>
                      </a:ext>
                    </a:extLst>
                  </a:tr>
                </a:tbl>
              </a:graphicData>
            </a:graphic>
          </p:graphicFrame>
        </mc:Choice>
        <mc:Fallback xmlns="">
          <p:graphicFrame>
            <p:nvGraphicFramePr>
              <p:cNvPr id="12" name="Table 11">
                <a:extLst>
                  <a:ext uri="{FF2B5EF4-FFF2-40B4-BE49-F238E27FC236}">
                    <a16:creationId xmlns:a16="http://schemas.microsoft.com/office/drawing/2014/main" id="{8BAACFC4-5E23-947F-E006-BF3FCC51D011}"/>
                  </a:ext>
                </a:extLst>
              </p:cNvPr>
              <p:cNvGraphicFramePr>
                <a:graphicFrameLocks noGrp="1"/>
              </p:cNvGraphicFramePr>
              <p:nvPr>
                <p:extLst>
                  <p:ext uri="{D42A27DB-BD31-4B8C-83A1-F6EECF244321}">
                    <p14:modId xmlns:p14="http://schemas.microsoft.com/office/powerpoint/2010/main" val="3542055321"/>
                  </p:ext>
                </p:extLst>
              </p:nvPr>
            </p:nvGraphicFramePr>
            <p:xfrm>
              <a:off x="989610" y="2484480"/>
              <a:ext cx="10212780" cy="2705938"/>
            </p:xfrm>
            <a:graphic>
              <a:graphicData uri="http://schemas.openxmlformats.org/drawingml/2006/table">
                <a:tbl>
                  <a:tblPr firstRow="1" bandRow="1">
                    <a:tableStyleId>{5C22544A-7EE6-4342-B048-85BDC9FD1C3A}</a:tableStyleId>
                  </a:tblPr>
                  <a:tblGrid>
                    <a:gridCol w="2540990">
                      <a:extLst>
                        <a:ext uri="{9D8B030D-6E8A-4147-A177-3AD203B41FA5}">
                          <a16:colId xmlns:a16="http://schemas.microsoft.com/office/drawing/2014/main" val="318480519"/>
                        </a:ext>
                      </a:extLst>
                    </a:gridCol>
                    <a:gridCol w="3831145">
                      <a:extLst>
                        <a:ext uri="{9D8B030D-6E8A-4147-A177-3AD203B41FA5}">
                          <a16:colId xmlns:a16="http://schemas.microsoft.com/office/drawing/2014/main" val="2480779245"/>
                        </a:ext>
                      </a:extLst>
                    </a:gridCol>
                    <a:gridCol w="3840645">
                      <a:extLst>
                        <a:ext uri="{9D8B030D-6E8A-4147-A177-3AD203B41FA5}">
                          <a16:colId xmlns:a16="http://schemas.microsoft.com/office/drawing/2014/main" val="3878055598"/>
                        </a:ext>
                      </a:extLst>
                    </a:gridCol>
                  </a:tblGrid>
                  <a:tr h="408326">
                    <a:tc>
                      <a:txBody>
                        <a:bodyPr/>
                        <a:lstStyle/>
                        <a:p>
                          <a:pPr algn="ctr"/>
                          <a:r>
                            <a:rPr lang="en-US" sz="2000" b="1" dirty="0" err="1">
                              <a:solidFill>
                                <a:schemeClr val="tx1"/>
                              </a:solidFill>
                              <a:latin typeface="Calibri" panose="020F0502020204030204" pitchFamily="34" charset="0"/>
                              <a:ea typeface="Calibri" panose="020F0502020204030204" pitchFamily="34" charset="0"/>
                              <a:cs typeface="Calibri" panose="020F0502020204030204" pitchFamily="34" charset="0"/>
                            </a:rPr>
                            <a:t>Tiêu</a:t>
                          </a:r>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2000" b="1" dirty="0" err="1">
                              <a:solidFill>
                                <a:schemeClr val="tx1"/>
                              </a:solidFill>
                              <a:latin typeface="Calibri" panose="020F0502020204030204" pitchFamily="34" charset="0"/>
                              <a:ea typeface="Calibri" panose="020F0502020204030204" pitchFamily="34" charset="0"/>
                              <a:cs typeface="Calibri" panose="020F0502020204030204" pitchFamily="34" charset="0"/>
                            </a:rPr>
                            <a:t>chí</a:t>
                          </a:r>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 so </a:t>
                          </a:r>
                          <a:r>
                            <a:rPr lang="en-US" sz="2000" b="1" dirty="0" err="1">
                              <a:solidFill>
                                <a:schemeClr val="tx1"/>
                              </a:solidFill>
                              <a:latin typeface="Calibri" panose="020F0502020204030204" pitchFamily="34" charset="0"/>
                              <a:ea typeface="Calibri" panose="020F0502020204030204" pitchFamily="34" charset="0"/>
                              <a:cs typeface="Calibri" panose="020F0502020204030204" pitchFamily="34" charset="0"/>
                            </a:rPr>
                            <a:t>sánh</a:t>
                          </a:r>
                          <a:endPar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DB1CC"/>
                        </a:solidFill>
                      </a:tcPr>
                    </a:tc>
                    <a:tc>
                      <a:txBody>
                        <a:bodyPr/>
                        <a:lstStyle/>
                        <a:p>
                          <a:pPr algn="ctr"/>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ASLR OFF</a:t>
                          </a: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8181"/>
                        </a:solidFill>
                      </a:tcPr>
                    </a:tc>
                    <a:tc>
                      <a:txBody>
                        <a:bodyPr/>
                        <a:lstStyle/>
                        <a:p>
                          <a:pPr algn="ctr"/>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ASLR ON</a:t>
                          </a: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2DF8D"/>
                        </a:solidFill>
                      </a:tcPr>
                    </a:tc>
                    <a:extLst>
                      <a:ext uri="{0D108BD9-81ED-4DB2-BD59-A6C34878D82A}">
                        <a16:rowId xmlns:a16="http://schemas.microsoft.com/office/drawing/2014/main" val="2893572874"/>
                      </a:ext>
                    </a:extLst>
                  </a:tr>
                  <a:tr h="867839">
                    <a:tc>
                      <a:txBody>
                        <a:bodyPr/>
                        <a:lstStyle/>
                        <a:p>
                          <a:pPr marL="0" indent="0" algn="l">
                            <a:lnSpc>
                              <a:spcPct val="100000"/>
                            </a:lnSpc>
                            <a:buFontTx/>
                            <a:buNone/>
                          </a:pPr>
                          <a:r>
                            <a:rPr lang="en-US" sz="2000">
                              <a:latin typeface="Calibri" panose="020F0502020204030204" pitchFamily="34" charset="0"/>
                              <a:ea typeface="Calibri" panose="020F0502020204030204" pitchFamily="34" charset="0"/>
                              <a:cs typeface="Calibri" panose="020F0502020204030204" pitchFamily="34" charset="0"/>
                            </a:rPr>
                            <a:t>Hành vi bộ nhớ</a:t>
                          </a:r>
                          <a:endParaRPr lang="en-US" sz="2000" dirty="0">
                            <a:latin typeface="Calibri" panose="020F0502020204030204" pitchFamily="34" charset="0"/>
                            <a:ea typeface="Calibri" panose="020F0502020204030204" pitchFamily="34" charset="0"/>
                            <a:cs typeface="Calibri" panose="020F0502020204030204" pitchFamily="34" charset="0"/>
                          </a:endParaRP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9D1E1"/>
                        </a:solidFill>
                      </a:tcPr>
                    </a:tc>
                    <a:tc>
                      <a:txBody>
                        <a:bodyPr/>
                        <a:lstStyle/>
                        <a:p>
                          <a:pPr marL="0" indent="0" algn="l">
                            <a:lnSpc>
                              <a:spcPct val="100000"/>
                            </a:lnSpc>
                            <a:buFontTx/>
                            <a:buNone/>
                          </a:pPr>
                          <a:r>
                            <a:rPr lang="en-US" sz="2000" dirty="0" err="1">
                              <a:latin typeface="Calibri" panose="020F0502020204030204" pitchFamily="34" charset="0"/>
                              <a:ea typeface="Calibri" panose="020F0502020204030204" pitchFamily="34" charset="0"/>
                              <a:cs typeface="Calibri" panose="020F0502020204030204" pitchFamily="34" charset="0"/>
                            </a:rPr>
                            <a:t>Địa</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chỉ</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cố</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định</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giữa</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các</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lần</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chạy</a:t>
                          </a:r>
                          <a:endParaRPr lang="en-US" sz="2000" dirty="0">
                            <a:latin typeface="Calibri" panose="020F0502020204030204" pitchFamily="34" charset="0"/>
                            <a:ea typeface="Calibri" panose="020F0502020204030204" pitchFamily="34" charset="0"/>
                            <a:cs typeface="Calibri" panose="020F0502020204030204" pitchFamily="34" charset="0"/>
                          </a:endParaRP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5C5"/>
                        </a:solidFill>
                      </a:tcPr>
                    </a:tc>
                    <a:tc>
                      <a:txBody>
                        <a:bodyPr/>
                        <a:lstStyle/>
                        <a:p>
                          <a:pPr marL="342900" indent="-342900" algn="l">
                            <a:lnSpc>
                              <a:spcPct val="100000"/>
                            </a:lnSpc>
                            <a:buFont typeface="Arial" panose="020B0604020202020204" pitchFamily="34" charset="0"/>
                            <a:buChar char="•"/>
                          </a:pPr>
                          <a:r>
                            <a:rPr lang="en-US" sz="2000" dirty="0" err="1">
                              <a:latin typeface="Calibri" panose="020F0502020204030204" pitchFamily="34" charset="0"/>
                              <a:ea typeface="Calibri" panose="020F0502020204030204" pitchFamily="34" charset="0"/>
                              <a:cs typeface="Calibri" panose="020F0502020204030204" pitchFamily="34" charset="0"/>
                            </a:rPr>
                            <a:t>Địa</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chỉ</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thay</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đổi</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mỗi</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lần</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chạy</a:t>
                          </a: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indent="-342900" algn="l">
                            <a:lnSpc>
                              <a:spcPct val="10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Random stack/heap/library</a:t>
                          </a: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026110469"/>
                      </a:ext>
                    </a:extLst>
                  </a:tr>
                  <a:tr h="867839">
                    <a:tc>
                      <a:txBody>
                        <a:bodyPr/>
                        <a:lstStyle/>
                        <a:p>
                          <a:pPr marL="0" indent="0" algn="l">
                            <a:lnSpc>
                              <a:spcPct val="100000"/>
                            </a:lnSpc>
                            <a:buFontTx/>
                            <a:buNone/>
                          </a:pPr>
                          <a:r>
                            <a:rPr lang="en-US" sz="2000" dirty="0" err="1">
                              <a:latin typeface="Calibri" panose="020F0502020204030204" pitchFamily="34" charset="0"/>
                              <a:ea typeface="Calibri" panose="020F0502020204030204" pitchFamily="34" charset="0"/>
                              <a:cs typeface="Calibri" panose="020F0502020204030204" pitchFamily="34" charset="0"/>
                            </a:rPr>
                            <a:t>Khả</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năng</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khai</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thác</a:t>
                          </a:r>
                          <a:endParaRPr lang="en-US" sz="2000" dirty="0">
                            <a:latin typeface="Calibri" panose="020F0502020204030204" pitchFamily="34" charset="0"/>
                            <a:ea typeface="Calibri" panose="020F0502020204030204" pitchFamily="34" charset="0"/>
                            <a:cs typeface="Calibri" panose="020F0502020204030204" pitchFamily="34" charset="0"/>
                          </a:endParaRP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9D1E1"/>
                        </a:solidFill>
                      </a:tcPr>
                    </a:tc>
                    <a:tc>
                      <a:txBody>
                        <a:bodyPr/>
                        <a:lstStyle/>
                        <a:p>
                          <a:pPr marL="0" indent="0" algn="l">
                            <a:lnSpc>
                              <a:spcPct val="100000"/>
                            </a:lnSpc>
                            <a:buFontTx/>
                            <a:buNone/>
                          </a:pPr>
                          <a:r>
                            <a:rPr lang="en-US" sz="2000" dirty="0" err="1">
                              <a:latin typeface="Calibri" panose="020F0502020204030204" pitchFamily="34" charset="0"/>
                              <a:ea typeface="Calibri" panose="020F0502020204030204" pitchFamily="34" charset="0"/>
                              <a:cs typeface="Calibri" panose="020F0502020204030204" pitchFamily="34" charset="0"/>
                            </a:rPr>
                            <a:t>Có</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thể</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đoán</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chính</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xác</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địa</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chỉ</a:t>
                          </a:r>
                          <a:endParaRPr lang="en-US" sz="2000" dirty="0">
                            <a:latin typeface="Calibri" panose="020F0502020204030204" pitchFamily="34" charset="0"/>
                            <a:ea typeface="Calibri" panose="020F0502020204030204" pitchFamily="34" charset="0"/>
                            <a:cs typeface="Calibri" panose="020F0502020204030204" pitchFamily="34" charset="0"/>
                          </a:endParaRP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5C5"/>
                        </a:solidFill>
                      </a:tcPr>
                    </a:tc>
                    <a:tc>
                      <a:txBody>
                        <a:bodyPr/>
                        <a:lstStyle/>
                        <a:p>
                          <a:pPr marL="0" indent="0" algn="l">
                            <a:lnSpc>
                              <a:spcPct val="100000"/>
                            </a:lnSpc>
                            <a:buFontTx/>
                            <a:buNone/>
                          </a:pPr>
                          <a:r>
                            <a:rPr lang="en-US" sz="2000" dirty="0" err="1">
                              <a:latin typeface="Calibri" panose="020F0502020204030204" pitchFamily="34" charset="0"/>
                              <a:ea typeface="Calibri" panose="020F0502020204030204" pitchFamily="34" charset="0"/>
                              <a:cs typeface="Calibri" panose="020F0502020204030204" pitchFamily="34" charset="0"/>
                            </a:rPr>
                            <a:t>Không</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thể</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dùng</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địa</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chỉ</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cố</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định</a:t>
                          </a:r>
                          <a:endParaRPr lang="en-US" sz="2000" dirty="0">
                            <a:latin typeface="Calibri" panose="020F0502020204030204" pitchFamily="34" charset="0"/>
                            <a:ea typeface="Calibri" panose="020F0502020204030204" pitchFamily="34" charset="0"/>
                            <a:cs typeface="Calibri" panose="020F0502020204030204" pitchFamily="34" charset="0"/>
                          </a:endParaRP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109753610"/>
                      </a:ext>
                    </a:extLst>
                  </a:tr>
                  <a:tr h="561934">
                    <a:tc>
                      <a:txBody>
                        <a:bodyPr/>
                        <a:lstStyle/>
                        <a:p>
                          <a:pPr marL="0" indent="0" algn="l">
                            <a:lnSpc>
                              <a:spcPct val="100000"/>
                            </a:lnSpc>
                            <a:buFontTx/>
                            <a:buNone/>
                          </a:pPr>
                          <a:r>
                            <a:rPr lang="en-US" sz="2000" b="1" dirty="0" err="1">
                              <a:latin typeface="Calibri" panose="020F0502020204030204" pitchFamily="34" charset="0"/>
                              <a:ea typeface="Calibri" panose="020F0502020204030204" pitchFamily="34" charset="0"/>
                              <a:cs typeface="Calibri" panose="020F0502020204030204" pitchFamily="34" charset="0"/>
                            </a:rPr>
                            <a:t>Kết</a:t>
                          </a:r>
                          <a:r>
                            <a:rPr lang="en-US" sz="2000" b="1" dirty="0">
                              <a:latin typeface="Calibri" panose="020F0502020204030204" pitchFamily="34" charset="0"/>
                              <a:ea typeface="Calibri" panose="020F0502020204030204" pitchFamily="34" charset="0"/>
                              <a:cs typeface="Calibri" panose="020F0502020204030204" pitchFamily="34" charset="0"/>
                            </a:rPr>
                            <a:t> </a:t>
                          </a:r>
                          <a:r>
                            <a:rPr lang="en-US" sz="2000" b="1" dirty="0" err="1">
                              <a:latin typeface="Calibri" panose="020F0502020204030204" pitchFamily="34" charset="0"/>
                              <a:ea typeface="Calibri" panose="020F0502020204030204" pitchFamily="34" charset="0"/>
                              <a:cs typeface="Calibri" panose="020F0502020204030204" pitchFamily="34" charset="0"/>
                            </a:rPr>
                            <a:t>quả</a:t>
                          </a:r>
                          <a:r>
                            <a:rPr lang="en-US" sz="2000" b="1" dirty="0">
                              <a:latin typeface="Calibri" panose="020F0502020204030204" pitchFamily="34" charset="0"/>
                              <a:ea typeface="Calibri" panose="020F0502020204030204" pitchFamily="34" charset="0"/>
                              <a:cs typeface="Calibri" panose="020F0502020204030204" pitchFamily="34" charset="0"/>
                            </a:rPr>
                            <a:t> </a:t>
                          </a:r>
                          <a:r>
                            <a:rPr lang="en-US" sz="2000" b="1" dirty="0" err="1">
                              <a:latin typeface="Calibri" panose="020F0502020204030204" pitchFamily="34" charset="0"/>
                              <a:ea typeface="Calibri" panose="020F0502020204030204" pitchFamily="34" charset="0"/>
                              <a:cs typeface="Calibri" panose="020F0502020204030204" pitchFamily="34" charset="0"/>
                            </a:rPr>
                            <a:t>khai</a:t>
                          </a:r>
                          <a:r>
                            <a:rPr lang="en-US" sz="2000" b="1" dirty="0">
                              <a:latin typeface="Calibri" panose="020F0502020204030204" pitchFamily="34" charset="0"/>
                              <a:ea typeface="Calibri" panose="020F0502020204030204" pitchFamily="34" charset="0"/>
                              <a:cs typeface="Calibri" panose="020F0502020204030204" pitchFamily="34" charset="0"/>
                            </a:rPr>
                            <a:t> </a:t>
                          </a:r>
                          <a:r>
                            <a:rPr lang="en-US" sz="2000" b="1" dirty="0" err="1">
                              <a:latin typeface="Calibri" panose="020F0502020204030204" pitchFamily="34" charset="0"/>
                              <a:ea typeface="Calibri" panose="020F0502020204030204" pitchFamily="34" charset="0"/>
                              <a:cs typeface="Calibri" panose="020F0502020204030204" pitchFamily="34" charset="0"/>
                            </a:rPr>
                            <a:t>thác</a:t>
                          </a:r>
                          <a:endParaRPr lang="en-US" sz="2000" b="1" dirty="0">
                            <a:latin typeface="Calibri" panose="020F0502020204030204" pitchFamily="34" charset="0"/>
                            <a:ea typeface="Calibri" panose="020F0502020204030204" pitchFamily="34" charset="0"/>
                            <a:cs typeface="Calibri" panose="020F0502020204030204" pitchFamily="34" charset="0"/>
                          </a:endParaRP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9D1E1"/>
                        </a:solidFill>
                      </a:tcPr>
                    </a:tc>
                    <a:tc>
                      <a:txBody>
                        <a:bodyPr/>
                        <a:lstStyle/>
                        <a:p>
                          <a:pPr marL="0" indent="0" algn="l">
                            <a:lnSpc>
                              <a:spcPct val="100000"/>
                            </a:lnSpc>
                            <a:buFontTx/>
                            <a:buNone/>
                          </a:pPr>
                          <a:r>
                            <a:rPr lang="en-US" sz="2000" b="1" dirty="0">
                              <a:latin typeface="Calibri" panose="020F0502020204030204" pitchFamily="34" charset="0"/>
                              <a:ea typeface="Calibri" panose="020F0502020204030204" pitchFamily="34" charset="0"/>
                              <a:cs typeface="Calibri" panose="020F0502020204030204" pitchFamily="34" charset="0"/>
                            </a:rPr>
                            <a:t>Thành </a:t>
                          </a:r>
                          <a:r>
                            <a:rPr lang="en-US" sz="2000" b="1" dirty="0" err="1">
                              <a:latin typeface="Calibri" panose="020F0502020204030204" pitchFamily="34" charset="0"/>
                              <a:ea typeface="Calibri" panose="020F0502020204030204" pitchFamily="34" charset="0"/>
                              <a:cs typeface="Calibri" panose="020F0502020204030204" pitchFamily="34" charset="0"/>
                            </a:rPr>
                            <a:t>công</a:t>
                          </a:r>
                          <a:r>
                            <a:rPr lang="en-US" sz="2000" b="1" dirty="0">
                              <a:latin typeface="Calibri" panose="020F0502020204030204" pitchFamily="34" charset="0"/>
                              <a:ea typeface="Calibri" panose="020F0502020204030204" pitchFamily="34" charset="0"/>
                              <a:cs typeface="Calibri" panose="020F0502020204030204" pitchFamily="34" charset="0"/>
                            </a:rPr>
                            <a:t> </a:t>
                          </a:r>
                          <a:r>
                            <a:rPr lang="en-US" sz="2000" b="1" dirty="0" err="1">
                              <a:latin typeface="Calibri" panose="020F0502020204030204" pitchFamily="34" charset="0"/>
                              <a:ea typeface="Calibri" panose="020F0502020204030204" pitchFamily="34" charset="0"/>
                              <a:cs typeface="Calibri" panose="020F0502020204030204" pitchFamily="34" charset="0"/>
                            </a:rPr>
                            <a:t>ổn</a:t>
                          </a:r>
                          <a:r>
                            <a:rPr lang="en-US" sz="2000" b="1" dirty="0">
                              <a:latin typeface="Calibri" panose="020F0502020204030204" pitchFamily="34" charset="0"/>
                              <a:ea typeface="Calibri" panose="020F0502020204030204" pitchFamily="34" charset="0"/>
                              <a:cs typeface="Calibri" panose="020F0502020204030204" pitchFamily="34" charset="0"/>
                            </a:rPr>
                            <a:t> </a:t>
                          </a:r>
                          <a:r>
                            <a:rPr lang="en-US" sz="2000" b="1" dirty="0" err="1">
                              <a:latin typeface="Calibri" panose="020F0502020204030204" pitchFamily="34" charset="0"/>
                              <a:ea typeface="Calibri" panose="020F0502020204030204" pitchFamily="34" charset="0"/>
                              <a:cs typeface="Calibri" panose="020F0502020204030204" pitchFamily="34" charset="0"/>
                            </a:rPr>
                            <a:t>định</a:t>
                          </a:r>
                          <a:endParaRPr lang="en-US" sz="2000" b="1" dirty="0">
                            <a:latin typeface="Calibri" panose="020F0502020204030204" pitchFamily="34" charset="0"/>
                            <a:ea typeface="Calibri" panose="020F0502020204030204" pitchFamily="34" charset="0"/>
                            <a:cs typeface="Calibri" panose="020F0502020204030204" pitchFamily="34" charset="0"/>
                          </a:endParaRP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5C5"/>
                        </a:solidFill>
                      </a:tcPr>
                    </a:tc>
                    <a:tc>
                      <a:txBody>
                        <a:bodyPr/>
                        <a:lstStyle/>
                        <a:p>
                          <a:endParaRPr lang="en-US"/>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66190" t="-388043" r="-317" b="-4348"/>
                          </a:stretch>
                        </a:blipFill>
                      </a:tcPr>
                    </a:tc>
                    <a:extLst>
                      <a:ext uri="{0D108BD9-81ED-4DB2-BD59-A6C34878D82A}">
                        <a16:rowId xmlns:a16="http://schemas.microsoft.com/office/drawing/2014/main" val="3298878502"/>
                      </a:ext>
                    </a:extLst>
                  </a:tr>
                </a:tbl>
              </a:graphicData>
            </a:graphic>
          </p:graphicFrame>
        </mc:Fallback>
      </mc:AlternateContent>
    </p:spTree>
    <p:extLst>
      <p:ext uri="{BB962C8B-B14F-4D97-AF65-F5344CB8AC3E}">
        <p14:creationId xmlns:p14="http://schemas.microsoft.com/office/powerpoint/2010/main" val="38559582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9206-FF13-D845-C869-1EAA9FF16BC6}"/>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6C42BF58-4814-9B69-8204-4709D63EAA3B}"/>
              </a:ext>
            </a:extLst>
          </p:cNvPr>
          <p:cNvGrpSpPr/>
          <p:nvPr/>
        </p:nvGrpSpPr>
        <p:grpSpPr>
          <a:xfrm>
            <a:off x="-19878" y="788664"/>
            <a:ext cx="12191999" cy="366174"/>
            <a:chOff x="1" y="6307500"/>
            <a:chExt cx="12191999" cy="366174"/>
          </a:xfrm>
          <a:effectLst>
            <a:glow rad="63500">
              <a:schemeClr val="accent1">
                <a:satMod val="175000"/>
                <a:alpha val="40000"/>
              </a:schemeClr>
            </a:glow>
          </a:effectLst>
        </p:grpSpPr>
        <p:sp>
          <p:nvSpPr>
            <p:cNvPr id="5" name="AutoShape 37">
              <a:extLst>
                <a:ext uri="{FF2B5EF4-FFF2-40B4-BE49-F238E27FC236}">
                  <a16:creationId xmlns:a16="http://schemas.microsoft.com/office/drawing/2014/main" id="{CDB95AC4-829A-BC19-1A26-00694FD7863F}"/>
                </a:ext>
              </a:extLst>
            </p:cNvPr>
            <p:cNvSpPr/>
            <p:nvPr/>
          </p:nvSpPr>
          <p:spPr>
            <a:xfrm>
              <a:off x="1" y="6646250"/>
              <a:ext cx="9413932"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6" name="AutoShape 38">
              <a:extLst>
                <a:ext uri="{FF2B5EF4-FFF2-40B4-BE49-F238E27FC236}">
                  <a16:creationId xmlns:a16="http://schemas.microsoft.com/office/drawing/2014/main" id="{A6EED8B1-6D66-DE6E-69E6-125E73B969D8}"/>
                </a:ext>
              </a:extLst>
            </p:cNvPr>
            <p:cNvSpPr/>
            <p:nvPr/>
          </p:nvSpPr>
          <p:spPr>
            <a:xfrm rot="18000001">
              <a:off x="9315823" y="6490587"/>
              <a:ext cx="366174"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7" name="AutoShape 40">
              <a:extLst>
                <a:ext uri="{FF2B5EF4-FFF2-40B4-BE49-F238E27FC236}">
                  <a16:creationId xmlns:a16="http://schemas.microsoft.com/office/drawing/2014/main" id="{1CC082C0-DB53-5BDB-4E0F-F427C5F4EB86}"/>
                </a:ext>
              </a:extLst>
            </p:cNvPr>
            <p:cNvSpPr/>
            <p:nvPr/>
          </p:nvSpPr>
          <p:spPr>
            <a:xfrm>
              <a:off x="9584694" y="6332029"/>
              <a:ext cx="2607306" cy="0"/>
            </a:xfrm>
            <a:prstGeom prst="line">
              <a:avLst/>
            </a:prstGeom>
            <a:ln w="19050" cap="flat">
              <a:solidFill>
                <a:srgbClr val="6DB1CC">
                  <a:alpha val="80000"/>
                </a:srgbClr>
              </a:solidFill>
              <a:prstDash val="solid"/>
              <a:headEnd type="none" w="sm" len="sm"/>
              <a:tailEnd type="none" w="sm" len="sm"/>
            </a:ln>
          </p:spPr>
          <p:txBody>
            <a:bodyPr/>
            <a:lstStyle/>
            <a:p>
              <a:endParaRPr lang="en-US"/>
            </a:p>
          </p:txBody>
        </p:sp>
      </p:grpSp>
      <p:pic>
        <p:nvPicPr>
          <p:cNvPr id="9" name="Picture 8" descr="Ý nghĩa logo Đại học Công nghệ Tp.HCM (HUTECH)">
            <a:extLst>
              <a:ext uri="{FF2B5EF4-FFF2-40B4-BE49-F238E27FC236}">
                <a16:creationId xmlns:a16="http://schemas.microsoft.com/office/drawing/2014/main" id="{56977DF6-17B8-1D84-96A7-E0807DABEB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8096" y="159827"/>
            <a:ext cx="1817203" cy="582783"/>
          </a:xfrm>
          <a:prstGeom prst="rect">
            <a:avLst/>
          </a:prstGeom>
          <a:noFill/>
          <a:extLst>
            <a:ext uri="{909E8E84-426E-40DD-AFC4-6F175D3DCCD1}">
              <a14:hiddenFill xmlns:a14="http://schemas.microsoft.com/office/drawing/2010/main">
                <a:solidFill>
                  <a:srgbClr val="FFFFFF"/>
                </a:solidFill>
              </a14:hiddenFill>
            </a:ext>
          </a:extLst>
        </p:spPr>
      </p:pic>
      <p:grpSp>
        <p:nvGrpSpPr>
          <p:cNvPr id="37" name="Group 36">
            <a:extLst>
              <a:ext uri="{FF2B5EF4-FFF2-40B4-BE49-F238E27FC236}">
                <a16:creationId xmlns:a16="http://schemas.microsoft.com/office/drawing/2014/main" id="{471FF96A-C874-6CDC-F334-A308EA279CA9}"/>
              </a:ext>
            </a:extLst>
          </p:cNvPr>
          <p:cNvGrpSpPr/>
          <p:nvPr/>
        </p:nvGrpSpPr>
        <p:grpSpPr>
          <a:xfrm>
            <a:off x="467814" y="2457172"/>
            <a:ext cx="11256371" cy="2265240"/>
            <a:chOff x="304581" y="2249678"/>
            <a:chExt cx="11256371" cy="2265240"/>
          </a:xfrm>
        </p:grpSpPr>
        <p:sp>
          <p:nvSpPr>
            <p:cNvPr id="3" name="Rectangle 2">
              <a:extLst>
                <a:ext uri="{FF2B5EF4-FFF2-40B4-BE49-F238E27FC236}">
                  <a16:creationId xmlns:a16="http://schemas.microsoft.com/office/drawing/2014/main" id="{FB91C540-27D2-D1D0-20D4-D5423FDE317E}"/>
                </a:ext>
              </a:extLst>
            </p:cNvPr>
            <p:cNvSpPr/>
            <p:nvPr/>
          </p:nvSpPr>
          <p:spPr>
            <a:xfrm>
              <a:off x="304581" y="2249678"/>
              <a:ext cx="3585571" cy="593532"/>
            </a:xfrm>
            <a:prstGeom prst="rect">
              <a:avLst/>
            </a:prstGeom>
            <a:solidFill>
              <a:srgbClr val="B2D6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191919"/>
                  </a:solidFill>
                  <a:latin typeface="Calibri" panose="020F0502020204030204" pitchFamily="34" charset="0"/>
                  <a:ea typeface="Calibri" panose="020F0502020204030204" pitchFamily="34" charset="0"/>
                  <a:cs typeface="Calibri" panose="020F0502020204030204" pitchFamily="34" charset="0"/>
                </a:rPr>
                <a:t>ASLR (PHÒNG THỦ)</a:t>
              </a:r>
            </a:p>
          </p:txBody>
        </p:sp>
        <p:sp>
          <p:nvSpPr>
            <p:cNvPr id="10" name="Rectangle 9">
              <a:extLst>
                <a:ext uri="{FF2B5EF4-FFF2-40B4-BE49-F238E27FC236}">
                  <a16:creationId xmlns:a16="http://schemas.microsoft.com/office/drawing/2014/main" id="{916AB345-3AF8-CFD8-280E-8FFB1E3CB8EB}"/>
                </a:ext>
              </a:extLst>
            </p:cNvPr>
            <p:cNvSpPr/>
            <p:nvPr/>
          </p:nvSpPr>
          <p:spPr>
            <a:xfrm>
              <a:off x="304581" y="2932661"/>
              <a:ext cx="3585571" cy="1582257"/>
            </a:xfrm>
            <a:prstGeom prst="rect">
              <a:avLst/>
            </a:prstGeom>
            <a:solidFill>
              <a:srgbClr val="B2D6E4">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rPr>
                <a:t>Random </a:t>
              </a:r>
              <a:r>
                <a:rPr lang="en-US" sz="2000" dirty="0" err="1">
                  <a:solidFill>
                    <a:srgbClr val="191919"/>
                  </a:solidFill>
                  <a:latin typeface="Calibri" panose="020F0502020204030204" pitchFamily="34" charset="0"/>
                  <a:ea typeface="Calibri" panose="020F0502020204030204" pitchFamily="34" charset="0"/>
                  <a:cs typeface="Calibri" panose="020F0502020204030204" pitchFamily="34" charset="0"/>
                </a:rPr>
                <a:t>địa</a:t>
              </a:r>
              <a:r>
                <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rPr>
                <a:t> </a:t>
              </a:r>
              <a:r>
                <a:rPr lang="en-US" sz="2000" dirty="0" err="1">
                  <a:solidFill>
                    <a:srgbClr val="191919"/>
                  </a:solidFill>
                  <a:latin typeface="Calibri" panose="020F0502020204030204" pitchFamily="34" charset="0"/>
                  <a:ea typeface="Calibri" panose="020F0502020204030204" pitchFamily="34" charset="0"/>
                  <a:cs typeface="Calibri" panose="020F0502020204030204" pitchFamily="34" charset="0"/>
                </a:rPr>
                <a:t>chỉ</a:t>
              </a:r>
              <a:endPar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000" dirty="0" err="1">
                  <a:solidFill>
                    <a:srgbClr val="191919"/>
                  </a:solidFill>
                  <a:latin typeface="Calibri" panose="020F0502020204030204" pitchFamily="34" charset="0"/>
                  <a:ea typeface="Calibri" panose="020F0502020204030204" pitchFamily="34" charset="0"/>
                  <a:cs typeface="Calibri" panose="020F0502020204030204" pitchFamily="34" charset="0"/>
                </a:rPr>
                <a:t>Ngăn</a:t>
              </a:r>
              <a:r>
                <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rPr>
                <a:t> attacker </a:t>
              </a:r>
              <a:r>
                <a:rPr lang="en-US" sz="2000" dirty="0" err="1">
                  <a:solidFill>
                    <a:srgbClr val="191919"/>
                  </a:solidFill>
                  <a:latin typeface="Calibri" panose="020F0502020204030204" pitchFamily="34" charset="0"/>
                  <a:ea typeface="Calibri" panose="020F0502020204030204" pitchFamily="34" charset="0"/>
                  <a:cs typeface="Calibri" panose="020F0502020204030204" pitchFamily="34" charset="0"/>
                </a:rPr>
                <a:t>đoán</a:t>
              </a:r>
              <a:r>
                <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rPr>
                <a:t> </a:t>
              </a:r>
              <a:r>
                <a:rPr lang="en-US" sz="2000" dirty="0" err="1">
                  <a:solidFill>
                    <a:srgbClr val="191919"/>
                  </a:solidFill>
                  <a:latin typeface="Calibri" panose="020F0502020204030204" pitchFamily="34" charset="0"/>
                  <a:ea typeface="Calibri" panose="020F0502020204030204" pitchFamily="34" charset="0"/>
                  <a:cs typeface="Calibri" panose="020F0502020204030204" pitchFamily="34" charset="0"/>
                </a:rPr>
                <a:t>địa</a:t>
              </a:r>
              <a:r>
                <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rPr>
                <a:t> </a:t>
              </a:r>
              <a:r>
                <a:rPr lang="en-US" sz="2000" dirty="0" err="1">
                  <a:solidFill>
                    <a:srgbClr val="191919"/>
                  </a:solidFill>
                  <a:latin typeface="Calibri" panose="020F0502020204030204" pitchFamily="34" charset="0"/>
                  <a:ea typeface="Calibri" panose="020F0502020204030204" pitchFamily="34" charset="0"/>
                  <a:cs typeface="Calibri" panose="020F0502020204030204" pitchFamily="34" charset="0"/>
                </a:rPr>
                <a:t>chỉ</a:t>
              </a:r>
              <a:endPar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AE688E59-79E9-82DD-C39B-8BAB39B79270}"/>
                </a:ext>
              </a:extLst>
            </p:cNvPr>
            <p:cNvSpPr/>
            <p:nvPr/>
          </p:nvSpPr>
          <p:spPr>
            <a:xfrm>
              <a:off x="4139981" y="2249678"/>
              <a:ext cx="3585571" cy="593532"/>
            </a:xfrm>
            <a:prstGeom prst="rect">
              <a:avLst/>
            </a:prstGeom>
            <a:solidFill>
              <a:srgbClr val="93C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191919"/>
                  </a:solidFill>
                  <a:latin typeface="Calibri" panose="020F0502020204030204" pitchFamily="34" charset="0"/>
                  <a:ea typeface="Calibri" panose="020F0502020204030204" pitchFamily="34" charset="0"/>
                  <a:cs typeface="Calibri" panose="020F0502020204030204" pitchFamily="34" charset="0"/>
                </a:rPr>
                <a:t>HẠN CHẾ</a:t>
              </a:r>
            </a:p>
          </p:txBody>
        </p:sp>
        <p:sp>
          <p:nvSpPr>
            <p:cNvPr id="33" name="Rectangle 32">
              <a:extLst>
                <a:ext uri="{FF2B5EF4-FFF2-40B4-BE49-F238E27FC236}">
                  <a16:creationId xmlns:a16="http://schemas.microsoft.com/office/drawing/2014/main" id="{0D2B69A2-C38D-095B-11C4-4B8DE7D122EB}"/>
                </a:ext>
              </a:extLst>
            </p:cNvPr>
            <p:cNvSpPr/>
            <p:nvPr/>
          </p:nvSpPr>
          <p:spPr>
            <a:xfrm>
              <a:off x="4139981" y="2932661"/>
              <a:ext cx="3585571" cy="1582257"/>
            </a:xfrm>
            <a:prstGeom prst="rect">
              <a:avLst/>
            </a:prstGeom>
            <a:solidFill>
              <a:srgbClr val="93C5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sz="2000" dirty="0" err="1">
                  <a:solidFill>
                    <a:srgbClr val="191919"/>
                  </a:solidFill>
                  <a:latin typeface="Calibri" panose="020F0502020204030204" pitchFamily="34" charset="0"/>
                  <a:ea typeface="Calibri" panose="020F0502020204030204" pitchFamily="34" charset="0"/>
                  <a:cs typeface="Calibri" panose="020F0502020204030204" pitchFamily="34" charset="0"/>
                </a:rPr>
                <a:t>Lộ</a:t>
              </a:r>
              <a:r>
                <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rPr>
                <a:t> </a:t>
              </a:r>
              <a:r>
                <a:rPr lang="en-US" sz="2000" dirty="0" err="1">
                  <a:solidFill>
                    <a:srgbClr val="191919"/>
                  </a:solidFill>
                  <a:latin typeface="Calibri" panose="020F0502020204030204" pitchFamily="34" charset="0"/>
                  <a:ea typeface="Calibri" panose="020F0502020204030204" pitchFamily="34" charset="0"/>
                  <a:cs typeface="Calibri" panose="020F0502020204030204" pitchFamily="34" charset="0"/>
                </a:rPr>
                <a:t>địa</a:t>
              </a:r>
              <a:r>
                <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rPr>
                <a:t> </a:t>
              </a:r>
              <a:r>
                <a:rPr lang="en-US" sz="2000" dirty="0" err="1">
                  <a:solidFill>
                    <a:srgbClr val="191919"/>
                  </a:solidFill>
                  <a:latin typeface="Calibri" panose="020F0502020204030204" pitchFamily="34" charset="0"/>
                  <a:ea typeface="Calibri" panose="020F0502020204030204" pitchFamily="34" charset="0"/>
                  <a:cs typeface="Calibri" panose="020F0502020204030204" pitchFamily="34" charset="0"/>
                </a:rPr>
                <a:t>chỉ</a:t>
              </a:r>
              <a:r>
                <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rPr>
                <a:t> runtime</a:t>
              </a:r>
            </a:p>
            <a:p>
              <a:pPr marL="342900" indent="-342900">
                <a:buFont typeface="Arial" panose="020B0604020202020204" pitchFamily="34" charset="0"/>
                <a:buChar char="•"/>
              </a:pPr>
              <a:r>
                <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rPr>
                <a:t>Làm </a:t>
              </a:r>
              <a:r>
                <a:rPr lang="en-US" sz="2000" dirty="0" err="1">
                  <a:solidFill>
                    <a:srgbClr val="191919"/>
                  </a:solidFill>
                  <a:latin typeface="Calibri" panose="020F0502020204030204" pitchFamily="34" charset="0"/>
                  <a:ea typeface="Calibri" panose="020F0502020204030204" pitchFamily="34" charset="0"/>
                  <a:cs typeface="Calibri" panose="020F0502020204030204" pitchFamily="34" charset="0"/>
                </a:rPr>
                <a:t>mất</a:t>
              </a:r>
              <a:r>
                <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rPr>
                <a:t> </a:t>
              </a:r>
              <a:r>
                <a:rPr lang="en-US" sz="2000" dirty="0" err="1">
                  <a:solidFill>
                    <a:srgbClr val="191919"/>
                  </a:solidFill>
                  <a:latin typeface="Calibri" panose="020F0502020204030204" pitchFamily="34" charset="0"/>
                  <a:ea typeface="Calibri" panose="020F0502020204030204" pitchFamily="34" charset="0"/>
                  <a:cs typeface="Calibri" panose="020F0502020204030204" pitchFamily="34" charset="0"/>
                </a:rPr>
                <a:t>hiệu</a:t>
              </a:r>
              <a:r>
                <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rPr>
                <a:t> </a:t>
              </a:r>
              <a:r>
                <a:rPr lang="en-US" sz="2000" dirty="0" err="1">
                  <a:solidFill>
                    <a:srgbClr val="191919"/>
                  </a:solidFill>
                  <a:latin typeface="Calibri" panose="020F0502020204030204" pitchFamily="34" charset="0"/>
                  <a:ea typeface="Calibri" panose="020F0502020204030204" pitchFamily="34" charset="0"/>
                  <a:cs typeface="Calibri" panose="020F0502020204030204" pitchFamily="34" charset="0"/>
                </a:rPr>
                <a:t>quả</a:t>
              </a:r>
              <a:r>
                <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rPr>
                <a:t> ASLR</a:t>
              </a:r>
            </a:p>
          </p:txBody>
        </p:sp>
        <p:sp>
          <p:nvSpPr>
            <p:cNvPr id="34" name="Rectangle 33">
              <a:extLst>
                <a:ext uri="{FF2B5EF4-FFF2-40B4-BE49-F238E27FC236}">
                  <a16:creationId xmlns:a16="http://schemas.microsoft.com/office/drawing/2014/main" id="{4DD2F201-A2FA-EF45-FD94-5E92BFB79503}"/>
                </a:ext>
              </a:extLst>
            </p:cNvPr>
            <p:cNvSpPr/>
            <p:nvPr/>
          </p:nvSpPr>
          <p:spPr>
            <a:xfrm>
              <a:off x="7975381" y="2249678"/>
              <a:ext cx="3585571" cy="593532"/>
            </a:xfrm>
            <a:prstGeom prst="rect">
              <a:avLst/>
            </a:prstGeom>
            <a:solidFill>
              <a:srgbClr val="6DB1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191919"/>
                  </a:solidFill>
                  <a:latin typeface="Calibri" panose="020F0502020204030204" pitchFamily="34" charset="0"/>
                  <a:ea typeface="Calibri" panose="020F0502020204030204" pitchFamily="34" charset="0"/>
                  <a:cs typeface="Calibri" panose="020F0502020204030204" pitchFamily="34" charset="0"/>
                </a:rPr>
                <a:t>BYPASS (ROP/ ret2libc)</a:t>
              </a:r>
            </a:p>
          </p:txBody>
        </p:sp>
        <p:sp>
          <p:nvSpPr>
            <p:cNvPr id="35" name="Rectangle 34">
              <a:extLst>
                <a:ext uri="{FF2B5EF4-FFF2-40B4-BE49-F238E27FC236}">
                  <a16:creationId xmlns:a16="http://schemas.microsoft.com/office/drawing/2014/main" id="{DCC71EA5-90AB-4E8F-5AD1-EFE3E19FE527}"/>
                </a:ext>
              </a:extLst>
            </p:cNvPr>
            <p:cNvSpPr/>
            <p:nvPr/>
          </p:nvSpPr>
          <p:spPr>
            <a:xfrm>
              <a:off x="7975381" y="2932661"/>
              <a:ext cx="3585571" cy="1582257"/>
            </a:xfrm>
            <a:prstGeom prst="rect">
              <a:avLst/>
            </a:prstGeom>
            <a:solidFill>
              <a:srgbClr val="6DB1CC">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sz="2000" dirty="0" err="1">
                  <a:solidFill>
                    <a:srgbClr val="191919"/>
                  </a:solidFill>
                  <a:latin typeface="Calibri" panose="020F0502020204030204" pitchFamily="34" charset="0"/>
                  <a:ea typeface="Calibri" panose="020F0502020204030204" pitchFamily="34" charset="0"/>
                  <a:cs typeface="Calibri" panose="020F0502020204030204" pitchFamily="34" charset="0"/>
                </a:rPr>
                <a:t>Tận</a:t>
              </a:r>
              <a:r>
                <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rPr>
                <a:t> </a:t>
              </a:r>
              <a:r>
                <a:rPr lang="en-US" sz="2000" dirty="0" err="1">
                  <a:solidFill>
                    <a:srgbClr val="191919"/>
                  </a:solidFill>
                  <a:latin typeface="Calibri" panose="020F0502020204030204" pitchFamily="34" charset="0"/>
                  <a:ea typeface="Calibri" panose="020F0502020204030204" pitchFamily="34" charset="0"/>
                  <a:cs typeface="Calibri" panose="020F0502020204030204" pitchFamily="34" charset="0"/>
                </a:rPr>
                <a:t>dụng</a:t>
              </a:r>
              <a:r>
                <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rPr>
                <a:t> code </a:t>
              </a:r>
              <a:r>
                <a:rPr lang="en-US" sz="2000" dirty="0" err="1">
                  <a:solidFill>
                    <a:srgbClr val="191919"/>
                  </a:solidFill>
                  <a:latin typeface="Calibri" panose="020F0502020204030204" pitchFamily="34" charset="0"/>
                  <a:ea typeface="Calibri" panose="020F0502020204030204" pitchFamily="34" charset="0"/>
                  <a:cs typeface="Calibri" panose="020F0502020204030204" pitchFamily="34" charset="0"/>
                </a:rPr>
                <a:t>có</a:t>
              </a:r>
              <a:r>
                <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rPr>
                <a:t> </a:t>
              </a:r>
              <a:r>
                <a:rPr lang="en-US" sz="2000" dirty="0" err="1">
                  <a:solidFill>
                    <a:srgbClr val="191919"/>
                  </a:solidFill>
                  <a:latin typeface="Calibri" panose="020F0502020204030204" pitchFamily="34" charset="0"/>
                  <a:ea typeface="Calibri" panose="020F0502020204030204" pitchFamily="34" charset="0"/>
                  <a:cs typeface="Calibri" panose="020F0502020204030204" pitchFamily="34" charset="0"/>
                </a:rPr>
                <a:t>sẵn</a:t>
              </a:r>
              <a:r>
                <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rPr>
                <a:t> </a:t>
              </a:r>
            </a:p>
            <a:p>
              <a:pPr marL="342900" indent="-342900">
                <a:buFont typeface="Arial" panose="020B0604020202020204" pitchFamily="34" charset="0"/>
                <a:buChar char="•"/>
              </a:pPr>
              <a:r>
                <a:rPr lang="en-US" sz="2000" dirty="0" err="1">
                  <a:solidFill>
                    <a:srgbClr val="191919"/>
                  </a:solidFill>
                  <a:latin typeface="Calibri" panose="020F0502020204030204" pitchFamily="34" charset="0"/>
                  <a:ea typeface="Calibri" panose="020F0502020204030204" pitchFamily="34" charset="0"/>
                  <a:cs typeface="Calibri" panose="020F0502020204030204" pitchFamily="34" charset="0"/>
                </a:rPr>
                <a:t>Kết</a:t>
              </a:r>
              <a:r>
                <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rPr>
                <a:t> </a:t>
              </a:r>
              <a:r>
                <a:rPr lang="en-US" sz="2000" dirty="0" err="1">
                  <a:solidFill>
                    <a:srgbClr val="191919"/>
                  </a:solidFill>
                  <a:latin typeface="Calibri" panose="020F0502020204030204" pitchFamily="34" charset="0"/>
                  <a:ea typeface="Calibri" panose="020F0502020204030204" pitchFamily="34" charset="0"/>
                  <a:cs typeface="Calibri" panose="020F0502020204030204" pitchFamily="34" charset="0"/>
                </a:rPr>
                <a:t>hợp</a:t>
              </a:r>
              <a:r>
                <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rPr>
                <a:t> </a:t>
              </a:r>
              <a:r>
                <a:rPr lang="en-US" sz="2000" dirty="0" err="1">
                  <a:solidFill>
                    <a:srgbClr val="191919"/>
                  </a:solidFill>
                  <a:latin typeface="Calibri" panose="020F0502020204030204" pitchFamily="34" charset="0"/>
                  <a:ea typeface="Calibri" panose="020F0502020204030204" pitchFamily="34" charset="0"/>
                  <a:cs typeface="Calibri" panose="020F0502020204030204" pitchFamily="34" charset="0"/>
                </a:rPr>
                <a:t>với</a:t>
              </a:r>
              <a:r>
                <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rPr>
                <a:t> leak </a:t>
              </a:r>
              <a:r>
                <a:rPr lang="en-US" sz="2000" dirty="0" err="1">
                  <a:solidFill>
                    <a:srgbClr val="191919"/>
                  </a:solidFill>
                  <a:latin typeface="Calibri" panose="020F0502020204030204" pitchFamily="34" charset="0"/>
                  <a:ea typeface="Calibri" panose="020F0502020204030204" pitchFamily="34" charset="0"/>
                  <a:cs typeface="Calibri" panose="020F0502020204030204" pitchFamily="34" charset="0"/>
                </a:rPr>
                <a:t>để</a:t>
              </a:r>
              <a:r>
                <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rPr>
                <a:t> </a:t>
              </a:r>
              <a:r>
                <a:rPr lang="en-US" sz="2000" dirty="0" err="1">
                  <a:solidFill>
                    <a:srgbClr val="191919"/>
                  </a:solidFill>
                  <a:latin typeface="Calibri" panose="020F0502020204030204" pitchFamily="34" charset="0"/>
                  <a:ea typeface="Calibri" panose="020F0502020204030204" pitchFamily="34" charset="0"/>
                  <a:cs typeface="Calibri" panose="020F0502020204030204" pitchFamily="34" charset="0"/>
                </a:rPr>
                <a:t>khai</a:t>
              </a:r>
              <a:r>
                <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rPr>
                <a:t> </a:t>
              </a:r>
              <a:r>
                <a:rPr lang="en-US" sz="2000" dirty="0" err="1">
                  <a:solidFill>
                    <a:srgbClr val="191919"/>
                  </a:solidFill>
                  <a:latin typeface="Calibri" panose="020F0502020204030204" pitchFamily="34" charset="0"/>
                  <a:ea typeface="Calibri" panose="020F0502020204030204" pitchFamily="34" charset="0"/>
                  <a:cs typeface="Calibri" panose="020F0502020204030204" pitchFamily="34" charset="0"/>
                </a:rPr>
                <a:t>thác</a:t>
              </a:r>
              <a:endPar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endParaRPr>
            </a:p>
          </p:txBody>
        </p:sp>
      </p:grpSp>
      <p:sp>
        <p:nvSpPr>
          <p:cNvPr id="36" name="Rectangle 35">
            <a:extLst>
              <a:ext uri="{FF2B5EF4-FFF2-40B4-BE49-F238E27FC236}">
                <a16:creationId xmlns:a16="http://schemas.microsoft.com/office/drawing/2014/main" id="{6AA09A5C-7203-AC45-02BB-E71AB7A1D4D4}"/>
              </a:ext>
            </a:extLst>
          </p:cNvPr>
          <p:cNvSpPr/>
          <p:nvPr/>
        </p:nvSpPr>
        <p:spPr>
          <a:xfrm>
            <a:off x="647481" y="1197819"/>
            <a:ext cx="8142621" cy="5117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2800" dirty="0"/>
              <a:t>HẠN CHẾ CỦA ASLR &amp; BYPASS</a:t>
            </a:r>
            <a:endParaRPr lang="vi-VN" sz="2600" dirty="0">
              <a:solidFill>
                <a:schemeClr val="bg1"/>
              </a:solidFill>
              <a:latin typeface="Segoe UI" panose="020B0502040204020203" pitchFamily="34" charset="0"/>
              <a:cs typeface="Segoe UI" panose="020B0502040204020203" pitchFamily="34" charset="0"/>
            </a:endParaRPr>
          </a:p>
        </p:txBody>
      </p:sp>
      <p:sp>
        <p:nvSpPr>
          <p:cNvPr id="38" name="Rectangle 37">
            <a:extLst>
              <a:ext uri="{FF2B5EF4-FFF2-40B4-BE49-F238E27FC236}">
                <a16:creationId xmlns:a16="http://schemas.microsoft.com/office/drawing/2014/main" id="{C31FD61B-2658-D6E2-4179-D503D77F07D8}"/>
              </a:ext>
            </a:extLst>
          </p:cNvPr>
          <p:cNvSpPr/>
          <p:nvPr/>
        </p:nvSpPr>
        <p:spPr>
          <a:xfrm>
            <a:off x="467814" y="5019854"/>
            <a:ext cx="11256371" cy="7107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ASLR </a:t>
            </a:r>
            <a:r>
              <a:rPr lang="en-US" sz="2400" b="1" dirty="0" err="1">
                <a:solidFill>
                  <a:schemeClr val="bg1"/>
                </a:solidFill>
                <a:latin typeface="Calibri" panose="020F0502020204030204" pitchFamily="34" charset="0"/>
                <a:ea typeface="Calibri" panose="020F0502020204030204" pitchFamily="34" charset="0"/>
                <a:cs typeface="Calibri" panose="020F0502020204030204" pitchFamily="34" charset="0"/>
              </a:rPr>
              <a:t>không</a:t>
            </a: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400" b="1" dirty="0" err="1">
                <a:solidFill>
                  <a:schemeClr val="bg1"/>
                </a:solidFill>
                <a:latin typeface="Calibri" panose="020F0502020204030204" pitchFamily="34" charset="0"/>
                <a:ea typeface="Calibri" panose="020F0502020204030204" pitchFamily="34" charset="0"/>
                <a:cs typeface="Calibri" panose="020F0502020204030204" pitchFamily="34" charset="0"/>
              </a:rPr>
              <a:t>đủ</a:t>
            </a: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 → </a:t>
            </a:r>
            <a:r>
              <a:rPr lang="en-US" sz="2400" b="1" dirty="0" err="1">
                <a:solidFill>
                  <a:schemeClr val="bg1"/>
                </a:solidFill>
                <a:latin typeface="Calibri" panose="020F0502020204030204" pitchFamily="34" charset="0"/>
                <a:ea typeface="Calibri" panose="020F0502020204030204" pitchFamily="34" charset="0"/>
                <a:cs typeface="Calibri" panose="020F0502020204030204" pitchFamily="34" charset="0"/>
              </a:rPr>
              <a:t>cần</a:t>
            </a: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 defense-in-depth</a:t>
            </a:r>
          </a:p>
        </p:txBody>
      </p:sp>
      <p:sp>
        <p:nvSpPr>
          <p:cNvPr id="39" name="Rectangle 38">
            <a:extLst>
              <a:ext uri="{FF2B5EF4-FFF2-40B4-BE49-F238E27FC236}">
                <a16:creationId xmlns:a16="http://schemas.microsoft.com/office/drawing/2014/main" id="{BF788B86-39CB-9F56-9E5E-5AF8B35AFFDF}"/>
              </a:ext>
            </a:extLst>
          </p:cNvPr>
          <p:cNvSpPr/>
          <p:nvPr/>
        </p:nvSpPr>
        <p:spPr>
          <a:xfrm>
            <a:off x="647481" y="463478"/>
            <a:ext cx="8142621" cy="593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3400" b="1" dirty="0">
                <a:solidFill>
                  <a:srgbClr val="6DB1CC"/>
                </a:solidFill>
                <a:latin typeface="Segoe UI" panose="020B0502040204020203" pitchFamily="34" charset="0"/>
                <a:cs typeface="Segoe UI" panose="020B0502040204020203" pitchFamily="34" charset="0"/>
              </a:rPr>
              <a:t>CƠ SỞ LÝ THUYẾT</a:t>
            </a:r>
          </a:p>
        </p:txBody>
      </p:sp>
    </p:spTree>
    <p:extLst>
      <p:ext uri="{BB962C8B-B14F-4D97-AF65-F5344CB8AC3E}">
        <p14:creationId xmlns:p14="http://schemas.microsoft.com/office/powerpoint/2010/main" val="3494017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C7528-EE42-5400-C6EE-978B2635F50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D0FA643-9855-CF17-B8BA-3379A53153C1}"/>
              </a:ext>
            </a:extLst>
          </p:cNvPr>
          <p:cNvSpPr/>
          <p:nvPr/>
        </p:nvSpPr>
        <p:spPr>
          <a:xfrm>
            <a:off x="684582" y="212956"/>
            <a:ext cx="4217618" cy="14630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0"/>
              </a:spcBef>
            </a:pPr>
            <a:r>
              <a:rPr lang="en-US" sz="3200" b="1" dirty="0">
                <a:solidFill>
                  <a:srgbClr val="6DB1CC"/>
                </a:solidFill>
                <a:latin typeface="Segoe UI" panose="020B0502040204020203" pitchFamily="34" charset="0"/>
                <a:cs typeface="Segoe UI" panose="020B0502040204020203" pitchFamily="34" charset="0"/>
              </a:rPr>
              <a:t>KIẾN TRÚC </a:t>
            </a:r>
          </a:p>
          <a:p>
            <a:pPr>
              <a:spcBef>
                <a:spcPts val="600"/>
              </a:spcBef>
            </a:pPr>
            <a:r>
              <a:rPr lang="en-US" sz="3200" b="1" dirty="0">
                <a:solidFill>
                  <a:srgbClr val="6DB1CC"/>
                </a:solidFill>
                <a:latin typeface="Segoe UI" panose="020B0502040204020203" pitchFamily="34" charset="0"/>
                <a:cs typeface="Segoe UI" panose="020B0502040204020203" pitchFamily="34" charset="0"/>
              </a:rPr>
              <a:t>HỆ THỐNG</a:t>
            </a:r>
          </a:p>
        </p:txBody>
      </p:sp>
      <p:pic>
        <p:nvPicPr>
          <p:cNvPr id="10" name="Picture 9" descr="Ý nghĩa logo Đại học Công nghệ Tp.HCM (HUTECH)">
            <a:extLst>
              <a:ext uri="{FF2B5EF4-FFF2-40B4-BE49-F238E27FC236}">
                <a16:creationId xmlns:a16="http://schemas.microsoft.com/office/drawing/2014/main" id="{DE010214-4DB1-1D66-8B6A-194F8434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8096" y="159827"/>
            <a:ext cx="1817203" cy="582783"/>
          </a:xfrm>
          <a:prstGeom prst="rect">
            <a:avLst/>
          </a:prstGeom>
          <a:noFill/>
          <a:extLst>
            <a:ext uri="{909E8E84-426E-40DD-AFC4-6F175D3DCCD1}">
              <a14:hiddenFill xmlns:a14="http://schemas.microsoft.com/office/drawing/2010/main">
                <a:solidFill>
                  <a:srgbClr val="FFFFFF"/>
                </a:solidFill>
              </a14:hiddenFill>
            </a:ext>
          </a:extLst>
        </p:spPr>
      </p:pic>
      <p:grpSp>
        <p:nvGrpSpPr>
          <p:cNvPr id="51" name="Group 50">
            <a:extLst>
              <a:ext uri="{FF2B5EF4-FFF2-40B4-BE49-F238E27FC236}">
                <a16:creationId xmlns:a16="http://schemas.microsoft.com/office/drawing/2014/main" id="{90BA8778-6EED-51E7-186B-B53CAE708F47}"/>
              </a:ext>
            </a:extLst>
          </p:cNvPr>
          <p:cNvGrpSpPr/>
          <p:nvPr/>
        </p:nvGrpSpPr>
        <p:grpSpPr>
          <a:xfrm>
            <a:off x="5016451" y="284228"/>
            <a:ext cx="6490967" cy="6289543"/>
            <a:chOff x="5491942" y="339326"/>
            <a:chExt cx="6490967" cy="6289543"/>
          </a:xfrm>
        </p:grpSpPr>
        <p:sp>
          <p:nvSpPr>
            <p:cNvPr id="12" name="Rectangle 11">
              <a:extLst>
                <a:ext uri="{FF2B5EF4-FFF2-40B4-BE49-F238E27FC236}">
                  <a16:creationId xmlns:a16="http://schemas.microsoft.com/office/drawing/2014/main" id="{6B247443-4464-819E-7898-2743A9646A98}"/>
                </a:ext>
              </a:extLst>
            </p:cNvPr>
            <p:cNvSpPr/>
            <p:nvPr/>
          </p:nvSpPr>
          <p:spPr>
            <a:xfrm>
              <a:off x="5491942" y="509847"/>
              <a:ext cx="1632064" cy="60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latin typeface="Arial" panose="020B0604020202020204" pitchFamily="34" charset="0"/>
                  <a:cs typeface="Arial" panose="020B0604020202020204" pitchFamily="34" charset="0"/>
                </a:rPr>
                <a:t>demo_aslr</a:t>
              </a:r>
              <a:r>
                <a:rPr lang="en-US" sz="1200" dirty="0">
                  <a:latin typeface="Arial" panose="020B0604020202020204" pitchFamily="34" charset="0"/>
                  <a:cs typeface="Arial" panose="020B0604020202020204" pitchFamily="34" charset="0"/>
                </a:rPr>
                <a:t> (vulnerable program)</a:t>
              </a:r>
            </a:p>
          </p:txBody>
        </p:sp>
        <p:sp>
          <p:nvSpPr>
            <p:cNvPr id="14" name="Rectangle 13">
              <a:extLst>
                <a:ext uri="{FF2B5EF4-FFF2-40B4-BE49-F238E27FC236}">
                  <a16:creationId xmlns:a16="http://schemas.microsoft.com/office/drawing/2014/main" id="{EAFB74D3-342D-6956-85A4-53BF95E03F72}"/>
                </a:ext>
              </a:extLst>
            </p:cNvPr>
            <p:cNvSpPr/>
            <p:nvPr/>
          </p:nvSpPr>
          <p:spPr>
            <a:xfrm>
              <a:off x="7657406" y="339326"/>
              <a:ext cx="1632064" cy="78012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Binaries (</a:t>
              </a:r>
              <a:r>
                <a:rPr lang="en-US" sz="1200" dirty="0" err="1">
                  <a:latin typeface="Arial" panose="020B0604020202020204" pitchFamily="34" charset="0"/>
                  <a:cs typeface="Arial" panose="020B0604020202020204" pitchFamily="34" charset="0"/>
                </a:rPr>
                <a:t>aslr_demo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aslr_demo_pie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aslr_demo_nx</a:t>
              </a:r>
              <a:r>
                <a:rPr lang="en-US" sz="1200" dirty="0">
                  <a:latin typeface="Arial" panose="020B0604020202020204" pitchFamily="34" charset="0"/>
                  <a:cs typeface="Arial" panose="020B0604020202020204" pitchFamily="34" charset="0"/>
                </a:rPr>
                <a:t>)</a:t>
              </a:r>
            </a:p>
          </p:txBody>
        </p:sp>
        <p:sp>
          <p:nvSpPr>
            <p:cNvPr id="16" name="Rectangle 15">
              <a:extLst>
                <a:ext uri="{FF2B5EF4-FFF2-40B4-BE49-F238E27FC236}">
                  <a16:creationId xmlns:a16="http://schemas.microsoft.com/office/drawing/2014/main" id="{EEECC0EF-1EAA-7AAE-D40B-3D51ED87524A}"/>
                </a:ext>
              </a:extLst>
            </p:cNvPr>
            <p:cNvSpPr/>
            <p:nvPr/>
          </p:nvSpPr>
          <p:spPr>
            <a:xfrm>
              <a:off x="6434051" y="1777205"/>
              <a:ext cx="1945177" cy="60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exploits (phase1..4, </a:t>
              </a:r>
              <a:r>
                <a:rPr lang="en-US" sz="1200" dirty="0" err="1">
                  <a:latin typeface="Arial" panose="020B0604020202020204" pitchFamily="34" charset="0"/>
                  <a:cs typeface="Arial" panose="020B0604020202020204" pitchFamily="34" charset="0"/>
                </a:rPr>
                <a:t>exploit_config</a:t>
              </a:r>
              <a:r>
                <a:rPr lang="en-US" sz="1200" dirty="0">
                  <a:latin typeface="Arial" panose="020B0604020202020204" pitchFamily="34" charset="0"/>
                  <a:cs typeface="Arial" panose="020B0604020202020204" pitchFamily="34" charset="0"/>
                </a:rPr>
                <a:t>)</a:t>
              </a:r>
            </a:p>
          </p:txBody>
        </p:sp>
        <p:sp>
          <p:nvSpPr>
            <p:cNvPr id="17" name="Rectangle 16">
              <a:extLst>
                <a:ext uri="{FF2B5EF4-FFF2-40B4-BE49-F238E27FC236}">
                  <a16:creationId xmlns:a16="http://schemas.microsoft.com/office/drawing/2014/main" id="{3273F5DB-87E3-754C-8528-D24922F4FE32}"/>
                </a:ext>
              </a:extLst>
            </p:cNvPr>
            <p:cNvSpPr/>
            <p:nvPr/>
          </p:nvSpPr>
          <p:spPr>
            <a:xfrm>
              <a:off x="8792063" y="1777205"/>
              <a:ext cx="1945177" cy="60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latin typeface="Arial" panose="020B0604020202020204" pitchFamily="34" charset="0"/>
                  <a:cs typeface="Arial" panose="020B0604020202020204" pitchFamily="34" charset="0"/>
                </a:rPr>
                <a:t>Excution</a:t>
              </a:r>
              <a:r>
                <a:rPr lang="en-US" sz="1200" dirty="0">
                  <a:latin typeface="Arial" panose="020B0604020202020204" pitchFamily="34" charset="0"/>
                  <a:cs typeface="Arial" panose="020B0604020202020204" pitchFamily="34" charset="0"/>
                </a:rPr>
                <a:t> output (</a:t>
              </a:r>
              <a:r>
                <a:rPr lang="en-US" sz="1200" dirty="0" err="1">
                  <a:latin typeface="Arial" panose="020B0604020202020204" pitchFamily="34" charset="0"/>
                  <a:cs typeface="Arial" panose="020B0604020202020204" pitchFamily="34" charset="0"/>
                </a:rPr>
                <a:t>uid</a:t>
              </a:r>
              <a:r>
                <a:rPr lang="en-US" sz="1200" dirty="0">
                  <a:latin typeface="Arial" panose="020B0604020202020204" pitchFamily="34" charset="0"/>
                  <a:cs typeface="Arial" panose="020B0604020202020204" pitchFamily="34" charset="0"/>
                </a:rPr>
                <a:t>=1337, leaks, return codes)</a:t>
              </a:r>
            </a:p>
          </p:txBody>
        </p:sp>
        <p:sp>
          <p:nvSpPr>
            <p:cNvPr id="18" name="Rectangle 17">
              <a:extLst>
                <a:ext uri="{FF2B5EF4-FFF2-40B4-BE49-F238E27FC236}">
                  <a16:creationId xmlns:a16="http://schemas.microsoft.com/office/drawing/2014/main" id="{3813BC38-0040-85B0-EFE1-B6BBC52DD3A7}"/>
                </a:ext>
              </a:extLst>
            </p:cNvPr>
            <p:cNvSpPr/>
            <p:nvPr/>
          </p:nvSpPr>
          <p:spPr>
            <a:xfrm>
              <a:off x="7572490" y="2936305"/>
              <a:ext cx="2012024" cy="60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analysis (probability, entropy, pie, matrix)</a:t>
              </a:r>
            </a:p>
          </p:txBody>
        </p:sp>
        <p:sp>
          <p:nvSpPr>
            <p:cNvPr id="19" name="Rectangle 18">
              <a:extLst>
                <a:ext uri="{FF2B5EF4-FFF2-40B4-BE49-F238E27FC236}">
                  <a16:creationId xmlns:a16="http://schemas.microsoft.com/office/drawing/2014/main" id="{7F762F30-A60B-9AB2-0497-D888CA85204C}"/>
                </a:ext>
              </a:extLst>
            </p:cNvPr>
            <p:cNvSpPr/>
            <p:nvPr/>
          </p:nvSpPr>
          <p:spPr>
            <a:xfrm>
              <a:off x="9970885" y="2936305"/>
              <a:ext cx="2012024" cy="60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analysis output (tables/charts/statistics)</a:t>
              </a:r>
            </a:p>
          </p:txBody>
        </p:sp>
        <p:sp>
          <p:nvSpPr>
            <p:cNvPr id="20" name="Rectangle 19">
              <a:extLst>
                <a:ext uri="{FF2B5EF4-FFF2-40B4-BE49-F238E27FC236}">
                  <a16:creationId xmlns:a16="http://schemas.microsoft.com/office/drawing/2014/main" id="{195B2BF4-8A25-AABC-AFD5-4B164E63219E}"/>
                </a:ext>
              </a:extLst>
            </p:cNvPr>
            <p:cNvSpPr/>
            <p:nvPr/>
          </p:nvSpPr>
          <p:spPr>
            <a:xfrm>
              <a:off x="9049789" y="4010145"/>
              <a:ext cx="1363287" cy="60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docs (report context)</a:t>
              </a:r>
            </a:p>
          </p:txBody>
        </p:sp>
        <p:sp>
          <p:nvSpPr>
            <p:cNvPr id="21" name="Rectangle 20">
              <a:extLst>
                <a:ext uri="{FF2B5EF4-FFF2-40B4-BE49-F238E27FC236}">
                  <a16:creationId xmlns:a16="http://schemas.microsoft.com/office/drawing/2014/main" id="{1F28F34D-6C68-0464-47A4-930F12B8A73E}"/>
                </a:ext>
              </a:extLst>
            </p:cNvPr>
            <p:cNvSpPr/>
            <p:nvPr/>
          </p:nvSpPr>
          <p:spPr>
            <a:xfrm>
              <a:off x="9049789" y="5014707"/>
              <a:ext cx="1363287" cy="60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tools (report_pack.sh)</a:t>
              </a:r>
            </a:p>
          </p:txBody>
        </p:sp>
        <p:sp>
          <p:nvSpPr>
            <p:cNvPr id="22" name="Rectangle 21">
              <a:extLst>
                <a:ext uri="{FF2B5EF4-FFF2-40B4-BE49-F238E27FC236}">
                  <a16:creationId xmlns:a16="http://schemas.microsoft.com/office/drawing/2014/main" id="{2C65D61B-28C3-1DB7-41AC-57D0EB0A9F92}"/>
                </a:ext>
              </a:extLst>
            </p:cNvPr>
            <p:cNvSpPr/>
            <p:nvPr/>
          </p:nvSpPr>
          <p:spPr>
            <a:xfrm>
              <a:off x="9049788" y="6019269"/>
              <a:ext cx="1363287" cy="60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artifacts (logs, csv, </a:t>
              </a:r>
              <a:r>
                <a:rPr lang="en-US" sz="1200" dirty="0" err="1">
                  <a:latin typeface="Arial" panose="020B0604020202020204" pitchFamily="34" charset="0"/>
                  <a:cs typeface="Arial" panose="020B0604020202020204" pitchFamily="34" charset="0"/>
                </a:rPr>
                <a:t>png</a:t>
              </a:r>
              <a:r>
                <a:rPr lang="en-US" sz="1200" dirty="0">
                  <a:latin typeface="Arial" panose="020B0604020202020204" pitchFamily="34" charset="0"/>
                  <a:cs typeface="Arial" panose="020B0604020202020204" pitchFamily="34" charset="0"/>
                </a:rPr>
                <a:t>)</a:t>
              </a:r>
            </a:p>
          </p:txBody>
        </p:sp>
        <p:cxnSp>
          <p:nvCxnSpPr>
            <p:cNvPr id="24" name="Connector: Elbow 23">
              <a:extLst>
                <a:ext uri="{FF2B5EF4-FFF2-40B4-BE49-F238E27FC236}">
                  <a16:creationId xmlns:a16="http://schemas.microsoft.com/office/drawing/2014/main" id="{38FD7BDB-A405-8E34-1E83-46BB8122EDF4}"/>
                </a:ext>
              </a:extLst>
            </p:cNvPr>
            <p:cNvCxnSpPr>
              <a:stCxn id="12" idx="2"/>
              <a:endCxn id="16" idx="0"/>
            </p:cNvCxnSpPr>
            <p:nvPr/>
          </p:nvCxnSpPr>
          <p:spPr>
            <a:xfrm rot="16200000" flipH="1">
              <a:off x="6528428" y="898993"/>
              <a:ext cx="657758" cy="109866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Connector: Elbow 24">
              <a:extLst>
                <a:ext uri="{FF2B5EF4-FFF2-40B4-BE49-F238E27FC236}">
                  <a16:creationId xmlns:a16="http://schemas.microsoft.com/office/drawing/2014/main" id="{E94B51BB-25E3-9594-861A-2EB05EC0EE3B}"/>
                </a:ext>
              </a:extLst>
            </p:cNvPr>
            <p:cNvCxnSpPr>
              <a:cxnSpLocks/>
              <a:stCxn id="14" idx="2"/>
              <a:endCxn id="16" idx="0"/>
            </p:cNvCxnSpPr>
            <p:nvPr/>
          </p:nvCxnSpPr>
          <p:spPr>
            <a:xfrm rot="5400000">
              <a:off x="7611160" y="914927"/>
              <a:ext cx="657758" cy="1066798"/>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nector: Elbow 31">
              <a:extLst>
                <a:ext uri="{FF2B5EF4-FFF2-40B4-BE49-F238E27FC236}">
                  <a16:creationId xmlns:a16="http://schemas.microsoft.com/office/drawing/2014/main" id="{A15797DE-E24A-88B7-A032-91EE98321FD1}"/>
                </a:ext>
              </a:extLst>
            </p:cNvPr>
            <p:cNvCxnSpPr>
              <a:stCxn id="16" idx="2"/>
              <a:endCxn id="18" idx="0"/>
            </p:cNvCxnSpPr>
            <p:nvPr/>
          </p:nvCxnSpPr>
          <p:spPr>
            <a:xfrm rot="16200000" flipH="1">
              <a:off x="7717821" y="2075624"/>
              <a:ext cx="549500" cy="117186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Connector: Elbow 32">
              <a:extLst>
                <a:ext uri="{FF2B5EF4-FFF2-40B4-BE49-F238E27FC236}">
                  <a16:creationId xmlns:a16="http://schemas.microsoft.com/office/drawing/2014/main" id="{6A0CDA67-0394-1E58-20DF-DE5D4BF4682E}"/>
                </a:ext>
              </a:extLst>
            </p:cNvPr>
            <p:cNvCxnSpPr>
              <a:cxnSpLocks/>
              <a:stCxn id="17" idx="2"/>
              <a:endCxn id="18" idx="0"/>
            </p:cNvCxnSpPr>
            <p:nvPr/>
          </p:nvCxnSpPr>
          <p:spPr>
            <a:xfrm rot="5400000">
              <a:off x="8896827" y="2068480"/>
              <a:ext cx="549500" cy="118615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Connector: Elbow 35">
              <a:extLst>
                <a:ext uri="{FF2B5EF4-FFF2-40B4-BE49-F238E27FC236}">
                  <a16:creationId xmlns:a16="http://schemas.microsoft.com/office/drawing/2014/main" id="{21EFDD92-3695-1735-EE25-B314B110872C}"/>
                </a:ext>
              </a:extLst>
            </p:cNvPr>
            <p:cNvCxnSpPr>
              <a:cxnSpLocks/>
              <a:stCxn id="19" idx="2"/>
              <a:endCxn id="20" idx="0"/>
            </p:cNvCxnSpPr>
            <p:nvPr/>
          </p:nvCxnSpPr>
          <p:spPr>
            <a:xfrm rot="5400000">
              <a:off x="10122045" y="3155293"/>
              <a:ext cx="464240" cy="1245464"/>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Connector: Elbow 40">
              <a:extLst>
                <a:ext uri="{FF2B5EF4-FFF2-40B4-BE49-F238E27FC236}">
                  <a16:creationId xmlns:a16="http://schemas.microsoft.com/office/drawing/2014/main" id="{FD642ED2-9A3B-9701-5290-A98ED2268C1B}"/>
                </a:ext>
              </a:extLst>
            </p:cNvPr>
            <p:cNvCxnSpPr>
              <a:cxnSpLocks/>
              <a:stCxn id="18" idx="2"/>
              <a:endCxn id="20" idx="0"/>
            </p:cNvCxnSpPr>
            <p:nvPr/>
          </p:nvCxnSpPr>
          <p:spPr>
            <a:xfrm rot="16200000" flipH="1">
              <a:off x="8922847" y="3201559"/>
              <a:ext cx="464240" cy="115293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5DDB79DF-B18C-0658-0F05-D1A7E9DA41DF}"/>
                </a:ext>
              </a:extLst>
            </p:cNvPr>
            <p:cNvCxnSpPr>
              <a:stCxn id="20" idx="2"/>
              <a:endCxn id="21" idx="0"/>
            </p:cNvCxnSpPr>
            <p:nvPr/>
          </p:nvCxnSpPr>
          <p:spPr>
            <a:xfrm>
              <a:off x="9731433" y="4619745"/>
              <a:ext cx="0" cy="3949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4857F6B6-F0AF-E6D7-CAF1-84248DAF058F}"/>
                </a:ext>
              </a:extLst>
            </p:cNvPr>
            <p:cNvCxnSpPr>
              <a:stCxn id="21" idx="2"/>
              <a:endCxn id="22" idx="0"/>
            </p:cNvCxnSpPr>
            <p:nvPr/>
          </p:nvCxnSpPr>
          <p:spPr>
            <a:xfrm flipH="1">
              <a:off x="9731432" y="5624307"/>
              <a:ext cx="1" cy="3949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52" name="TextBox 51">
            <a:extLst>
              <a:ext uri="{FF2B5EF4-FFF2-40B4-BE49-F238E27FC236}">
                <a16:creationId xmlns:a16="http://schemas.microsoft.com/office/drawing/2014/main" id="{8CA60592-3975-CA84-0F23-D3B372878367}"/>
              </a:ext>
            </a:extLst>
          </p:cNvPr>
          <p:cNvSpPr txBox="1"/>
          <p:nvPr/>
        </p:nvSpPr>
        <p:spPr>
          <a:xfrm>
            <a:off x="595052" y="2230909"/>
            <a:ext cx="5269297" cy="3356560"/>
          </a:xfrm>
          <a:prstGeom prst="rect">
            <a:avLst/>
          </a:prstGeom>
          <a:noFill/>
        </p:spPr>
        <p:txBody>
          <a:bodyPr wrap="square">
            <a:spAutoFit/>
          </a:bodyPr>
          <a:lstStyle/>
          <a:p>
            <a:pPr algn="just">
              <a:lnSpc>
                <a:spcPct val="150000"/>
              </a:lnSpc>
              <a:spcAft>
                <a:spcPts val="600"/>
              </a:spcAft>
            </a:pPr>
            <a:r>
              <a:rPr lang="en-US" sz="2000" dirty="0" err="1">
                <a:solidFill>
                  <a:schemeClr val="bg1"/>
                </a:solidFill>
              </a:rPr>
              <a:t>Gồm</a:t>
            </a:r>
            <a:r>
              <a:rPr lang="en-US" sz="2000" dirty="0">
                <a:solidFill>
                  <a:schemeClr val="bg1"/>
                </a:solidFill>
              </a:rPr>
              <a:t> 4 </a:t>
            </a:r>
            <a:r>
              <a:rPr lang="en-US" sz="2000" dirty="0" err="1">
                <a:solidFill>
                  <a:schemeClr val="bg1"/>
                </a:solidFill>
              </a:rPr>
              <a:t>thành</a:t>
            </a:r>
            <a:r>
              <a:rPr lang="en-US" sz="2000" dirty="0">
                <a:solidFill>
                  <a:schemeClr val="bg1"/>
                </a:solidFill>
              </a:rPr>
              <a:t> </a:t>
            </a:r>
            <a:r>
              <a:rPr lang="en-US" sz="2000" dirty="0" err="1">
                <a:solidFill>
                  <a:schemeClr val="bg1"/>
                </a:solidFill>
              </a:rPr>
              <a:t>phần</a:t>
            </a:r>
            <a:r>
              <a:rPr lang="en-US" sz="2000" dirty="0">
                <a:solidFill>
                  <a:schemeClr val="bg1"/>
                </a:solidFill>
              </a:rPr>
              <a:t> </a:t>
            </a:r>
            <a:r>
              <a:rPr lang="en-US" sz="2000" dirty="0" err="1">
                <a:solidFill>
                  <a:schemeClr val="bg1"/>
                </a:solidFill>
              </a:rPr>
              <a:t>chính</a:t>
            </a:r>
            <a:r>
              <a:rPr lang="en-US" sz="2000" dirty="0">
                <a:solidFill>
                  <a:schemeClr val="bg1"/>
                </a:solidFill>
              </a:rPr>
              <a:t>:</a:t>
            </a:r>
          </a:p>
          <a:p>
            <a:pPr marL="342900" indent="-342900" algn="just">
              <a:lnSpc>
                <a:spcPct val="150000"/>
              </a:lnSpc>
              <a:buFont typeface="Arial" panose="020B0604020202020204" pitchFamily="34" charset="0"/>
              <a:buChar char="•"/>
            </a:pPr>
            <a:r>
              <a:rPr lang="en-US" sz="2000" b="1" dirty="0" err="1">
                <a:solidFill>
                  <a:schemeClr val="bg1"/>
                </a:solidFill>
              </a:rPr>
              <a:t>demo_aslr</a:t>
            </a:r>
            <a:r>
              <a:rPr lang="en-US" sz="2000" b="1" dirty="0">
                <a:solidFill>
                  <a:schemeClr val="bg1"/>
                </a:solidFill>
              </a:rPr>
              <a:t>: </a:t>
            </a:r>
            <a:r>
              <a:rPr lang="en-US" sz="2000" dirty="0" err="1">
                <a:solidFill>
                  <a:schemeClr val="bg1"/>
                </a:solidFill>
              </a:rPr>
              <a:t>chương</a:t>
            </a:r>
            <a:r>
              <a:rPr lang="en-US" sz="2000" dirty="0">
                <a:solidFill>
                  <a:schemeClr val="bg1"/>
                </a:solidFill>
              </a:rPr>
              <a:t> </a:t>
            </a:r>
            <a:r>
              <a:rPr lang="en-US" sz="2000" dirty="0" err="1">
                <a:solidFill>
                  <a:schemeClr val="bg1"/>
                </a:solidFill>
              </a:rPr>
              <a:t>trình</a:t>
            </a:r>
            <a:r>
              <a:rPr lang="en-US" sz="2000" dirty="0">
                <a:solidFill>
                  <a:schemeClr val="bg1"/>
                </a:solidFill>
              </a:rPr>
              <a:t> </a:t>
            </a:r>
            <a:r>
              <a:rPr lang="en-US" sz="2000" dirty="0" err="1">
                <a:solidFill>
                  <a:schemeClr val="bg1"/>
                </a:solidFill>
              </a:rPr>
              <a:t>có</a:t>
            </a:r>
            <a:r>
              <a:rPr lang="en-US" sz="2000" dirty="0">
                <a:solidFill>
                  <a:schemeClr val="bg1"/>
                </a:solidFill>
              </a:rPr>
              <a:t> </a:t>
            </a:r>
            <a:r>
              <a:rPr lang="en-US" sz="2000" dirty="0" err="1">
                <a:solidFill>
                  <a:schemeClr val="bg1"/>
                </a:solidFill>
              </a:rPr>
              <a:t>lổ</a:t>
            </a:r>
            <a:r>
              <a:rPr lang="en-US" sz="2000" dirty="0">
                <a:solidFill>
                  <a:schemeClr val="bg1"/>
                </a:solidFill>
              </a:rPr>
              <a:t> </a:t>
            </a:r>
            <a:r>
              <a:rPr lang="en-US" sz="2000" dirty="0" err="1">
                <a:solidFill>
                  <a:schemeClr val="bg1"/>
                </a:solidFill>
              </a:rPr>
              <a:t>hổng</a:t>
            </a:r>
            <a:r>
              <a:rPr lang="en-US" sz="2000" dirty="0">
                <a:solidFill>
                  <a:schemeClr val="bg1"/>
                </a:solidFill>
              </a:rPr>
              <a:t> buffer overflow</a:t>
            </a:r>
          </a:p>
          <a:p>
            <a:pPr marL="342900" indent="-342900" algn="just">
              <a:lnSpc>
                <a:spcPct val="150000"/>
              </a:lnSpc>
              <a:buFont typeface="Arial" panose="020B0604020202020204" pitchFamily="34" charset="0"/>
              <a:buChar char="•"/>
            </a:pPr>
            <a:r>
              <a:rPr lang="en-US" sz="2000" b="1" dirty="0">
                <a:solidFill>
                  <a:schemeClr val="bg1"/>
                </a:solidFill>
              </a:rPr>
              <a:t>exploits: </a:t>
            </a:r>
            <a:r>
              <a:rPr lang="en-US" sz="2000" dirty="0">
                <a:solidFill>
                  <a:schemeClr val="bg1"/>
                </a:solidFill>
              </a:rPr>
              <a:t>script </a:t>
            </a:r>
            <a:r>
              <a:rPr lang="en-US" sz="2000" dirty="0" err="1">
                <a:solidFill>
                  <a:schemeClr val="bg1"/>
                </a:solidFill>
              </a:rPr>
              <a:t>khai</a:t>
            </a:r>
            <a:r>
              <a:rPr lang="en-US" sz="2000" dirty="0">
                <a:solidFill>
                  <a:schemeClr val="bg1"/>
                </a:solidFill>
              </a:rPr>
              <a:t> </a:t>
            </a:r>
            <a:r>
              <a:rPr lang="en-US" sz="2000" dirty="0" err="1">
                <a:solidFill>
                  <a:schemeClr val="bg1"/>
                </a:solidFill>
              </a:rPr>
              <a:t>thác</a:t>
            </a:r>
            <a:r>
              <a:rPr lang="en-US" sz="2000" dirty="0">
                <a:solidFill>
                  <a:schemeClr val="bg1"/>
                </a:solidFill>
              </a:rPr>
              <a:t> </a:t>
            </a:r>
            <a:r>
              <a:rPr lang="en-US" sz="2000" dirty="0" err="1">
                <a:solidFill>
                  <a:schemeClr val="bg1"/>
                </a:solidFill>
              </a:rPr>
              <a:t>theo</a:t>
            </a:r>
            <a:r>
              <a:rPr lang="en-US" sz="2000" dirty="0">
                <a:solidFill>
                  <a:schemeClr val="bg1"/>
                </a:solidFill>
              </a:rPr>
              <a:t> </a:t>
            </a:r>
            <a:r>
              <a:rPr lang="en-US" sz="2000" dirty="0" err="1">
                <a:solidFill>
                  <a:schemeClr val="bg1"/>
                </a:solidFill>
              </a:rPr>
              <a:t>từng</a:t>
            </a:r>
            <a:r>
              <a:rPr lang="en-US" sz="2000" dirty="0">
                <a:solidFill>
                  <a:schemeClr val="bg1"/>
                </a:solidFill>
              </a:rPr>
              <a:t> phase</a:t>
            </a:r>
          </a:p>
          <a:p>
            <a:pPr marL="342900" indent="-342900" algn="just">
              <a:lnSpc>
                <a:spcPct val="150000"/>
              </a:lnSpc>
              <a:buFont typeface="Arial" panose="020B0604020202020204" pitchFamily="34" charset="0"/>
              <a:buChar char="•"/>
            </a:pPr>
            <a:r>
              <a:rPr lang="en-US" sz="2000" b="1" dirty="0">
                <a:solidFill>
                  <a:schemeClr val="bg1"/>
                </a:solidFill>
              </a:rPr>
              <a:t>analysis: </a:t>
            </a:r>
            <a:r>
              <a:rPr lang="en-US" sz="2000" dirty="0" err="1">
                <a:solidFill>
                  <a:schemeClr val="bg1"/>
                </a:solidFill>
              </a:rPr>
              <a:t>xử</a:t>
            </a:r>
            <a:r>
              <a:rPr lang="en-US" sz="2000" dirty="0">
                <a:solidFill>
                  <a:schemeClr val="bg1"/>
                </a:solidFill>
              </a:rPr>
              <a:t> </a:t>
            </a:r>
            <a:r>
              <a:rPr lang="en-US" sz="2000" dirty="0" err="1">
                <a:solidFill>
                  <a:schemeClr val="bg1"/>
                </a:solidFill>
              </a:rPr>
              <a:t>lý</a:t>
            </a:r>
            <a:r>
              <a:rPr lang="en-US" sz="2000" dirty="0">
                <a:solidFill>
                  <a:schemeClr val="bg1"/>
                </a:solidFill>
              </a:rPr>
              <a:t> </a:t>
            </a:r>
            <a:r>
              <a:rPr lang="en-US" sz="2000" dirty="0" err="1">
                <a:solidFill>
                  <a:schemeClr val="bg1"/>
                </a:solidFill>
              </a:rPr>
              <a:t>dữ</a:t>
            </a:r>
            <a:r>
              <a:rPr lang="en-US" sz="2000" dirty="0">
                <a:solidFill>
                  <a:schemeClr val="bg1"/>
                </a:solidFill>
              </a:rPr>
              <a:t> </a:t>
            </a:r>
            <a:r>
              <a:rPr lang="en-US" sz="2000" dirty="0" err="1">
                <a:solidFill>
                  <a:schemeClr val="bg1"/>
                </a:solidFill>
              </a:rPr>
              <a:t>liệu</a:t>
            </a:r>
            <a:r>
              <a:rPr lang="en-US" sz="2000" dirty="0">
                <a:solidFill>
                  <a:schemeClr val="bg1"/>
                </a:solidFill>
              </a:rPr>
              <a:t>, </a:t>
            </a:r>
            <a:r>
              <a:rPr lang="en-US" sz="2000" dirty="0" err="1">
                <a:solidFill>
                  <a:schemeClr val="bg1"/>
                </a:solidFill>
              </a:rPr>
              <a:t>tính</a:t>
            </a:r>
            <a:r>
              <a:rPr lang="en-US" sz="2000" dirty="0">
                <a:solidFill>
                  <a:schemeClr val="bg1"/>
                </a:solidFill>
              </a:rPr>
              <a:t> success rate, entropy</a:t>
            </a:r>
          </a:p>
          <a:p>
            <a:pPr marL="342900" indent="-342900" algn="just">
              <a:lnSpc>
                <a:spcPct val="150000"/>
              </a:lnSpc>
              <a:buFont typeface="Arial" panose="020B0604020202020204" pitchFamily="34" charset="0"/>
              <a:buChar char="•"/>
            </a:pPr>
            <a:r>
              <a:rPr lang="en-US" sz="2000" b="1" dirty="0">
                <a:solidFill>
                  <a:schemeClr val="bg1"/>
                </a:solidFill>
              </a:rPr>
              <a:t>tools/docs: </a:t>
            </a:r>
            <a:r>
              <a:rPr lang="en-US" sz="2000" dirty="0" err="1">
                <a:solidFill>
                  <a:schemeClr val="bg1"/>
                </a:solidFill>
              </a:rPr>
              <a:t>tổng</a:t>
            </a:r>
            <a:r>
              <a:rPr lang="en-US" sz="2000" dirty="0">
                <a:solidFill>
                  <a:schemeClr val="bg1"/>
                </a:solidFill>
              </a:rPr>
              <a:t> </a:t>
            </a:r>
            <a:r>
              <a:rPr lang="en-US" sz="2000" dirty="0" err="1">
                <a:solidFill>
                  <a:schemeClr val="bg1"/>
                </a:solidFill>
              </a:rPr>
              <a:t>hợp</a:t>
            </a:r>
            <a:r>
              <a:rPr lang="en-US" sz="2000" dirty="0">
                <a:solidFill>
                  <a:schemeClr val="bg1"/>
                </a:solidFill>
              </a:rPr>
              <a:t> </a:t>
            </a:r>
            <a:r>
              <a:rPr lang="en-US" sz="2000" dirty="0" err="1">
                <a:solidFill>
                  <a:schemeClr val="bg1"/>
                </a:solidFill>
              </a:rPr>
              <a:t>kết</a:t>
            </a:r>
            <a:r>
              <a:rPr lang="en-US" sz="2000" dirty="0">
                <a:solidFill>
                  <a:schemeClr val="bg1"/>
                </a:solidFill>
              </a:rPr>
              <a:t> </a:t>
            </a:r>
            <a:r>
              <a:rPr lang="en-US" sz="2000" dirty="0" err="1">
                <a:solidFill>
                  <a:schemeClr val="bg1"/>
                </a:solidFill>
              </a:rPr>
              <a:t>quả</a:t>
            </a:r>
            <a:r>
              <a:rPr lang="en-US" sz="2000" dirty="0">
                <a:solidFill>
                  <a:schemeClr val="bg1"/>
                </a:solidFill>
              </a:rPr>
              <a:t> &amp; </a:t>
            </a:r>
            <a:r>
              <a:rPr lang="en-US" sz="2000" dirty="0" err="1">
                <a:solidFill>
                  <a:schemeClr val="bg1"/>
                </a:solidFill>
              </a:rPr>
              <a:t>báo</a:t>
            </a:r>
            <a:r>
              <a:rPr lang="en-US" sz="2000" dirty="0">
                <a:solidFill>
                  <a:schemeClr val="bg1"/>
                </a:solidFill>
              </a:rPr>
              <a:t> </a:t>
            </a:r>
            <a:r>
              <a:rPr lang="en-US" sz="2000" dirty="0" err="1">
                <a:solidFill>
                  <a:schemeClr val="bg1"/>
                </a:solidFill>
              </a:rPr>
              <a:t>cáo</a:t>
            </a:r>
            <a:endParaRPr lang="en-US" sz="2000" dirty="0">
              <a:solidFill>
                <a:schemeClr val="bg1"/>
              </a:solidFill>
            </a:endParaRPr>
          </a:p>
        </p:txBody>
      </p:sp>
    </p:spTree>
    <p:extLst>
      <p:ext uri="{BB962C8B-B14F-4D97-AF65-F5344CB8AC3E}">
        <p14:creationId xmlns:p14="http://schemas.microsoft.com/office/powerpoint/2010/main" val="2438227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FCCF8-8DC0-792D-5A7B-4B1C020D141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D966B24-ABFF-10C5-E091-29BF5EC1C63E}"/>
              </a:ext>
            </a:extLst>
          </p:cNvPr>
          <p:cNvSpPr/>
          <p:nvPr/>
        </p:nvSpPr>
        <p:spPr>
          <a:xfrm>
            <a:off x="684582" y="212956"/>
            <a:ext cx="4217618" cy="14630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0"/>
              </a:spcBef>
            </a:pPr>
            <a:r>
              <a:rPr lang="en-US" sz="3200" b="1" dirty="0">
                <a:solidFill>
                  <a:srgbClr val="6DB1CC"/>
                </a:solidFill>
                <a:latin typeface="Segoe UI" panose="020B0502040204020203" pitchFamily="34" charset="0"/>
                <a:cs typeface="Segoe UI" panose="020B0502040204020203" pitchFamily="34" charset="0"/>
              </a:rPr>
              <a:t>THÀNH PHẦN</a:t>
            </a:r>
          </a:p>
          <a:p>
            <a:pPr>
              <a:spcBef>
                <a:spcPts val="600"/>
              </a:spcBef>
            </a:pPr>
            <a:r>
              <a:rPr lang="en-US" sz="3200" b="1" dirty="0">
                <a:solidFill>
                  <a:srgbClr val="6DB1CC"/>
                </a:solidFill>
                <a:latin typeface="Segoe UI" panose="020B0502040204020203" pitchFamily="34" charset="0"/>
                <a:cs typeface="Segoe UI" panose="020B0502040204020203" pitchFamily="34" charset="0"/>
              </a:rPr>
              <a:t>THỰC THI</a:t>
            </a:r>
          </a:p>
        </p:txBody>
      </p:sp>
      <p:pic>
        <p:nvPicPr>
          <p:cNvPr id="10" name="Picture 9" descr="Ý nghĩa logo Đại học Công nghệ Tp.HCM (HUTECH)">
            <a:extLst>
              <a:ext uri="{FF2B5EF4-FFF2-40B4-BE49-F238E27FC236}">
                <a16:creationId xmlns:a16="http://schemas.microsoft.com/office/drawing/2014/main" id="{A2732E87-C20E-048C-FCF4-0CBF48F21C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8096" y="159827"/>
            <a:ext cx="1817203" cy="582783"/>
          </a:xfrm>
          <a:prstGeom prst="rect">
            <a:avLst/>
          </a:prstGeom>
          <a:noFill/>
          <a:extLst>
            <a:ext uri="{909E8E84-426E-40DD-AFC4-6F175D3DCCD1}">
              <a14:hiddenFill xmlns:a14="http://schemas.microsoft.com/office/drawing/2010/main">
                <a:solidFill>
                  <a:srgbClr val="FFFFFF"/>
                </a:solidFill>
              </a14:hiddenFill>
            </a:ext>
          </a:extLst>
        </p:spPr>
      </p:pic>
      <p:grpSp>
        <p:nvGrpSpPr>
          <p:cNvPr id="51" name="Group 50">
            <a:extLst>
              <a:ext uri="{FF2B5EF4-FFF2-40B4-BE49-F238E27FC236}">
                <a16:creationId xmlns:a16="http://schemas.microsoft.com/office/drawing/2014/main" id="{E00D524E-8975-52D1-6EBB-BF6DC7BCF61F}"/>
              </a:ext>
            </a:extLst>
          </p:cNvPr>
          <p:cNvGrpSpPr/>
          <p:nvPr/>
        </p:nvGrpSpPr>
        <p:grpSpPr>
          <a:xfrm>
            <a:off x="5016451" y="284228"/>
            <a:ext cx="6490967" cy="6289543"/>
            <a:chOff x="5491942" y="339326"/>
            <a:chExt cx="6490967" cy="6289543"/>
          </a:xfrm>
        </p:grpSpPr>
        <p:sp>
          <p:nvSpPr>
            <p:cNvPr id="12" name="Rectangle 11">
              <a:extLst>
                <a:ext uri="{FF2B5EF4-FFF2-40B4-BE49-F238E27FC236}">
                  <a16:creationId xmlns:a16="http://schemas.microsoft.com/office/drawing/2014/main" id="{933DC073-A9ED-B224-42EC-96387DC29E87}"/>
                </a:ext>
              </a:extLst>
            </p:cNvPr>
            <p:cNvSpPr/>
            <p:nvPr/>
          </p:nvSpPr>
          <p:spPr>
            <a:xfrm>
              <a:off x="5491942" y="509847"/>
              <a:ext cx="1632064" cy="60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latin typeface="Arial" panose="020B0604020202020204" pitchFamily="34" charset="0"/>
                  <a:cs typeface="Arial" panose="020B0604020202020204" pitchFamily="34" charset="0"/>
                </a:rPr>
                <a:t>demo_aslr</a:t>
              </a:r>
              <a:r>
                <a:rPr lang="en-US" sz="1200" dirty="0">
                  <a:latin typeface="Arial" panose="020B0604020202020204" pitchFamily="34" charset="0"/>
                  <a:cs typeface="Arial" panose="020B0604020202020204" pitchFamily="34" charset="0"/>
                </a:rPr>
                <a:t> (vulnerable program)</a:t>
              </a:r>
            </a:p>
          </p:txBody>
        </p:sp>
        <p:sp>
          <p:nvSpPr>
            <p:cNvPr id="14" name="Rectangle 13">
              <a:extLst>
                <a:ext uri="{FF2B5EF4-FFF2-40B4-BE49-F238E27FC236}">
                  <a16:creationId xmlns:a16="http://schemas.microsoft.com/office/drawing/2014/main" id="{04D0A91B-3482-7258-251B-E5A3A73BBC72}"/>
                </a:ext>
              </a:extLst>
            </p:cNvPr>
            <p:cNvSpPr/>
            <p:nvPr/>
          </p:nvSpPr>
          <p:spPr>
            <a:xfrm>
              <a:off x="7657406" y="339326"/>
              <a:ext cx="1632064" cy="78012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Binaries (</a:t>
              </a:r>
              <a:r>
                <a:rPr lang="en-US" sz="1200" dirty="0" err="1">
                  <a:latin typeface="Arial" panose="020B0604020202020204" pitchFamily="34" charset="0"/>
                  <a:cs typeface="Arial" panose="020B0604020202020204" pitchFamily="34" charset="0"/>
                </a:rPr>
                <a:t>aslr_demo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aslr_demo_pie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aslr_demo_nx</a:t>
              </a:r>
              <a:r>
                <a:rPr lang="en-US" sz="1200" dirty="0">
                  <a:latin typeface="Arial" panose="020B0604020202020204" pitchFamily="34" charset="0"/>
                  <a:cs typeface="Arial" panose="020B0604020202020204" pitchFamily="34" charset="0"/>
                </a:rPr>
                <a:t>)</a:t>
              </a:r>
            </a:p>
          </p:txBody>
        </p:sp>
        <p:sp>
          <p:nvSpPr>
            <p:cNvPr id="16" name="Rectangle 15">
              <a:extLst>
                <a:ext uri="{FF2B5EF4-FFF2-40B4-BE49-F238E27FC236}">
                  <a16:creationId xmlns:a16="http://schemas.microsoft.com/office/drawing/2014/main" id="{14BF8A20-2BB3-9F3B-7041-A8F8028F981A}"/>
                </a:ext>
              </a:extLst>
            </p:cNvPr>
            <p:cNvSpPr/>
            <p:nvPr/>
          </p:nvSpPr>
          <p:spPr>
            <a:xfrm>
              <a:off x="6434051" y="1777205"/>
              <a:ext cx="1945177" cy="60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exploits (phase1..4, </a:t>
              </a:r>
              <a:r>
                <a:rPr lang="en-US" sz="1200" dirty="0" err="1">
                  <a:latin typeface="Arial" panose="020B0604020202020204" pitchFamily="34" charset="0"/>
                  <a:cs typeface="Arial" panose="020B0604020202020204" pitchFamily="34" charset="0"/>
                </a:rPr>
                <a:t>exploit_config</a:t>
              </a:r>
              <a:r>
                <a:rPr lang="en-US" sz="1200" dirty="0">
                  <a:latin typeface="Arial" panose="020B0604020202020204" pitchFamily="34" charset="0"/>
                  <a:cs typeface="Arial" panose="020B0604020202020204" pitchFamily="34" charset="0"/>
                </a:rPr>
                <a:t>)</a:t>
              </a:r>
            </a:p>
          </p:txBody>
        </p:sp>
        <p:sp>
          <p:nvSpPr>
            <p:cNvPr id="17" name="Rectangle 16">
              <a:extLst>
                <a:ext uri="{FF2B5EF4-FFF2-40B4-BE49-F238E27FC236}">
                  <a16:creationId xmlns:a16="http://schemas.microsoft.com/office/drawing/2014/main" id="{331EAB53-FF32-8306-C5A3-7C180AC5F958}"/>
                </a:ext>
              </a:extLst>
            </p:cNvPr>
            <p:cNvSpPr/>
            <p:nvPr/>
          </p:nvSpPr>
          <p:spPr>
            <a:xfrm>
              <a:off x="8792063" y="1777205"/>
              <a:ext cx="1945177" cy="60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latin typeface="Arial" panose="020B0604020202020204" pitchFamily="34" charset="0"/>
                  <a:cs typeface="Arial" panose="020B0604020202020204" pitchFamily="34" charset="0"/>
                </a:rPr>
                <a:t>Excution</a:t>
              </a:r>
              <a:r>
                <a:rPr lang="en-US" sz="1200" dirty="0">
                  <a:latin typeface="Arial" panose="020B0604020202020204" pitchFamily="34" charset="0"/>
                  <a:cs typeface="Arial" panose="020B0604020202020204" pitchFamily="34" charset="0"/>
                </a:rPr>
                <a:t> output (</a:t>
              </a:r>
              <a:r>
                <a:rPr lang="en-US" sz="1200" dirty="0" err="1">
                  <a:latin typeface="Arial" panose="020B0604020202020204" pitchFamily="34" charset="0"/>
                  <a:cs typeface="Arial" panose="020B0604020202020204" pitchFamily="34" charset="0"/>
                </a:rPr>
                <a:t>uid</a:t>
              </a:r>
              <a:r>
                <a:rPr lang="en-US" sz="1200" dirty="0">
                  <a:latin typeface="Arial" panose="020B0604020202020204" pitchFamily="34" charset="0"/>
                  <a:cs typeface="Arial" panose="020B0604020202020204" pitchFamily="34" charset="0"/>
                </a:rPr>
                <a:t>=1337, leaks, return codes)</a:t>
              </a:r>
            </a:p>
          </p:txBody>
        </p:sp>
        <p:sp>
          <p:nvSpPr>
            <p:cNvPr id="18" name="Rectangle 17">
              <a:extLst>
                <a:ext uri="{FF2B5EF4-FFF2-40B4-BE49-F238E27FC236}">
                  <a16:creationId xmlns:a16="http://schemas.microsoft.com/office/drawing/2014/main" id="{DD1B5ABB-3837-8298-F8DA-6596AFAFAE07}"/>
                </a:ext>
              </a:extLst>
            </p:cNvPr>
            <p:cNvSpPr/>
            <p:nvPr/>
          </p:nvSpPr>
          <p:spPr>
            <a:xfrm>
              <a:off x="7572490" y="2936305"/>
              <a:ext cx="2012024" cy="60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analysis (probability, entropy, pie, matrix)</a:t>
              </a:r>
            </a:p>
          </p:txBody>
        </p:sp>
        <p:sp>
          <p:nvSpPr>
            <p:cNvPr id="19" name="Rectangle 18">
              <a:extLst>
                <a:ext uri="{FF2B5EF4-FFF2-40B4-BE49-F238E27FC236}">
                  <a16:creationId xmlns:a16="http://schemas.microsoft.com/office/drawing/2014/main" id="{36F81EA9-66E4-9E68-BF74-9A4695847AE2}"/>
                </a:ext>
              </a:extLst>
            </p:cNvPr>
            <p:cNvSpPr/>
            <p:nvPr/>
          </p:nvSpPr>
          <p:spPr>
            <a:xfrm>
              <a:off x="9970885" y="2936305"/>
              <a:ext cx="2012024" cy="60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analysis output (tables/charts/statistics)</a:t>
              </a:r>
            </a:p>
          </p:txBody>
        </p:sp>
        <p:sp>
          <p:nvSpPr>
            <p:cNvPr id="20" name="Rectangle 19">
              <a:extLst>
                <a:ext uri="{FF2B5EF4-FFF2-40B4-BE49-F238E27FC236}">
                  <a16:creationId xmlns:a16="http://schemas.microsoft.com/office/drawing/2014/main" id="{9708F832-42DF-B5B7-6054-A354D04ECB63}"/>
                </a:ext>
              </a:extLst>
            </p:cNvPr>
            <p:cNvSpPr/>
            <p:nvPr/>
          </p:nvSpPr>
          <p:spPr>
            <a:xfrm>
              <a:off x="9049789" y="4010145"/>
              <a:ext cx="1363287" cy="60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docs (report context)</a:t>
              </a:r>
            </a:p>
          </p:txBody>
        </p:sp>
        <p:sp>
          <p:nvSpPr>
            <p:cNvPr id="21" name="Rectangle 20">
              <a:extLst>
                <a:ext uri="{FF2B5EF4-FFF2-40B4-BE49-F238E27FC236}">
                  <a16:creationId xmlns:a16="http://schemas.microsoft.com/office/drawing/2014/main" id="{E9859B21-3347-A55E-B48E-71F9D2EE52F3}"/>
                </a:ext>
              </a:extLst>
            </p:cNvPr>
            <p:cNvSpPr/>
            <p:nvPr/>
          </p:nvSpPr>
          <p:spPr>
            <a:xfrm>
              <a:off x="9049789" y="5014707"/>
              <a:ext cx="1363287" cy="60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tools (report_pack.sh)</a:t>
              </a:r>
            </a:p>
          </p:txBody>
        </p:sp>
        <p:sp>
          <p:nvSpPr>
            <p:cNvPr id="22" name="Rectangle 21">
              <a:extLst>
                <a:ext uri="{FF2B5EF4-FFF2-40B4-BE49-F238E27FC236}">
                  <a16:creationId xmlns:a16="http://schemas.microsoft.com/office/drawing/2014/main" id="{18A56A4B-7869-298F-15F8-358D5BF24564}"/>
                </a:ext>
              </a:extLst>
            </p:cNvPr>
            <p:cNvSpPr/>
            <p:nvPr/>
          </p:nvSpPr>
          <p:spPr>
            <a:xfrm>
              <a:off x="9049788" y="6019269"/>
              <a:ext cx="1363287" cy="60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artifacts (logs, csv, </a:t>
              </a:r>
              <a:r>
                <a:rPr lang="en-US" sz="1200" dirty="0" err="1">
                  <a:latin typeface="Arial" panose="020B0604020202020204" pitchFamily="34" charset="0"/>
                  <a:cs typeface="Arial" panose="020B0604020202020204" pitchFamily="34" charset="0"/>
                </a:rPr>
                <a:t>png</a:t>
              </a:r>
              <a:r>
                <a:rPr lang="en-US" sz="1200" dirty="0">
                  <a:latin typeface="Arial" panose="020B0604020202020204" pitchFamily="34" charset="0"/>
                  <a:cs typeface="Arial" panose="020B0604020202020204" pitchFamily="34" charset="0"/>
                </a:rPr>
                <a:t>)</a:t>
              </a:r>
            </a:p>
          </p:txBody>
        </p:sp>
        <p:cxnSp>
          <p:nvCxnSpPr>
            <p:cNvPr id="24" name="Connector: Elbow 23">
              <a:extLst>
                <a:ext uri="{FF2B5EF4-FFF2-40B4-BE49-F238E27FC236}">
                  <a16:creationId xmlns:a16="http://schemas.microsoft.com/office/drawing/2014/main" id="{8DF441A5-8667-0F60-3985-2015510790B9}"/>
                </a:ext>
              </a:extLst>
            </p:cNvPr>
            <p:cNvCxnSpPr>
              <a:stCxn id="12" idx="2"/>
              <a:endCxn id="16" idx="0"/>
            </p:cNvCxnSpPr>
            <p:nvPr/>
          </p:nvCxnSpPr>
          <p:spPr>
            <a:xfrm rot="16200000" flipH="1">
              <a:off x="6528428" y="898993"/>
              <a:ext cx="657758" cy="109866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Connector: Elbow 24">
              <a:extLst>
                <a:ext uri="{FF2B5EF4-FFF2-40B4-BE49-F238E27FC236}">
                  <a16:creationId xmlns:a16="http://schemas.microsoft.com/office/drawing/2014/main" id="{DD5885D1-8E1D-FECB-1042-322B5C65CD70}"/>
                </a:ext>
              </a:extLst>
            </p:cNvPr>
            <p:cNvCxnSpPr>
              <a:cxnSpLocks/>
              <a:stCxn id="14" idx="2"/>
              <a:endCxn id="16" idx="0"/>
            </p:cNvCxnSpPr>
            <p:nvPr/>
          </p:nvCxnSpPr>
          <p:spPr>
            <a:xfrm rot="5400000">
              <a:off x="7611160" y="914927"/>
              <a:ext cx="657758" cy="1066798"/>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nector: Elbow 31">
              <a:extLst>
                <a:ext uri="{FF2B5EF4-FFF2-40B4-BE49-F238E27FC236}">
                  <a16:creationId xmlns:a16="http://schemas.microsoft.com/office/drawing/2014/main" id="{CDC38C43-2845-6559-60A3-D37DBBAC87AB}"/>
                </a:ext>
              </a:extLst>
            </p:cNvPr>
            <p:cNvCxnSpPr>
              <a:stCxn id="16" idx="2"/>
              <a:endCxn id="18" idx="0"/>
            </p:cNvCxnSpPr>
            <p:nvPr/>
          </p:nvCxnSpPr>
          <p:spPr>
            <a:xfrm rot="16200000" flipH="1">
              <a:off x="7717821" y="2075624"/>
              <a:ext cx="549500" cy="117186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Connector: Elbow 32">
              <a:extLst>
                <a:ext uri="{FF2B5EF4-FFF2-40B4-BE49-F238E27FC236}">
                  <a16:creationId xmlns:a16="http://schemas.microsoft.com/office/drawing/2014/main" id="{167F6B2E-8B79-C305-670F-4461C6E8D424}"/>
                </a:ext>
              </a:extLst>
            </p:cNvPr>
            <p:cNvCxnSpPr>
              <a:cxnSpLocks/>
              <a:stCxn id="17" idx="2"/>
              <a:endCxn id="18" idx="0"/>
            </p:cNvCxnSpPr>
            <p:nvPr/>
          </p:nvCxnSpPr>
          <p:spPr>
            <a:xfrm rot="5400000">
              <a:off x="8896827" y="2068480"/>
              <a:ext cx="549500" cy="118615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Connector: Elbow 35">
              <a:extLst>
                <a:ext uri="{FF2B5EF4-FFF2-40B4-BE49-F238E27FC236}">
                  <a16:creationId xmlns:a16="http://schemas.microsoft.com/office/drawing/2014/main" id="{3C0FA1DC-9CC4-411A-330C-1DC93787B08A}"/>
                </a:ext>
              </a:extLst>
            </p:cNvPr>
            <p:cNvCxnSpPr>
              <a:cxnSpLocks/>
              <a:stCxn id="19" idx="2"/>
              <a:endCxn id="20" idx="0"/>
            </p:cNvCxnSpPr>
            <p:nvPr/>
          </p:nvCxnSpPr>
          <p:spPr>
            <a:xfrm rot="5400000">
              <a:off x="10122045" y="3155293"/>
              <a:ext cx="464240" cy="1245464"/>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Connector: Elbow 40">
              <a:extLst>
                <a:ext uri="{FF2B5EF4-FFF2-40B4-BE49-F238E27FC236}">
                  <a16:creationId xmlns:a16="http://schemas.microsoft.com/office/drawing/2014/main" id="{A2E58EFA-A31D-F6DD-57C1-A4DAD20EEEA6}"/>
                </a:ext>
              </a:extLst>
            </p:cNvPr>
            <p:cNvCxnSpPr>
              <a:cxnSpLocks/>
              <a:stCxn id="18" idx="2"/>
              <a:endCxn id="20" idx="0"/>
            </p:cNvCxnSpPr>
            <p:nvPr/>
          </p:nvCxnSpPr>
          <p:spPr>
            <a:xfrm rot="16200000" flipH="1">
              <a:off x="8922847" y="3201559"/>
              <a:ext cx="464240" cy="115293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63294DC3-E0FD-2B37-D4B1-A1FD72F6D7CD}"/>
                </a:ext>
              </a:extLst>
            </p:cNvPr>
            <p:cNvCxnSpPr>
              <a:stCxn id="20" idx="2"/>
              <a:endCxn id="21" idx="0"/>
            </p:cNvCxnSpPr>
            <p:nvPr/>
          </p:nvCxnSpPr>
          <p:spPr>
            <a:xfrm>
              <a:off x="9731433" y="4619745"/>
              <a:ext cx="0" cy="3949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7722A127-126B-3508-6A7F-17AEDDFF961A}"/>
                </a:ext>
              </a:extLst>
            </p:cNvPr>
            <p:cNvCxnSpPr>
              <a:stCxn id="21" idx="2"/>
              <a:endCxn id="22" idx="0"/>
            </p:cNvCxnSpPr>
            <p:nvPr/>
          </p:nvCxnSpPr>
          <p:spPr>
            <a:xfrm flipH="1">
              <a:off x="9731432" y="5624307"/>
              <a:ext cx="1" cy="3949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52" name="TextBox 51">
            <a:extLst>
              <a:ext uri="{FF2B5EF4-FFF2-40B4-BE49-F238E27FC236}">
                <a16:creationId xmlns:a16="http://schemas.microsoft.com/office/drawing/2014/main" id="{6543303B-D322-BE36-6097-331060D18163}"/>
              </a:ext>
            </a:extLst>
          </p:cNvPr>
          <p:cNvSpPr txBox="1"/>
          <p:nvPr/>
        </p:nvSpPr>
        <p:spPr>
          <a:xfrm>
            <a:off x="592867" y="1892979"/>
            <a:ext cx="5269297" cy="4277068"/>
          </a:xfrm>
          <a:prstGeom prst="rect">
            <a:avLst/>
          </a:prstGeom>
          <a:noFill/>
        </p:spPr>
        <p:txBody>
          <a:bodyPr wrap="square">
            <a:spAutoFit/>
          </a:bodyPr>
          <a:lstStyle/>
          <a:p>
            <a:pPr marL="342900" indent="-342900" algn="just">
              <a:lnSpc>
                <a:spcPct val="150000"/>
              </a:lnSpc>
              <a:spcAft>
                <a:spcPts val="600"/>
              </a:spcAft>
              <a:buFont typeface="Arial" panose="020B0604020202020204" pitchFamily="34" charset="0"/>
              <a:buChar char="•"/>
            </a:pPr>
            <a:r>
              <a:rPr lang="en-US" sz="2000" dirty="0" err="1">
                <a:solidFill>
                  <a:schemeClr val="bg1"/>
                </a:solidFill>
              </a:rPr>
              <a:t>aslr_demo.c</a:t>
            </a:r>
            <a:r>
              <a:rPr lang="en-US" sz="2000" dirty="0">
                <a:solidFill>
                  <a:schemeClr val="bg1"/>
                </a:solidFill>
              </a:rPr>
              <a:t>:</a:t>
            </a:r>
          </a:p>
          <a:p>
            <a:pPr marL="800100" lvl="1" indent="-342900" algn="just">
              <a:lnSpc>
                <a:spcPct val="150000"/>
              </a:lnSpc>
              <a:spcAft>
                <a:spcPts val="600"/>
              </a:spcAft>
              <a:buFont typeface="Courier New" panose="02070309020205020404" pitchFamily="49" charset="0"/>
              <a:buChar char="o"/>
            </a:pPr>
            <a:r>
              <a:rPr lang="en-US" sz="2000" dirty="0" err="1">
                <a:solidFill>
                  <a:schemeClr val="bg1"/>
                </a:solidFill>
              </a:rPr>
              <a:t>Chứa</a:t>
            </a:r>
            <a:r>
              <a:rPr lang="en-US" sz="2000" dirty="0">
                <a:solidFill>
                  <a:schemeClr val="bg1"/>
                </a:solidFill>
              </a:rPr>
              <a:t> </a:t>
            </a:r>
            <a:r>
              <a:rPr lang="en-US" sz="2000" dirty="0" err="1">
                <a:solidFill>
                  <a:schemeClr val="bg1"/>
                </a:solidFill>
              </a:rPr>
              <a:t>lỗ</a:t>
            </a:r>
            <a:r>
              <a:rPr lang="en-US" sz="2000" dirty="0">
                <a:solidFill>
                  <a:schemeClr val="bg1"/>
                </a:solidFill>
              </a:rPr>
              <a:t> </a:t>
            </a:r>
            <a:r>
              <a:rPr lang="en-US" sz="2000" dirty="0" err="1">
                <a:solidFill>
                  <a:schemeClr val="bg1"/>
                </a:solidFill>
              </a:rPr>
              <a:t>hổng</a:t>
            </a:r>
            <a:r>
              <a:rPr lang="en-US" sz="2000" dirty="0">
                <a:solidFill>
                  <a:schemeClr val="bg1"/>
                </a:solidFill>
              </a:rPr>
              <a:t> buffer overflow</a:t>
            </a:r>
          </a:p>
          <a:p>
            <a:pPr marL="800100" lvl="1" indent="-342900" algn="just">
              <a:lnSpc>
                <a:spcPct val="150000"/>
              </a:lnSpc>
              <a:spcAft>
                <a:spcPts val="600"/>
              </a:spcAft>
              <a:buFont typeface="Courier New" panose="02070309020205020404" pitchFamily="49" charset="0"/>
              <a:buChar char="o"/>
            </a:pPr>
            <a:r>
              <a:rPr lang="en-US" sz="2000" dirty="0">
                <a:solidFill>
                  <a:schemeClr val="bg1"/>
                </a:solidFill>
              </a:rPr>
              <a:t>In </a:t>
            </a:r>
            <a:r>
              <a:rPr lang="en-US" sz="2000" dirty="0" err="1">
                <a:solidFill>
                  <a:schemeClr val="bg1"/>
                </a:solidFill>
              </a:rPr>
              <a:t>địa</a:t>
            </a:r>
            <a:r>
              <a:rPr lang="en-US" sz="2000" dirty="0">
                <a:solidFill>
                  <a:schemeClr val="bg1"/>
                </a:solidFill>
              </a:rPr>
              <a:t> </a:t>
            </a:r>
            <a:r>
              <a:rPr lang="en-US" sz="2000" dirty="0" err="1">
                <a:solidFill>
                  <a:schemeClr val="bg1"/>
                </a:solidFill>
              </a:rPr>
              <a:t>chỉ</a:t>
            </a:r>
            <a:r>
              <a:rPr lang="en-US" sz="2000" dirty="0">
                <a:solidFill>
                  <a:schemeClr val="bg1"/>
                </a:solidFill>
              </a:rPr>
              <a:t>: main, </a:t>
            </a:r>
            <a:r>
              <a:rPr lang="en-US" sz="2000" dirty="0" err="1">
                <a:solidFill>
                  <a:schemeClr val="bg1"/>
                </a:solidFill>
              </a:rPr>
              <a:t>printf</a:t>
            </a:r>
            <a:r>
              <a:rPr lang="en-US" sz="2000" dirty="0">
                <a:solidFill>
                  <a:schemeClr val="bg1"/>
                </a:solidFill>
              </a:rPr>
              <a:t>, buffer, heap</a:t>
            </a:r>
          </a:p>
          <a:p>
            <a:pPr marL="342900" indent="-342900" algn="just">
              <a:lnSpc>
                <a:spcPct val="150000"/>
              </a:lnSpc>
              <a:spcAft>
                <a:spcPts val="600"/>
              </a:spcAft>
              <a:buFont typeface="Arial" panose="020B0604020202020204" pitchFamily="34" charset="0"/>
              <a:buChar char="•"/>
            </a:pPr>
            <a:r>
              <a:rPr lang="en-US" sz="2000" dirty="0">
                <a:solidFill>
                  <a:schemeClr val="bg1"/>
                </a:solidFill>
              </a:rPr>
              <a:t>Build </a:t>
            </a:r>
            <a:r>
              <a:rPr lang="en-US" sz="2000" dirty="0" err="1">
                <a:solidFill>
                  <a:schemeClr val="bg1"/>
                </a:solidFill>
              </a:rPr>
              <a:t>nhiều</a:t>
            </a:r>
            <a:r>
              <a:rPr lang="en-US" sz="2000" dirty="0">
                <a:solidFill>
                  <a:schemeClr val="bg1"/>
                </a:solidFill>
              </a:rPr>
              <a:t> </a:t>
            </a:r>
            <a:r>
              <a:rPr lang="en-US" sz="2000" dirty="0" err="1">
                <a:solidFill>
                  <a:schemeClr val="bg1"/>
                </a:solidFill>
              </a:rPr>
              <a:t>phiên</a:t>
            </a:r>
            <a:r>
              <a:rPr lang="en-US" sz="2000" dirty="0">
                <a:solidFill>
                  <a:schemeClr val="bg1"/>
                </a:solidFill>
              </a:rPr>
              <a:t> </a:t>
            </a:r>
            <a:r>
              <a:rPr lang="en-US" sz="2000" dirty="0" err="1">
                <a:solidFill>
                  <a:schemeClr val="bg1"/>
                </a:solidFill>
              </a:rPr>
              <a:t>bản</a:t>
            </a:r>
            <a:r>
              <a:rPr lang="en-US" sz="2000" dirty="0">
                <a:solidFill>
                  <a:schemeClr val="bg1"/>
                </a:solidFill>
              </a:rPr>
              <a:t>:</a:t>
            </a:r>
          </a:p>
          <a:p>
            <a:pPr marL="800100" lvl="1" indent="-342900" algn="just">
              <a:lnSpc>
                <a:spcPct val="150000"/>
              </a:lnSpc>
              <a:spcAft>
                <a:spcPts val="600"/>
              </a:spcAft>
              <a:buFont typeface="Courier New" panose="02070309020205020404" pitchFamily="49" charset="0"/>
              <a:buChar char="o"/>
            </a:pPr>
            <a:r>
              <a:rPr lang="en-US" sz="2000" dirty="0" err="1">
                <a:solidFill>
                  <a:schemeClr val="bg1"/>
                </a:solidFill>
              </a:rPr>
              <a:t>aslr_demo</a:t>
            </a:r>
            <a:r>
              <a:rPr lang="en-US" sz="2000" dirty="0">
                <a:solidFill>
                  <a:schemeClr val="bg1"/>
                </a:solidFill>
              </a:rPr>
              <a:t> (no-PIE)</a:t>
            </a:r>
          </a:p>
          <a:p>
            <a:pPr marL="800100" lvl="1" indent="-342900" algn="just">
              <a:lnSpc>
                <a:spcPct val="150000"/>
              </a:lnSpc>
              <a:spcAft>
                <a:spcPts val="600"/>
              </a:spcAft>
              <a:buFont typeface="Courier New" panose="02070309020205020404" pitchFamily="49" charset="0"/>
              <a:buChar char="o"/>
            </a:pPr>
            <a:r>
              <a:rPr lang="en-US" sz="2000" dirty="0" err="1">
                <a:solidFill>
                  <a:schemeClr val="bg1"/>
                </a:solidFill>
              </a:rPr>
              <a:t>aslr_demo_pie</a:t>
            </a:r>
            <a:r>
              <a:rPr lang="en-US" sz="2000" dirty="0">
                <a:solidFill>
                  <a:schemeClr val="bg1"/>
                </a:solidFill>
              </a:rPr>
              <a:t> (PIE)</a:t>
            </a:r>
          </a:p>
          <a:p>
            <a:pPr marL="800100" lvl="1" indent="-342900" algn="just">
              <a:lnSpc>
                <a:spcPct val="150000"/>
              </a:lnSpc>
              <a:spcAft>
                <a:spcPts val="600"/>
              </a:spcAft>
              <a:buFont typeface="Courier New" panose="02070309020205020404" pitchFamily="49" charset="0"/>
              <a:buChar char="o"/>
            </a:pPr>
            <a:r>
              <a:rPr lang="en-US" sz="2000" dirty="0" err="1">
                <a:solidFill>
                  <a:schemeClr val="bg1"/>
                </a:solidFill>
              </a:rPr>
              <a:t>aslr_demo_nx</a:t>
            </a:r>
            <a:r>
              <a:rPr lang="en-US" sz="2000" dirty="0">
                <a:solidFill>
                  <a:schemeClr val="bg1"/>
                </a:solidFill>
              </a:rPr>
              <a:t> (NX)</a:t>
            </a:r>
          </a:p>
          <a:p>
            <a:pPr algn="just">
              <a:lnSpc>
                <a:spcPct val="150000"/>
              </a:lnSpc>
              <a:spcAft>
                <a:spcPts val="600"/>
              </a:spcAft>
            </a:pPr>
            <a:r>
              <a:rPr lang="en-US" sz="2000" b="1" dirty="0">
                <a:solidFill>
                  <a:schemeClr val="bg1"/>
                </a:solidFill>
              </a:rPr>
              <a:t>⇒ Cho </a:t>
            </a:r>
            <a:r>
              <a:rPr lang="en-US" sz="2000" b="1" dirty="0" err="1">
                <a:solidFill>
                  <a:schemeClr val="bg1"/>
                </a:solidFill>
              </a:rPr>
              <a:t>phép</a:t>
            </a:r>
            <a:r>
              <a:rPr lang="en-US" sz="2000" b="1" dirty="0">
                <a:solidFill>
                  <a:schemeClr val="bg1"/>
                </a:solidFill>
              </a:rPr>
              <a:t> so </a:t>
            </a:r>
            <a:r>
              <a:rPr lang="en-US" sz="2000" b="1" dirty="0" err="1">
                <a:solidFill>
                  <a:schemeClr val="bg1"/>
                </a:solidFill>
              </a:rPr>
              <a:t>sánh</a:t>
            </a:r>
            <a:r>
              <a:rPr lang="en-US" sz="2000" b="1" dirty="0">
                <a:solidFill>
                  <a:schemeClr val="bg1"/>
                </a:solidFill>
              </a:rPr>
              <a:t> </a:t>
            </a:r>
            <a:r>
              <a:rPr lang="en-US" sz="2000" b="1" dirty="0" err="1">
                <a:solidFill>
                  <a:schemeClr val="bg1"/>
                </a:solidFill>
              </a:rPr>
              <a:t>các</a:t>
            </a:r>
            <a:r>
              <a:rPr lang="en-US" sz="2000" b="1" dirty="0">
                <a:solidFill>
                  <a:schemeClr val="bg1"/>
                </a:solidFill>
              </a:rPr>
              <a:t> </a:t>
            </a:r>
            <a:r>
              <a:rPr lang="en-US" sz="2000" b="1" dirty="0" err="1">
                <a:solidFill>
                  <a:schemeClr val="bg1"/>
                </a:solidFill>
              </a:rPr>
              <a:t>cơ</a:t>
            </a:r>
            <a:r>
              <a:rPr lang="en-US" sz="2000" b="1" dirty="0">
                <a:solidFill>
                  <a:schemeClr val="bg1"/>
                </a:solidFill>
              </a:rPr>
              <a:t> </a:t>
            </a:r>
            <a:r>
              <a:rPr lang="en-US" sz="2000" b="1" dirty="0" err="1">
                <a:solidFill>
                  <a:schemeClr val="bg1"/>
                </a:solidFill>
              </a:rPr>
              <a:t>chế</a:t>
            </a:r>
            <a:r>
              <a:rPr lang="en-US" sz="2000" b="1" dirty="0">
                <a:solidFill>
                  <a:schemeClr val="bg1"/>
                </a:solidFill>
              </a:rPr>
              <a:t> </a:t>
            </a:r>
            <a:r>
              <a:rPr lang="en-US" sz="2000" b="1" dirty="0" err="1">
                <a:solidFill>
                  <a:schemeClr val="bg1"/>
                </a:solidFill>
              </a:rPr>
              <a:t>bảo</a:t>
            </a:r>
            <a:r>
              <a:rPr lang="en-US" sz="2000" b="1" dirty="0">
                <a:solidFill>
                  <a:schemeClr val="bg1"/>
                </a:solidFill>
              </a:rPr>
              <a:t> </a:t>
            </a:r>
            <a:r>
              <a:rPr lang="en-US" sz="2000" b="1" dirty="0" err="1">
                <a:solidFill>
                  <a:schemeClr val="bg1"/>
                </a:solidFill>
              </a:rPr>
              <a:t>vệ</a:t>
            </a:r>
            <a:endParaRPr lang="en-US" sz="2000" b="1" dirty="0">
              <a:solidFill>
                <a:schemeClr val="bg1"/>
              </a:solidFill>
            </a:endParaRPr>
          </a:p>
        </p:txBody>
      </p:sp>
    </p:spTree>
    <p:extLst>
      <p:ext uri="{BB962C8B-B14F-4D97-AF65-F5344CB8AC3E}">
        <p14:creationId xmlns:p14="http://schemas.microsoft.com/office/powerpoint/2010/main" val="3151158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5CBB6-9A9F-D1A1-2108-C0C8C87B6B9D}"/>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295AF34-D5CF-BF2D-A23E-460F89320A1C}"/>
              </a:ext>
            </a:extLst>
          </p:cNvPr>
          <p:cNvSpPr/>
          <p:nvPr/>
        </p:nvSpPr>
        <p:spPr>
          <a:xfrm>
            <a:off x="1331604" y="4396805"/>
            <a:ext cx="9528791" cy="2461195"/>
          </a:xfrm>
          <a:prstGeom prst="rect">
            <a:avLst/>
          </a:prstGeom>
          <a:solidFill>
            <a:srgbClr val="C5C5C5"/>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latin typeface="Segoe UI" panose="020B0502040204020203" pitchFamily="34" charset="0"/>
              <a:cs typeface="Segoe UI" panose="020B0502040204020203" pitchFamily="34" charset="0"/>
            </a:endParaRPr>
          </a:p>
        </p:txBody>
      </p:sp>
      <p:grpSp>
        <p:nvGrpSpPr>
          <p:cNvPr id="4" name="Group 3">
            <a:extLst>
              <a:ext uri="{FF2B5EF4-FFF2-40B4-BE49-F238E27FC236}">
                <a16:creationId xmlns:a16="http://schemas.microsoft.com/office/drawing/2014/main" id="{73C53205-7C13-9C46-4FE8-C906084BA64B}"/>
              </a:ext>
            </a:extLst>
          </p:cNvPr>
          <p:cNvGrpSpPr/>
          <p:nvPr/>
        </p:nvGrpSpPr>
        <p:grpSpPr>
          <a:xfrm>
            <a:off x="-19878" y="788664"/>
            <a:ext cx="12191999" cy="366174"/>
            <a:chOff x="1" y="6307500"/>
            <a:chExt cx="12191999" cy="366174"/>
          </a:xfrm>
          <a:effectLst>
            <a:glow rad="63500">
              <a:schemeClr val="accent1">
                <a:satMod val="175000"/>
                <a:alpha val="40000"/>
              </a:schemeClr>
            </a:glow>
          </a:effectLst>
        </p:grpSpPr>
        <p:sp>
          <p:nvSpPr>
            <p:cNvPr id="5" name="AutoShape 37">
              <a:extLst>
                <a:ext uri="{FF2B5EF4-FFF2-40B4-BE49-F238E27FC236}">
                  <a16:creationId xmlns:a16="http://schemas.microsoft.com/office/drawing/2014/main" id="{ADC66A28-A120-99B1-DB1C-DA10618AEF68}"/>
                </a:ext>
              </a:extLst>
            </p:cNvPr>
            <p:cNvSpPr/>
            <p:nvPr/>
          </p:nvSpPr>
          <p:spPr>
            <a:xfrm>
              <a:off x="1" y="6646250"/>
              <a:ext cx="9413932"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6" name="AutoShape 38">
              <a:extLst>
                <a:ext uri="{FF2B5EF4-FFF2-40B4-BE49-F238E27FC236}">
                  <a16:creationId xmlns:a16="http://schemas.microsoft.com/office/drawing/2014/main" id="{84585842-5F06-9E84-6380-B28C28A2B280}"/>
                </a:ext>
              </a:extLst>
            </p:cNvPr>
            <p:cNvSpPr/>
            <p:nvPr/>
          </p:nvSpPr>
          <p:spPr>
            <a:xfrm rot="18000001">
              <a:off x="9315823" y="6490587"/>
              <a:ext cx="366174"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7" name="AutoShape 40">
              <a:extLst>
                <a:ext uri="{FF2B5EF4-FFF2-40B4-BE49-F238E27FC236}">
                  <a16:creationId xmlns:a16="http://schemas.microsoft.com/office/drawing/2014/main" id="{6951CDF2-4E09-93D0-EF6D-AC8B81657FFF}"/>
                </a:ext>
              </a:extLst>
            </p:cNvPr>
            <p:cNvSpPr/>
            <p:nvPr/>
          </p:nvSpPr>
          <p:spPr>
            <a:xfrm>
              <a:off x="9584694" y="6332029"/>
              <a:ext cx="2607306" cy="0"/>
            </a:xfrm>
            <a:prstGeom prst="line">
              <a:avLst/>
            </a:prstGeom>
            <a:ln w="19050" cap="flat">
              <a:solidFill>
                <a:srgbClr val="6DB1CC">
                  <a:alpha val="80000"/>
                </a:srgbClr>
              </a:solidFill>
              <a:prstDash val="solid"/>
              <a:headEnd type="none" w="sm" len="sm"/>
              <a:tailEnd type="none" w="sm" len="sm"/>
            </a:ln>
          </p:spPr>
          <p:txBody>
            <a:bodyPr/>
            <a:lstStyle/>
            <a:p>
              <a:endParaRPr lang="en-US"/>
            </a:p>
          </p:txBody>
        </p:sp>
      </p:grpSp>
      <p:sp>
        <p:nvSpPr>
          <p:cNvPr id="8" name="Rectangle 7">
            <a:extLst>
              <a:ext uri="{FF2B5EF4-FFF2-40B4-BE49-F238E27FC236}">
                <a16:creationId xmlns:a16="http://schemas.microsoft.com/office/drawing/2014/main" id="{33B5C9B1-2CA6-22D1-5B5D-7EB4BA7C8072}"/>
              </a:ext>
            </a:extLst>
          </p:cNvPr>
          <p:cNvSpPr/>
          <p:nvPr/>
        </p:nvSpPr>
        <p:spPr>
          <a:xfrm>
            <a:off x="647481" y="463478"/>
            <a:ext cx="8142621" cy="593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3400" b="1" dirty="0">
                <a:solidFill>
                  <a:srgbClr val="6DB1CC"/>
                </a:solidFill>
                <a:latin typeface="Segoe UI" panose="020B0502040204020203" pitchFamily="34" charset="0"/>
                <a:cs typeface="Segoe UI" panose="020B0502040204020203" pitchFamily="34" charset="0"/>
              </a:rPr>
              <a:t>LUỒNG THỰC THI</a:t>
            </a:r>
          </a:p>
        </p:txBody>
      </p:sp>
      <p:pic>
        <p:nvPicPr>
          <p:cNvPr id="9" name="Picture 8" descr="Ý nghĩa logo Đại học Công nghệ Tp.HCM (HUTECH)">
            <a:extLst>
              <a:ext uri="{FF2B5EF4-FFF2-40B4-BE49-F238E27FC236}">
                <a16:creationId xmlns:a16="http://schemas.microsoft.com/office/drawing/2014/main" id="{F70FEF71-A905-457E-820F-77A3255793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8096" y="159827"/>
            <a:ext cx="1817203" cy="582783"/>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E93D7459-266B-AFCE-1372-107D2F0A744E}"/>
              </a:ext>
            </a:extLst>
          </p:cNvPr>
          <p:cNvPicPr>
            <a:picLocks noChangeAspect="1"/>
          </p:cNvPicPr>
          <p:nvPr/>
        </p:nvPicPr>
        <p:blipFill>
          <a:blip r:embed="rId3"/>
          <a:stretch>
            <a:fillRect/>
          </a:stretch>
        </p:blipFill>
        <p:spPr>
          <a:xfrm>
            <a:off x="1331604" y="1661522"/>
            <a:ext cx="9528791" cy="2347584"/>
          </a:xfrm>
          <a:prstGeom prst="rect">
            <a:avLst/>
          </a:prstGeom>
        </p:spPr>
      </p:pic>
      <p:sp>
        <p:nvSpPr>
          <p:cNvPr id="3" name="TextBox 2">
            <a:extLst>
              <a:ext uri="{FF2B5EF4-FFF2-40B4-BE49-F238E27FC236}">
                <a16:creationId xmlns:a16="http://schemas.microsoft.com/office/drawing/2014/main" id="{367A9571-E549-CA8D-E91A-64EBC3D1C6B3}"/>
              </a:ext>
            </a:extLst>
          </p:cNvPr>
          <p:cNvSpPr txBox="1"/>
          <p:nvPr/>
        </p:nvSpPr>
        <p:spPr>
          <a:xfrm>
            <a:off x="1789042" y="4587120"/>
            <a:ext cx="8613913" cy="1971565"/>
          </a:xfrm>
          <a:prstGeom prst="rect">
            <a:avLst/>
          </a:prstGeom>
          <a:noFill/>
        </p:spPr>
        <p:txBody>
          <a:bodyPr wrap="square">
            <a:spAutoFit/>
          </a:bodyPr>
          <a:lstStyle/>
          <a:p>
            <a:pPr algn="just">
              <a:lnSpc>
                <a:spcPct val="150000"/>
              </a:lnSpc>
              <a:spcAft>
                <a:spcPts val="600"/>
              </a:spcAft>
            </a:pPr>
            <a:r>
              <a:rPr lang="en-US" sz="2000" b="1" dirty="0" err="1"/>
              <a:t>Chương</a:t>
            </a:r>
            <a:r>
              <a:rPr lang="en-US" sz="2000" b="1" dirty="0"/>
              <a:t> </a:t>
            </a:r>
            <a:r>
              <a:rPr lang="en-US" sz="2000" b="1" dirty="0" err="1"/>
              <a:t>trình</a:t>
            </a:r>
            <a:r>
              <a:rPr lang="en-US" sz="2000" b="1" dirty="0"/>
              <a:t> in </a:t>
            </a:r>
            <a:r>
              <a:rPr lang="en-US" sz="2000" b="1" dirty="0" err="1"/>
              <a:t>ra</a:t>
            </a:r>
            <a:r>
              <a:rPr lang="en-US" sz="2000" b="1" dirty="0"/>
              <a:t>: </a:t>
            </a:r>
            <a:r>
              <a:rPr lang="en-US" sz="2000" dirty="0"/>
              <a:t>main (code), </a:t>
            </a:r>
            <a:r>
              <a:rPr lang="en-US" sz="2000" dirty="0" err="1"/>
              <a:t>printf</a:t>
            </a:r>
            <a:r>
              <a:rPr lang="en-US" sz="2000" dirty="0"/>
              <a:t> (</a:t>
            </a:r>
            <a:r>
              <a:rPr lang="en-US" sz="2000" dirty="0" err="1"/>
              <a:t>libc</a:t>
            </a:r>
            <a:r>
              <a:rPr lang="en-US" sz="2000" dirty="0"/>
              <a:t>), buffer (stack), heap</a:t>
            </a:r>
          </a:p>
          <a:p>
            <a:pPr algn="just">
              <a:lnSpc>
                <a:spcPct val="150000"/>
              </a:lnSpc>
            </a:pPr>
            <a:r>
              <a:rPr lang="en-US" sz="2000" b="1" dirty="0" err="1"/>
              <a:t>Mục</a:t>
            </a:r>
            <a:r>
              <a:rPr lang="en-US" sz="2000" b="1" dirty="0"/>
              <a:t> </a:t>
            </a:r>
            <a:r>
              <a:rPr lang="en-US" sz="2000" b="1" dirty="0" err="1"/>
              <a:t>đích</a:t>
            </a:r>
            <a:r>
              <a:rPr lang="en-US" sz="2000" b="1" dirty="0"/>
              <a:t>: </a:t>
            </a:r>
          </a:p>
          <a:p>
            <a:pPr marL="342900" indent="-342900" algn="just">
              <a:lnSpc>
                <a:spcPct val="150000"/>
              </a:lnSpc>
              <a:buFont typeface="Arial" panose="020B0604020202020204" pitchFamily="34" charset="0"/>
              <a:buChar char="•"/>
            </a:pPr>
            <a:r>
              <a:rPr lang="en-US" sz="2000" dirty="0"/>
              <a:t>Quan </a:t>
            </a:r>
            <a:r>
              <a:rPr lang="en-US" sz="2000" dirty="0" err="1"/>
              <a:t>sát</a:t>
            </a:r>
            <a:r>
              <a:rPr lang="en-US" sz="2000" dirty="0"/>
              <a:t> ASLR </a:t>
            </a:r>
          </a:p>
          <a:p>
            <a:pPr marL="342900" indent="-342900" algn="just">
              <a:lnSpc>
                <a:spcPct val="150000"/>
              </a:lnSpc>
              <a:buFont typeface="Arial" panose="020B0604020202020204" pitchFamily="34" charset="0"/>
              <a:buChar char="•"/>
            </a:pPr>
            <a:r>
              <a:rPr lang="en-US" sz="2000" dirty="0" err="1"/>
              <a:t>Dùng</a:t>
            </a:r>
            <a:r>
              <a:rPr lang="en-US" sz="2000" dirty="0"/>
              <a:t> leak </a:t>
            </a:r>
            <a:r>
              <a:rPr lang="en-US" sz="2000" dirty="0" err="1"/>
              <a:t>để</a:t>
            </a:r>
            <a:r>
              <a:rPr lang="en-US" sz="2000" dirty="0"/>
              <a:t> bypass exploit</a:t>
            </a:r>
          </a:p>
        </p:txBody>
      </p:sp>
    </p:spTree>
    <p:extLst>
      <p:ext uri="{BB962C8B-B14F-4D97-AF65-F5344CB8AC3E}">
        <p14:creationId xmlns:p14="http://schemas.microsoft.com/office/powerpoint/2010/main" val="42540922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4E204-0C1F-A470-D59A-F1A1DFD98C3D}"/>
            </a:ext>
          </a:extLst>
        </p:cNvPr>
        <p:cNvGrpSpPr/>
        <p:nvPr/>
      </p:nvGrpSpPr>
      <p:grpSpPr>
        <a:xfrm>
          <a:off x="0" y="0"/>
          <a:ext cx="0" cy="0"/>
          <a:chOff x="0" y="0"/>
          <a:chExt cx="0" cy="0"/>
        </a:xfrm>
      </p:grpSpPr>
      <p:pic>
        <p:nvPicPr>
          <p:cNvPr id="9" name="Picture 8" descr="Ý nghĩa logo Đại học Công nghệ Tp.HCM (HUTECH)">
            <a:extLst>
              <a:ext uri="{FF2B5EF4-FFF2-40B4-BE49-F238E27FC236}">
                <a16:creationId xmlns:a16="http://schemas.microsoft.com/office/drawing/2014/main" id="{143DBDE9-64BC-CE10-14B0-A298A08E08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8096" y="159827"/>
            <a:ext cx="1817203" cy="582783"/>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E33B80F5-A8B8-5C74-6C6A-727F4723454F}"/>
              </a:ext>
            </a:extLst>
          </p:cNvPr>
          <p:cNvSpPr/>
          <p:nvPr/>
        </p:nvSpPr>
        <p:spPr>
          <a:xfrm>
            <a:off x="331595" y="2849369"/>
            <a:ext cx="2805306" cy="115925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0"/>
              </a:spcBef>
            </a:pPr>
            <a:r>
              <a:rPr lang="en-US" sz="3400" b="1" dirty="0">
                <a:solidFill>
                  <a:srgbClr val="6DB1CC"/>
                </a:solidFill>
                <a:latin typeface="Segoe UI" panose="020B0502040204020203" pitchFamily="34" charset="0"/>
                <a:cs typeface="Segoe UI" panose="020B0502040204020203" pitchFamily="34" charset="0"/>
              </a:rPr>
              <a:t>CÔNG NGHỆ</a:t>
            </a:r>
          </a:p>
          <a:p>
            <a:pPr>
              <a:spcBef>
                <a:spcPts val="600"/>
              </a:spcBef>
            </a:pPr>
            <a:r>
              <a:rPr lang="en-US" sz="3400" b="1" dirty="0">
                <a:solidFill>
                  <a:srgbClr val="6DB1CC"/>
                </a:solidFill>
                <a:latin typeface="Segoe UI" panose="020B0502040204020203" pitchFamily="34" charset="0"/>
                <a:cs typeface="Segoe UI" panose="020B0502040204020203" pitchFamily="34" charset="0"/>
              </a:rPr>
              <a:t>SỬ DỤNG</a:t>
            </a:r>
          </a:p>
        </p:txBody>
      </p:sp>
      <p:graphicFrame>
        <p:nvGraphicFramePr>
          <p:cNvPr id="17" name="Table 16">
            <a:extLst>
              <a:ext uri="{FF2B5EF4-FFF2-40B4-BE49-F238E27FC236}">
                <a16:creationId xmlns:a16="http://schemas.microsoft.com/office/drawing/2014/main" id="{172D9786-B745-089F-97B7-B630DF19682B}"/>
              </a:ext>
            </a:extLst>
          </p:cNvPr>
          <p:cNvGraphicFramePr>
            <a:graphicFrameLocks noGrp="1"/>
          </p:cNvGraphicFramePr>
          <p:nvPr>
            <p:extLst>
              <p:ext uri="{D42A27DB-BD31-4B8C-83A1-F6EECF244321}">
                <p14:modId xmlns:p14="http://schemas.microsoft.com/office/powerpoint/2010/main" val="1628879725"/>
              </p:ext>
            </p:extLst>
          </p:nvPr>
        </p:nvGraphicFramePr>
        <p:xfrm>
          <a:off x="3519294" y="1468705"/>
          <a:ext cx="8050405" cy="3920586"/>
        </p:xfrm>
        <a:graphic>
          <a:graphicData uri="http://schemas.openxmlformats.org/drawingml/2006/table">
            <a:tbl>
              <a:tblPr firstRow="1" bandRow="1">
                <a:tableStyleId>{5C22544A-7EE6-4342-B048-85BDC9FD1C3A}</a:tableStyleId>
              </a:tblPr>
              <a:tblGrid>
                <a:gridCol w="1661827">
                  <a:extLst>
                    <a:ext uri="{9D8B030D-6E8A-4147-A177-3AD203B41FA5}">
                      <a16:colId xmlns:a16="http://schemas.microsoft.com/office/drawing/2014/main" val="2480779245"/>
                    </a:ext>
                  </a:extLst>
                </a:gridCol>
                <a:gridCol w="6388578">
                  <a:extLst>
                    <a:ext uri="{9D8B030D-6E8A-4147-A177-3AD203B41FA5}">
                      <a16:colId xmlns:a16="http://schemas.microsoft.com/office/drawing/2014/main" val="170498205"/>
                    </a:ext>
                  </a:extLst>
                </a:gridCol>
              </a:tblGrid>
              <a:tr h="419853">
                <a:tc>
                  <a:txBody>
                    <a:bodyPr/>
                    <a:lstStyle/>
                    <a:p>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Thành </a:t>
                      </a:r>
                      <a:r>
                        <a:rPr lang="en-US" sz="2000" b="1" dirty="0" err="1">
                          <a:solidFill>
                            <a:schemeClr val="tx1"/>
                          </a:solidFill>
                          <a:latin typeface="Calibri" panose="020F0502020204030204" pitchFamily="34" charset="0"/>
                          <a:ea typeface="Calibri" panose="020F0502020204030204" pitchFamily="34" charset="0"/>
                          <a:cs typeface="Calibri" panose="020F0502020204030204" pitchFamily="34" charset="0"/>
                        </a:rPr>
                        <a:t>phần</a:t>
                      </a:r>
                      <a:endPar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DB1CC"/>
                    </a:solidFill>
                  </a:tcPr>
                </a:tc>
                <a:tc>
                  <a:txBody>
                    <a:bodyPr/>
                    <a:lstStyle/>
                    <a:p>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Công </a:t>
                      </a:r>
                      <a:r>
                        <a:rPr lang="en-US" sz="2000" b="1" dirty="0" err="1">
                          <a:solidFill>
                            <a:schemeClr val="tx1"/>
                          </a:solidFill>
                          <a:latin typeface="Calibri" panose="020F0502020204030204" pitchFamily="34" charset="0"/>
                          <a:ea typeface="Calibri" panose="020F0502020204030204" pitchFamily="34" charset="0"/>
                          <a:cs typeface="Calibri" panose="020F0502020204030204" pitchFamily="34" charset="0"/>
                        </a:rPr>
                        <a:t>nghệ</a:t>
                      </a:r>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2000" b="1" dirty="0" err="1">
                          <a:solidFill>
                            <a:schemeClr val="tx1"/>
                          </a:solidFill>
                          <a:latin typeface="Calibri" panose="020F0502020204030204" pitchFamily="34" charset="0"/>
                          <a:ea typeface="Calibri" panose="020F0502020204030204" pitchFamily="34" charset="0"/>
                          <a:cs typeface="Calibri" panose="020F0502020204030204" pitchFamily="34" charset="0"/>
                        </a:rPr>
                        <a:t>Cấu</a:t>
                      </a:r>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2000" b="1" dirty="0" err="1">
                          <a:solidFill>
                            <a:schemeClr val="tx1"/>
                          </a:solidFill>
                          <a:latin typeface="Calibri" panose="020F0502020204030204" pitchFamily="34" charset="0"/>
                          <a:ea typeface="Calibri" panose="020F0502020204030204" pitchFamily="34" charset="0"/>
                          <a:cs typeface="Calibri" panose="020F0502020204030204" pitchFamily="34" charset="0"/>
                        </a:rPr>
                        <a:t>hình</a:t>
                      </a:r>
                      <a:endPar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DB1CC"/>
                    </a:solidFill>
                  </a:tcPr>
                </a:tc>
                <a:extLst>
                  <a:ext uri="{0D108BD9-81ED-4DB2-BD59-A6C34878D82A}">
                    <a16:rowId xmlns:a16="http://schemas.microsoft.com/office/drawing/2014/main" val="2893572874"/>
                  </a:ext>
                </a:extLst>
              </a:tr>
              <a:tr h="541633">
                <a:tc>
                  <a:txBody>
                    <a:bodyPr/>
                    <a:lstStyle/>
                    <a:p>
                      <a:pPr algn="l"/>
                      <a:r>
                        <a:rPr lang="en-US" sz="2000" dirty="0" err="1">
                          <a:latin typeface="Calibri" panose="020F0502020204030204" pitchFamily="34" charset="0"/>
                          <a:ea typeface="Calibri" panose="020F0502020204030204" pitchFamily="34" charset="0"/>
                          <a:cs typeface="Calibri" panose="020F0502020204030204" pitchFamily="34" charset="0"/>
                        </a:rPr>
                        <a:t>Hệ</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điều</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hành</a:t>
                      </a:r>
                      <a:r>
                        <a:rPr lang="en-US" sz="2000" dirty="0">
                          <a:latin typeface="Calibri" panose="020F0502020204030204" pitchFamily="34" charset="0"/>
                          <a:ea typeface="Calibri" panose="020F0502020204030204" pitchFamily="34" charset="0"/>
                          <a:cs typeface="Calibri" panose="020F0502020204030204" pitchFamily="34" charset="0"/>
                        </a:rPr>
                        <a:t> </a:t>
                      </a: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9D1E1"/>
                    </a:solidFill>
                  </a:tcPr>
                </a:tc>
                <a:tc>
                  <a:txBody>
                    <a:bodyPr/>
                    <a:lstStyle/>
                    <a:p>
                      <a:pPr algn="l"/>
                      <a:r>
                        <a:rPr lang="en-US" sz="2000" dirty="0">
                          <a:latin typeface="Calibri" panose="020F0502020204030204" pitchFamily="34" charset="0"/>
                          <a:ea typeface="Calibri" panose="020F0502020204030204" pitchFamily="34" charset="0"/>
                          <a:cs typeface="Calibri" panose="020F0502020204030204" pitchFamily="34" charset="0"/>
                        </a:rPr>
                        <a:t>Linux (Kali / Ubuntu)</a:t>
                      </a: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9D1E1"/>
                    </a:solidFill>
                  </a:tcPr>
                </a:tc>
                <a:extLst>
                  <a:ext uri="{0D108BD9-81ED-4DB2-BD59-A6C34878D82A}">
                    <a16:rowId xmlns:a16="http://schemas.microsoft.com/office/drawing/2014/main" val="2026110469"/>
                  </a:ext>
                </a:extLst>
              </a:tr>
              <a:tr h="520700">
                <a:tc>
                  <a:txBody>
                    <a:bodyPr/>
                    <a:lstStyle/>
                    <a:p>
                      <a:pPr algn="l"/>
                      <a:r>
                        <a:rPr lang="en-US" sz="2000" dirty="0" err="1">
                          <a:latin typeface="Calibri" panose="020F0502020204030204" pitchFamily="34" charset="0"/>
                          <a:ea typeface="Calibri" panose="020F0502020204030204" pitchFamily="34" charset="0"/>
                          <a:cs typeface="Calibri" panose="020F0502020204030204" pitchFamily="34" charset="0"/>
                        </a:rPr>
                        <a:t>Ngôn</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ngữ</a:t>
                      </a:r>
                      <a:r>
                        <a:rPr lang="en-US" sz="2000" dirty="0">
                          <a:latin typeface="Calibri" panose="020F0502020204030204" pitchFamily="34" charset="0"/>
                          <a:ea typeface="Calibri" panose="020F0502020204030204" pitchFamily="34" charset="0"/>
                          <a:cs typeface="Calibri" panose="020F0502020204030204" pitchFamily="34" charset="0"/>
                        </a:rPr>
                        <a:t> </a:t>
                      </a: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E1EB"/>
                    </a:solidFill>
                  </a:tcPr>
                </a:tc>
                <a:tc>
                  <a:txBody>
                    <a:bodyPr/>
                    <a:lstStyle/>
                    <a:p>
                      <a:pPr algn="l">
                        <a:buNone/>
                      </a:pPr>
                      <a:r>
                        <a:rPr lang="en-US" sz="2000" dirty="0">
                          <a:latin typeface="Calibri" panose="020F0502020204030204" pitchFamily="34" charset="0"/>
                          <a:ea typeface="Calibri" panose="020F0502020204030204" pitchFamily="34" charset="0"/>
                          <a:cs typeface="Calibri" panose="020F0502020204030204" pitchFamily="34" charset="0"/>
                        </a:rPr>
                        <a:t>C (</a:t>
                      </a:r>
                      <a:r>
                        <a:rPr lang="en-US" sz="2000" dirty="0" err="1">
                          <a:latin typeface="Calibri" panose="020F0502020204030204" pitchFamily="34" charset="0"/>
                          <a:ea typeface="Calibri" panose="020F0502020204030204" pitchFamily="34" charset="0"/>
                          <a:cs typeface="Calibri" panose="020F0502020204030204" pitchFamily="34" charset="0"/>
                        </a:rPr>
                        <a:t>gcc</a:t>
                      </a:r>
                      <a:r>
                        <a:rPr lang="en-US" sz="2000" dirty="0">
                          <a:latin typeface="Calibri" panose="020F0502020204030204" pitchFamily="34" charset="0"/>
                          <a:ea typeface="Calibri" panose="020F0502020204030204" pitchFamily="34" charset="0"/>
                          <a:cs typeface="Calibri" panose="020F0502020204030204" pitchFamily="34" charset="0"/>
                        </a:rPr>
                        <a:t>), Python</a:t>
                      </a:r>
                      <a:endParaRPr lang="en-US" sz="2000" dirty="0">
                        <a:effectLst/>
                        <a:latin typeface="Calibri" panose="020F0502020204030204" pitchFamily="34" charset="0"/>
                        <a:ea typeface="Calibri" panose="020F0502020204030204" pitchFamily="34" charset="0"/>
                        <a:cs typeface="Calibri" panose="020F0502020204030204" pitchFamily="34" charset="0"/>
                      </a:endParaRPr>
                    </a:p>
                  </a:txBody>
                  <a:tcPr marL="84703" marR="84703" marT="47057" marB="470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E1EB"/>
                    </a:solidFill>
                  </a:tcPr>
                </a:tc>
                <a:extLst>
                  <a:ext uri="{0D108BD9-81ED-4DB2-BD59-A6C34878D82A}">
                    <a16:rowId xmlns:a16="http://schemas.microsoft.com/office/drawing/2014/main" val="614258394"/>
                  </a:ext>
                </a:extLst>
              </a:tr>
              <a:tr h="508000">
                <a:tc>
                  <a:txBody>
                    <a:bodyPr/>
                    <a:lstStyle/>
                    <a:p>
                      <a:pPr algn="l"/>
                      <a:r>
                        <a:rPr lang="en-US" sz="2000" dirty="0">
                          <a:latin typeface="Calibri" panose="020F0502020204030204" pitchFamily="34" charset="0"/>
                          <a:ea typeface="Calibri" panose="020F0502020204030204" pitchFamily="34" charset="0"/>
                          <a:cs typeface="Calibri" panose="020F0502020204030204" pitchFamily="34" charset="0"/>
                        </a:rPr>
                        <a:t>Công </a:t>
                      </a:r>
                      <a:r>
                        <a:rPr lang="en-US" sz="2000" dirty="0" err="1">
                          <a:latin typeface="Calibri" panose="020F0502020204030204" pitchFamily="34" charset="0"/>
                          <a:ea typeface="Calibri" panose="020F0502020204030204" pitchFamily="34" charset="0"/>
                          <a:cs typeface="Calibri" panose="020F0502020204030204" pitchFamily="34" charset="0"/>
                        </a:rPr>
                        <a:t>cụ</a:t>
                      </a:r>
                      <a:r>
                        <a:rPr lang="en-US" sz="2000" dirty="0">
                          <a:latin typeface="Calibri" panose="020F0502020204030204" pitchFamily="34" charset="0"/>
                          <a:ea typeface="Calibri" panose="020F0502020204030204" pitchFamily="34" charset="0"/>
                          <a:cs typeface="Calibri" panose="020F0502020204030204" pitchFamily="34" charset="0"/>
                        </a:rPr>
                        <a:t> </a:t>
                      </a: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9D1E1"/>
                    </a:solidFill>
                  </a:tcPr>
                </a:tc>
                <a:tc>
                  <a:txBody>
                    <a:bodyPr/>
                    <a:lstStyle/>
                    <a:p>
                      <a:pPr algn="l"/>
                      <a:r>
                        <a:rPr lang="en-US" sz="2000" dirty="0">
                          <a:latin typeface="Calibri" panose="020F0502020204030204" pitchFamily="34" charset="0"/>
                          <a:ea typeface="Calibri" panose="020F0502020204030204" pitchFamily="34" charset="0"/>
                          <a:cs typeface="Calibri" panose="020F0502020204030204" pitchFamily="34" charset="0"/>
                        </a:rPr>
                        <a:t>GDB, </a:t>
                      </a:r>
                      <a:r>
                        <a:rPr lang="en-US" sz="2000" dirty="0" err="1">
                          <a:latin typeface="Calibri" panose="020F0502020204030204" pitchFamily="34" charset="0"/>
                          <a:ea typeface="Calibri" panose="020F0502020204030204" pitchFamily="34" charset="0"/>
                          <a:cs typeface="Calibri" panose="020F0502020204030204" pitchFamily="34" charset="0"/>
                        </a:rPr>
                        <a:t>objdump</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readelf</a:t>
                      </a:r>
                      <a:r>
                        <a:rPr lang="en-US" sz="2000" dirty="0">
                          <a:latin typeface="Calibri" panose="020F0502020204030204" pitchFamily="34" charset="0"/>
                          <a:ea typeface="Calibri" panose="020F0502020204030204" pitchFamily="34" charset="0"/>
                          <a:cs typeface="Calibri" panose="020F0502020204030204" pitchFamily="34" charset="0"/>
                        </a:rPr>
                        <a:t> </a:t>
                      </a: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9D1E1"/>
                    </a:solidFill>
                  </a:tcPr>
                </a:tc>
                <a:extLst>
                  <a:ext uri="{0D108BD9-81ED-4DB2-BD59-A6C34878D82A}">
                    <a16:rowId xmlns:a16="http://schemas.microsoft.com/office/drawing/2014/main" val="2837655351"/>
                  </a:ext>
                </a:extLst>
              </a:tr>
              <a:tr h="482600">
                <a:tc>
                  <a:txBody>
                    <a:bodyPr/>
                    <a:lstStyle/>
                    <a:p>
                      <a:pPr algn="l"/>
                      <a:r>
                        <a:rPr lang="en-US" sz="2000" dirty="0">
                          <a:latin typeface="Calibri" panose="020F0502020204030204" pitchFamily="34" charset="0"/>
                          <a:ea typeface="Calibri" panose="020F0502020204030204" pitchFamily="34" charset="0"/>
                          <a:cs typeface="Calibri" panose="020F0502020204030204" pitchFamily="34" charset="0"/>
                        </a:rPr>
                        <a:t>ASLR</a:t>
                      </a: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E1EB"/>
                    </a:solidFill>
                  </a:tcPr>
                </a:tc>
                <a:tc>
                  <a:txBody>
                    <a:bodyPr/>
                    <a:lstStyle/>
                    <a:p>
                      <a:pPr algn="l"/>
                      <a:r>
                        <a:rPr lang="en-US" sz="2000" dirty="0" err="1">
                          <a:latin typeface="Calibri" panose="020F0502020204030204" pitchFamily="34" charset="0"/>
                          <a:ea typeface="Calibri" panose="020F0502020204030204" pitchFamily="34" charset="0"/>
                          <a:cs typeface="Calibri" panose="020F0502020204030204" pitchFamily="34" charset="0"/>
                        </a:rPr>
                        <a:t>Bật</a:t>
                      </a:r>
                      <a:r>
                        <a:rPr lang="en-US" sz="2000" dirty="0">
                          <a:latin typeface="Calibri" panose="020F0502020204030204" pitchFamily="34" charset="0"/>
                          <a:ea typeface="Calibri" panose="020F0502020204030204" pitchFamily="34" charset="0"/>
                          <a:cs typeface="Calibri" panose="020F0502020204030204" pitchFamily="34" charset="0"/>
                        </a:rPr>
                        <a:t> / </a:t>
                      </a:r>
                      <a:r>
                        <a:rPr lang="en-US" sz="2000" dirty="0" err="1">
                          <a:latin typeface="Calibri" panose="020F0502020204030204" pitchFamily="34" charset="0"/>
                          <a:ea typeface="Calibri" panose="020F0502020204030204" pitchFamily="34" charset="0"/>
                          <a:cs typeface="Calibri" panose="020F0502020204030204" pitchFamily="34" charset="0"/>
                        </a:rPr>
                        <a:t>Tắt</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sysctl</a:t>
                      </a:r>
                      <a:r>
                        <a:rPr lang="en-US" sz="2000" dirty="0">
                          <a:latin typeface="Calibri" panose="020F0502020204030204" pitchFamily="34" charset="0"/>
                          <a:ea typeface="Calibri" panose="020F0502020204030204" pitchFamily="34" charset="0"/>
                          <a:cs typeface="Calibri" panose="020F0502020204030204" pitchFamily="34" charset="0"/>
                        </a:rPr>
                        <a:t>) </a:t>
                      </a: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E1EB"/>
                    </a:solidFill>
                  </a:tcPr>
                </a:tc>
                <a:extLst>
                  <a:ext uri="{0D108BD9-81ED-4DB2-BD59-A6C34878D82A}">
                    <a16:rowId xmlns:a16="http://schemas.microsoft.com/office/drawing/2014/main" val="2106015263"/>
                  </a:ext>
                </a:extLst>
              </a:tr>
              <a:tr h="482600">
                <a:tc>
                  <a:txBody>
                    <a:bodyPr/>
                    <a:lstStyle/>
                    <a:p>
                      <a:pPr algn="l"/>
                      <a:r>
                        <a:rPr lang="en-US" sz="2000">
                          <a:latin typeface="Calibri" panose="020F0502020204030204" pitchFamily="34" charset="0"/>
                          <a:ea typeface="Calibri" panose="020F0502020204030204" pitchFamily="34" charset="0"/>
                          <a:cs typeface="Calibri" panose="020F0502020204030204" pitchFamily="34" charset="0"/>
                        </a:rPr>
                        <a:t>NX</a:t>
                      </a:r>
                      <a:endParaRPr lang="en-US" sz="2000" b="0" dirty="0">
                        <a:latin typeface="Calibri" panose="020F0502020204030204" pitchFamily="34" charset="0"/>
                        <a:ea typeface="Calibri" panose="020F0502020204030204" pitchFamily="34" charset="0"/>
                        <a:cs typeface="Calibri" panose="020F0502020204030204" pitchFamily="34" charset="0"/>
                      </a:endParaRP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9D1E1"/>
                    </a:solidFill>
                  </a:tcPr>
                </a:tc>
                <a:tc>
                  <a:txBody>
                    <a:bodyPr/>
                    <a:lstStyle/>
                    <a:p>
                      <a:pPr algn="l"/>
                      <a:r>
                        <a:rPr lang="en-US" sz="2000" dirty="0" err="1">
                          <a:latin typeface="Calibri" panose="020F0502020204030204" pitchFamily="34" charset="0"/>
                          <a:ea typeface="Calibri" panose="020F0502020204030204" pitchFamily="34" charset="0"/>
                          <a:cs typeface="Calibri" panose="020F0502020204030204" pitchFamily="34" charset="0"/>
                        </a:rPr>
                        <a:t>noexecstack</a:t>
                      </a:r>
                      <a:r>
                        <a:rPr lang="en-US" sz="2000" dirty="0">
                          <a:latin typeface="Calibri" panose="020F0502020204030204" pitchFamily="34" charset="0"/>
                          <a:ea typeface="Calibri" panose="020F0502020204030204" pitchFamily="34" charset="0"/>
                          <a:cs typeface="Calibri" panose="020F0502020204030204" pitchFamily="34" charset="0"/>
                        </a:rPr>
                        <a:t> </a:t>
                      </a: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9D1E1"/>
                    </a:solidFill>
                  </a:tcPr>
                </a:tc>
                <a:extLst>
                  <a:ext uri="{0D108BD9-81ED-4DB2-BD59-A6C34878D82A}">
                    <a16:rowId xmlns:a16="http://schemas.microsoft.com/office/drawing/2014/main" val="3170301336"/>
                  </a:ext>
                </a:extLst>
              </a:tr>
              <a:tr h="482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Calibri" panose="020F0502020204030204" pitchFamily="34" charset="0"/>
                          <a:ea typeface="Calibri" panose="020F0502020204030204" pitchFamily="34" charset="0"/>
                          <a:cs typeface="Calibri" panose="020F0502020204030204" pitchFamily="34" charset="0"/>
                        </a:rPr>
                        <a:t>PIE</a:t>
                      </a:r>
                      <a:endParaRPr lang="en-US" sz="2000" b="0" dirty="0">
                        <a:latin typeface="Calibri" panose="020F0502020204030204" pitchFamily="34" charset="0"/>
                        <a:ea typeface="Calibri" panose="020F0502020204030204" pitchFamily="34" charset="0"/>
                        <a:cs typeface="Calibri" panose="020F0502020204030204" pitchFamily="34" charset="0"/>
                      </a:endParaRP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E1E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Calibri" panose="020F0502020204030204" pitchFamily="34" charset="0"/>
                          <a:ea typeface="Calibri" panose="020F0502020204030204" pitchFamily="34" charset="0"/>
                          <a:cs typeface="Calibri" panose="020F0502020204030204" pitchFamily="34" charset="0"/>
                        </a:rPr>
                        <a:t>-</a:t>
                      </a:r>
                      <a:r>
                        <a:rPr lang="en-US" sz="2000" dirty="0" err="1">
                          <a:latin typeface="Calibri" panose="020F0502020204030204" pitchFamily="34" charset="0"/>
                          <a:ea typeface="Calibri" panose="020F0502020204030204" pitchFamily="34" charset="0"/>
                          <a:cs typeface="Calibri" panose="020F0502020204030204" pitchFamily="34" charset="0"/>
                        </a:rPr>
                        <a:t>fPIE</a:t>
                      </a:r>
                      <a:r>
                        <a:rPr lang="en-US" sz="2000" dirty="0">
                          <a:latin typeface="Calibri" panose="020F0502020204030204" pitchFamily="34" charset="0"/>
                          <a:ea typeface="Calibri" panose="020F0502020204030204" pitchFamily="34" charset="0"/>
                          <a:cs typeface="Calibri" panose="020F0502020204030204" pitchFamily="34" charset="0"/>
                        </a:rPr>
                        <a:t>, -pie </a:t>
                      </a: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E1EB"/>
                    </a:solidFill>
                  </a:tcPr>
                </a:tc>
                <a:extLst>
                  <a:ext uri="{0D108BD9-81ED-4DB2-BD59-A6C34878D82A}">
                    <a16:rowId xmlns:a16="http://schemas.microsoft.com/office/drawing/2014/main" val="3730421187"/>
                  </a:ext>
                </a:extLst>
              </a:tr>
              <a:tr h="482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Calibri" panose="020F0502020204030204" pitchFamily="34" charset="0"/>
                          <a:ea typeface="Calibri" panose="020F0502020204030204" pitchFamily="34" charset="0"/>
                          <a:cs typeface="Calibri" panose="020F0502020204030204" pitchFamily="34" charset="0"/>
                        </a:rPr>
                        <a:t>Binary </a:t>
                      </a:r>
                      <a:endParaRPr lang="en-US" sz="2000" b="0" dirty="0">
                        <a:latin typeface="Calibri" panose="020F0502020204030204" pitchFamily="34" charset="0"/>
                        <a:ea typeface="Calibri" panose="020F0502020204030204" pitchFamily="34" charset="0"/>
                        <a:cs typeface="Calibri" panose="020F0502020204030204" pitchFamily="34" charset="0"/>
                      </a:endParaRP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E1E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latin typeface="Calibri" panose="020F0502020204030204" pitchFamily="34" charset="0"/>
                          <a:ea typeface="Calibri" panose="020F0502020204030204" pitchFamily="34" charset="0"/>
                          <a:cs typeface="Calibri" panose="020F0502020204030204" pitchFamily="34" charset="0"/>
                        </a:rPr>
                        <a:t>aslr_demo</a:t>
                      </a:r>
                      <a:r>
                        <a:rPr lang="en-US" sz="2000" dirty="0">
                          <a:latin typeface="Calibri" panose="020F0502020204030204" pitchFamily="34" charset="0"/>
                          <a:ea typeface="Calibri" panose="020F0502020204030204" pitchFamily="34" charset="0"/>
                          <a:cs typeface="Calibri" panose="020F0502020204030204" pitchFamily="34" charset="0"/>
                        </a:rPr>
                        <a:t> / pie / </a:t>
                      </a:r>
                      <a:r>
                        <a:rPr lang="en-US" sz="2000" dirty="0" err="1">
                          <a:latin typeface="Calibri" panose="020F0502020204030204" pitchFamily="34" charset="0"/>
                          <a:ea typeface="Calibri" panose="020F0502020204030204" pitchFamily="34" charset="0"/>
                          <a:cs typeface="Calibri" panose="020F0502020204030204" pitchFamily="34" charset="0"/>
                        </a:rPr>
                        <a:t>nx</a:t>
                      </a:r>
                      <a:r>
                        <a:rPr lang="en-US" sz="2000" dirty="0">
                          <a:latin typeface="Calibri" panose="020F0502020204030204" pitchFamily="34" charset="0"/>
                          <a:ea typeface="Calibri" panose="020F0502020204030204" pitchFamily="34" charset="0"/>
                          <a:cs typeface="Calibri" panose="020F0502020204030204" pitchFamily="34" charset="0"/>
                        </a:rPr>
                        <a:t> </a:t>
                      </a:r>
                    </a:p>
                  </a:txBody>
                  <a:tcPr marL="103525" marR="103525" marT="51763" marB="517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E1EB"/>
                    </a:solidFill>
                  </a:tcPr>
                </a:tc>
                <a:extLst>
                  <a:ext uri="{0D108BD9-81ED-4DB2-BD59-A6C34878D82A}">
                    <a16:rowId xmlns:a16="http://schemas.microsoft.com/office/drawing/2014/main" val="3787322304"/>
                  </a:ext>
                </a:extLst>
              </a:tr>
            </a:tbl>
          </a:graphicData>
        </a:graphic>
      </p:graphicFrame>
    </p:spTree>
    <p:extLst>
      <p:ext uri="{BB962C8B-B14F-4D97-AF65-F5344CB8AC3E}">
        <p14:creationId xmlns:p14="http://schemas.microsoft.com/office/powerpoint/2010/main" val="3828578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11013-1AAC-DCDF-0AFB-B758E1ADDDDE}"/>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8A2599B3-6AB8-B08B-1DC0-969C46827098}"/>
              </a:ext>
            </a:extLst>
          </p:cNvPr>
          <p:cNvGrpSpPr/>
          <p:nvPr/>
        </p:nvGrpSpPr>
        <p:grpSpPr>
          <a:xfrm>
            <a:off x="-19878" y="788664"/>
            <a:ext cx="12191999" cy="366174"/>
            <a:chOff x="1" y="6307500"/>
            <a:chExt cx="12191999" cy="366174"/>
          </a:xfrm>
          <a:effectLst>
            <a:glow rad="63500">
              <a:schemeClr val="accent1">
                <a:satMod val="175000"/>
                <a:alpha val="40000"/>
              </a:schemeClr>
            </a:glow>
          </a:effectLst>
        </p:grpSpPr>
        <p:sp>
          <p:nvSpPr>
            <p:cNvPr id="5" name="AutoShape 37">
              <a:extLst>
                <a:ext uri="{FF2B5EF4-FFF2-40B4-BE49-F238E27FC236}">
                  <a16:creationId xmlns:a16="http://schemas.microsoft.com/office/drawing/2014/main" id="{98457477-E287-1526-31FE-105A663EC6AF}"/>
                </a:ext>
              </a:extLst>
            </p:cNvPr>
            <p:cNvSpPr/>
            <p:nvPr/>
          </p:nvSpPr>
          <p:spPr>
            <a:xfrm>
              <a:off x="1" y="6646250"/>
              <a:ext cx="9413932"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6" name="AutoShape 38">
              <a:extLst>
                <a:ext uri="{FF2B5EF4-FFF2-40B4-BE49-F238E27FC236}">
                  <a16:creationId xmlns:a16="http://schemas.microsoft.com/office/drawing/2014/main" id="{EF61ABCC-5F1A-5AA6-40E7-EDAEC1BB6213}"/>
                </a:ext>
              </a:extLst>
            </p:cNvPr>
            <p:cNvSpPr/>
            <p:nvPr/>
          </p:nvSpPr>
          <p:spPr>
            <a:xfrm rot="18000001">
              <a:off x="9315823" y="6490587"/>
              <a:ext cx="366174"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7" name="AutoShape 40">
              <a:extLst>
                <a:ext uri="{FF2B5EF4-FFF2-40B4-BE49-F238E27FC236}">
                  <a16:creationId xmlns:a16="http://schemas.microsoft.com/office/drawing/2014/main" id="{0803F6BF-5B0A-EE75-8D3F-6A1B36C17BA6}"/>
                </a:ext>
              </a:extLst>
            </p:cNvPr>
            <p:cNvSpPr/>
            <p:nvPr/>
          </p:nvSpPr>
          <p:spPr>
            <a:xfrm>
              <a:off x="9584694" y="6332029"/>
              <a:ext cx="2607306" cy="0"/>
            </a:xfrm>
            <a:prstGeom prst="line">
              <a:avLst/>
            </a:prstGeom>
            <a:ln w="19050" cap="flat">
              <a:solidFill>
                <a:srgbClr val="6DB1CC">
                  <a:alpha val="80000"/>
                </a:srgbClr>
              </a:solidFill>
              <a:prstDash val="solid"/>
              <a:headEnd type="none" w="sm" len="sm"/>
              <a:tailEnd type="none" w="sm" len="sm"/>
            </a:ln>
          </p:spPr>
          <p:txBody>
            <a:bodyPr/>
            <a:lstStyle/>
            <a:p>
              <a:endParaRPr lang="en-US"/>
            </a:p>
          </p:txBody>
        </p:sp>
      </p:grpSp>
      <p:sp>
        <p:nvSpPr>
          <p:cNvPr id="8" name="Rectangle 7">
            <a:extLst>
              <a:ext uri="{FF2B5EF4-FFF2-40B4-BE49-F238E27FC236}">
                <a16:creationId xmlns:a16="http://schemas.microsoft.com/office/drawing/2014/main" id="{A6E65434-75CE-CD03-BACE-E0AB79C06B79}"/>
              </a:ext>
            </a:extLst>
          </p:cNvPr>
          <p:cNvSpPr/>
          <p:nvPr/>
        </p:nvSpPr>
        <p:spPr>
          <a:xfrm>
            <a:off x="647481" y="463478"/>
            <a:ext cx="8142621" cy="593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3400" b="1" dirty="0">
                <a:solidFill>
                  <a:srgbClr val="6DB1CC"/>
                </a:solidFill>
                <a:latin typeface="Segoe UI" panose="020B0502040204020203" pitchFamily="34" charset="0"/>
                <a:cs typeface="Segoe UI" panose="020B0502040204020203" pitchFamily="34" charset="0"/>
              </a:rPr>
              <a:t>QUY TRÌNH THỬ NGHIỆM</a:t>
            </a:r>
          </a:p>
        </p:txBody>
      </p:sp>
      <p:pic>
        <p:nvPicPr>
          <p:cNvPr id="9" name="Picture 8" descr="Ý nghĩa logo Đại học Công nghệ Tp.HCM (HUTECH)">
            <a:extLst>
              <a:ext uri="{FF2B5EF4-FFF2-40B4-BE49-F238E27FC236}">
                <a16:creationId xmlns:a16="http://schemas.microsoft.com/office/drawing/2014/main" id="{6E97AA77-C757-B49D-8B86-A639907946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8096" y="159827"/>
            <a:ext cx="1817203" cy="582783"/>
          </a:xfrm>
          <a:prstGeom prst="rect">
            <a:avLst/>
          </a:prstGeom>
          <a:noFill/>
          <a:extLst>
            <a:ext uri="{909E8E84-426E-40DD-AFC4-6F175D3DCCD1}">
              <a14:hiddenFill xmlns:a14="http://schemas.microsoft.com/office/drawing/2010/main">
                <a:solidFill>
                  <a:srgbClr val="FFFFFF"/>
                </a:solidFill>
              </a14:hiddenFill>
            </a:ext>
          </a:extLst>
        </p:spPr>
      </p:pic>
      <p:grpSp>
        <p:nvGrpSpPr>
          <p:cNvPr id="29" name="Group 28">
            <a:extLst>
              <a:ext uri="{FF2B5EF4-FFF2-40B4-BE49-F238E27FC236}">
                <a16:creationId xmlns:a16="http://schemas.microsoft.com/office/drawing/2014/main" id="{9F1B0455-9BAC-5695-0068-EB021E339E6D}"/>
              </a:ext>
            </a:extLst>
          </p:cNvPr>
          <p:cNvGrpSpPr/>
          <p:nvPr/>
        </p:nvGrpSpPr>
        <p:grpSpPr>
          <a:xfrm>
            <a:off x="511655" y="2742746"/>
            <a:ext cx="11168690" cy="1926092"/>
            <a:chOff x="339367" y="3174546"/>
            <a:chExt cx="11168690" cy="1926092"/>
          </a:xfrm>
        </p:grpSpPr>
        <p:sp>
          <p:nvSpPr>
            <p:cNvPr id="11" name="Rectangle 10">
              <a:extLst>
                <a:ext uri="{FF2B5EF4-FFF2-40B4-BE49-F238E27FC236}">
                  <a16:creationId xmlns:a16="http://schemas.microsoft.com/office/drawing/2014/main" id="{C8130768-D769-C86B-90F1-02DC5F622B65}"/>
                </a:ext>
              </a:extLst>
            </p:cNvPr>
            <p:cNvSpPr/>
            <p:nvPr/>
          </p:nvSpPr>
          <p:spPr>
            <a:xfrm>
              <a:off x="339368" y="3180525"/>
              <a:ext cx="2024689" cy="677791"/>
            </a:xfrm>
            <a:prstGeom prst="rect">
              <a:avLst/>
            </a:prstGeom>
            <a:solidFill>
              <a:srgbClr val="B2D6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191919"/>
                  </a:solidFill>
                  <a:latin typeface="Calibri" panose="020F0502020204030204" pitchFamily="34" charset="0"/>
                  <a:ea typeface="Calibri" panose="020F0502020204030204" pitchFamily="34" charset="0"/>
                  <a:cs typeface="Calibri" panose="020F0502020204030204" pitchFamily="34" charset="0"/>
                </a:rPr>
                <a:t>ASLR OFF</a:t>
              </a:r>
            </a:p>
          </p:txBody>
        </p:sp>
        <p:sp>
          <p:nvSpPr>
            <p:cNvPr id="12" name="Rectangle 11">
              <a:extLst>
                <a:ext uri="{FF2B5EF4-FFF2-40B4-BE49-F238E27FC236}">
                  <a16:creationId xmlns:a16="http://schemas.microsoft.com/office/drawing/2014/main" id="{4CCD00A5-4137-160F-B4B3-4CB1F2BA8FE4}"/>
                </a:ext>
              </a:extLst>
            </p:cNvPr>
            <p:cNvSpPr/>
            <p:nvPr/>
          </p:nvSpPr>
          <p:spPr>
            <a:xfrm>
              <a:off x="339367" y="4020157"/>
              <a:ext cx="2024690" cy="1080481"/>
            </a:xfrm>
            <a:prstGeom prst="rect">
              <a:avLst/>
            </a:prstGeom>
            <a:solidFill>
              <a:srgbClr val="B2D6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rPr>
                <a:t>Exploit shellcode </a:t>
              </a:r>
            </a:p>
            <a:p>
              <a:pPr algn="ctr"/>
              <a:r>
                <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rPr>
                <a:t>→ </a:t>
              </a:r>
              <a:r>
                <a:rPr lang="en-US" sz="2000" dirty="0" err="1">
                  <a:solidFill>
                    <a:srgbClr val="191919"/>
                  </a:solidFill>
                  <a:latin typeface="Calibri" panose="020F0502020204030204" pitchFamily="34" charset="0"/>
                  <a:ea typeface="Calibri" panose="020F0502020204030204" pitchFamily="34" charset="0"/>
                  <a:cs typeface="Calibri" panose="020F0502020204030204" pitchFamily="34" charset="0"/>
                </a:rPr>
                <a:t>uid</a:t>
              </a:r>
              <a:r>
                <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rPr>
                <a:t>=1337</a:t>
              </a:r>
            </a:p>
          </p:txBody>
        </p:sp>
        <p:sp>
          <p:nvSpPr>
            <p:cNvPr id="21" name="Rectangle 20">
              <a:extLst>
                <a:ext uri="{FF2B5EF4-FFF2-40B4-BE49-F238E27FC236}">
                  <a16:creationId xmlns:a16="http://schemas.microsoft.com/office/drawing/2014/main" id="{AEA7E61A-D6CE-E037-0FD6-9BAD0DDA1044}"/>
                </a:ext>
              </a:extLst>
            </p:cNvPr>
            <p:cNvSpPr/>
            <p:nvPr/>
          </p:nvSpPr>
          <p:spPr>
            <a:xfrm>
              <a:off x="2625368" y="3180525"/>
              <a:ext cx="2024689" cy="677791"/>
            </a:xfrm>
            <a:prstGeom prst="rect">
              <a:avLst/>
            </a:prstGeom>
            <a:solidFill>
              <a:srgbClr val="B2D6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191919"/>
                  </a:solidFill>
                  <a:latin typeface="Calibri" panose="020F0502020204030204" pitchFamily="34" charset="0"/>
                  <a:ea typeface="Calibri" panose="020F0502020204030204" pitchFamily="34" charset="0"/>
                  <a:cs typeface="Calibri" panose="020F0502020204030204" pitchFamily="34" charset="0"/>
                </a:rPr>
                <a:t>ASLR ON</a:t>
              </a:r>
            </a:p>
          </p:txBody>
        </p:sp>
        <p:sp>
          <p:nvSpPr>
            <p:cNvPr id="22" name="Rectangle 21">
              <a:extLst>
                <a:ext uri="{FF2B5EF4-FFF2-40B4-BE49-F238E27FC236}">
                  <a16:creationId xmlns:a16="http://schemas.microsoft.com/office/drawing/2014/main" id="{E0C0D48B-01E7-F139-71EF-1D70C0051246}"/>
                </a:ext>
              </a:extLst>
            </p:cNvPr>
            <p:cNvSpPr/>
            <p:nvPr/>
          </p:nvSpPr>
          <p:spPr>
            <a:xfrm>
              <a:off x="2625367" y="4020157"/>
              <a:ext cx="2024690" cy="1080481"/>
            </a:xfrm>
            <a:prstGeom prst="rect">
              <a:avLst/>
            </a:prstGeom>
            <a:solidFill>
              <a:srgbClr val="B2D6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rPr>
                <a:t>Expected failed (Success ~ 0/N)</a:t>
              </a:r>
            </a:p>
          </p:txBody>
        </p:sp>
        <p:sp>
          <p:nvSpPr>
            <p:cNvPr id="23" name="Rectangle 22">
              <a:extLst>
                <a:ext uri="{FF2B5EF4-FFF2-40B4-BE49-F238E27FC236}">
                  <a16:creationId xmlns:a16="http://schemas.microsoft.com/office/drawing/2014/main" id="{48E7582B-3577-ABE3-0152-0BFE344A9D8E}"/>
                </a:ext>
              </a:extLst>
            </p:cNvPr>
            <p:cNvSpPr/>
            <p:nvPr/>
          </p:nvSpPr>
          <p:spPr>
            <a:xfrm>
              <a:off x="4911368" y="3180525"/>
              <a:ext cx="2024689" cy="677791"/>
            </a:xfrm>
            <a:prstGeom prst="rect">
              <a:avLst/>
            </a:prstGeom>
            <a:solidFill>
              <a:srgbClr val="B2D6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191919"/>
                  </a:solidFill>
                  <a:latin typeface="Calibri" panose="020F0502020204030204" pitchFamily="34" charset="0"/>
                  <a:ea typeface="Calibri" panose="020F0502020204030204" pitchFamily="34" charset="0"/>
                  <a:cs typeface="Calibri" panose="020F0502020204030204" pitchFamily="34" charset="0"/>
                </a:rPr>
                <a:t>ASLR + LEAK</a:t>
              </a:r>
            </a:p>
          </p:txBody>
        </p:sp>
        <p:sp>
          <p:nvSpPr>
            <p:cNvPr id="24" name="Rectangle 23">
              <a:extLst>
                <a:ext uri="{FF2B5EF4-FFF2-40B4-BE49-F238E27FC236}">
                  <a16:creationId xmlns:a16="http://schemas.microsoft.com/office/drawing/2014/main" id="{E9F54E8F-2B5D-8D22-9FE9-F00F7D9D4FCA}"/>
                </a:ext>
              </a:extLst>
            </p:cNvPr>
            <p:cNvSpPr/>
            <p:nvPr/>
          </p:nvSpPr>
          <p:spPr>
            <a:xfrm>
              <a:off x="4911367" y="4020157"/>
              <a:ext cx="2024690" cy="1080481"/>
            </a:xfrm>
            <a:prstGeom prst="rect">
              <a:avLst/>
            </a:prstGeom>
            <a:solidFill>
              <a:srgbClr val="B2D6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rPr>
                <a:t>Bypass → </a:t>
              </a:r>
              <a:r>
                <a:rPr lang="en-US" sz="2000" dirty="0" err="1">
                  <a:solidFill>
                    <a:srgbClr val="191919"/>
                  </a:solidFill>
                  <a:latin typeface="Calibri" panose="020F0502020204030204" pitchFamily="34" charset="0"/>
                  <a:ea typeface="Calibri" panose="020F0502020204030204" pitchFamily="34" charset="0"/>
                  <a:cs typeface="Calibri" panose="020F0502020204030204" pitchFamily="34" charset="0"/>
                </a:rPr>
                <a:t>uid</a:t>
              </a:r>
              <a:r>
                <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rPr>
                <a:t>=1337</a:t>
              </a:r>
            </a:p>
          </p:txBody>
        </p:sp>
        <p:sp>
          <p:nvSpPr>
            <p:cNvPr id="25" name="Rectangle 24">
              <a:extLst>
                <a:ext uri="{FF2B5EF4-FFF2-40B4-BE49-F238E27FC236}">
                  <a16:creationId xmlns:a16="http://schemas.microsoft.com/office/drawing/2014/main" id="{A1FBA94F-8C18-8A10-1396-9D70D3534D69}"/>
                </a:ext>
              </a:extLst>
            </p:cNvPr>
            <p:cNvSpPr/>
            <p:nvPr/>
          </p:nvSpPr>
          <p:spPr>
            <a:xfrm>
              <a:off x="7197368" y="3174546"/>
              <a:ext cx="2024689" cy="677791"/>
            </a:xfrm>
            <a:prstGeom prst="rect">
              <a:avLst/>
            </a:prstGeom>
            <a:solidFill>
              <a:srgbClr val="B2D6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191919"/>
                  </a:solidFill>
                  <a:latin typeface="Calibri" panose="020F0502020204030204" pitchFamily="34" charset="0"/>
                  <a:ea typeface="Calibri" panose="020F0502020204030204" pitchFamily="34" charset="0"/>
                  <a:cs typeface="Calibri" panose="020F0502020204030204" pitchFamily="34" charset="0"/>
                </a:rPr>
                <a:t>ASLR ON + NX + ROP/ret2libc</a:t>
              </a:r>
            </a:p>
          </p:txBody>
        </p:sp>
        <p:sp>
          <p:nvSpPr>
            <p:cNvPr id="26" name="Rectangle 25">
              <a:extLst>
                <a:ext uri="{FF2B5EF4-FFF2-40B4-BE49-F238E27FC236}">
                  <a16:creationId xmlns:a16="http://schemas.microsoft.com/office/drawing/2014/main" id="{23FD85D3-48FC-BA6F-BC61-755B4C41EB9F}"/>
                </a:ext>
              </a:extLst>
            </p:cNvPr>
            <p:cNvSpPr/>
            <p:nvPr/>
          </p:nvSpPr>
          <p:spPr>
            <a:xfrm>
              <a:off x="7197367" y="4014178"/>
              <a:ext cx="2024690" cy="1080481"/>
            </a:xfrm>
            <a:prstGeom prst="rect">
              <a:avLst/>
            </a:prstGeom>
            <a:solidFill>
              <a:srgbClr val="B2D6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rPr>
                <a:t>Advanced bypass (env–dependent)</a:t>
              </a:r>
            </a:p>
          </p:txBody>
        </p:sp>
        <p:sp>
          <p:nvSpPr>
            <p:cNvPr id="27" name="Rectangle 26">
              <a:extLst>
                <a:ext uri="{FF2B5EF4-FFF2-40B4-BE49-F238E27FC236}">
                  <a16:creationId xmlns:a16="http://schemas.microsoft.com/office/drawing/2014/main" id="{2D616DEC-8A55-6EFE-A860-EEA160E30FD0}"/>
                </a:ext>
              </a:extLst>
            </p:cNvPr>
            <p:cNvSpPr/>
            <p:nvPr/>
          </p:nvSpPr>
          <p:spPr>
            <a:xfrm>
              <a:off x="9483368" y="3174546"/>
              <a:ext cx="2024689" cy="677791"/>
            </a:xfrm>
            <a:prstGeom prst="rect">
              <a:avLst/>
            </a:prstGeom>
            <a:solidFill>
              <a:srgbClr val="B2D6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191919"/>
                  </a:solidFill>
                  <a:latin typeface="Calibri" panose="020F0502020204030204" pitchFamily="34" charset="0"/>
                  <a:ea typeface="Calibri" panose="020F0502020204030204" pitchFamily="34" charset="0"/>
                  <a:cs typeface="Calibri" panose="020F0502020204030204" pitchFamily="34" charset="0"/>
                </a:rPr>
                <a:t>PIE vs non-PIE comparison</a:t>
              </a:r>
            </a:p>
          </p:txBody>
        </p:sp>
        <p:sp>
          <p:nvSpPr>
            <p:cNvPr id="28" name="Rectangle 27">
              <a:extLst>
                <a:ext uri="{FF2B5EF4-FFF2-40B4-BE49-F238E27FC236}">
                  <a16:creationId xmlns:a16="http://schemas.microsoft.com/office/drawing/2014/main" id="{5498833F-F273-6252-6600-AE600E159939}"/>
                </a:ext>
              </a:extLst>
            </p:cNvPr>
            <p:cNvSpPr/>
            <p:nvPr/>
          </p:nvSpPr>
          <p:spPr>
            <a:xfrm>
              <a:off x="9483367" y="4014178"/>
              <a:ext cx="2024690" cy="1080481"/>
            </a:xfrm>
            <a:prstGeom prst="rect">
              <a:avLst/>
            </a:prstGeom>
            <a:solidFill>
              <a:srgbClr val="B2D6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191919"/>
                  </a:solidFill>
                  <a:latin typeface="Calibri" panose="020F0502020204030204" pitchFamily="34" charset="0"/>
                  <a:ea typeface="Calibri" panose="020F0502020204030204" pitchFamily="34" charset="0"/>
                  <a:cs typeface="Calibri" panose="020F0502020204030204" pitchFamily="34" charset="0"/>
                </a:rPr>
                <a:t>Observe main/buffer address behavior</a:t>
              </a:r>
            </a:p>
          </p:txBody>
        </p:sp>
      </p:grpSp>
      <p:cxnSp>
        <p:nvCxnSpPr>
          <p:cNvPr id="31" name="Straight Arrow Connector 30">
            <a:extLst>
              <a:ext uri="{FF2B5EF4-FFF2-40B4-BE49-F238E27FC236}">
                <a16:creationId xmlns:a16="http://schemas.microsoft.com/office/drawing/2014/main" id="{7A85E923-ED7C-9EC3-619C-D311A37664B4}"/>
              </a:ext>
            </a:extLst>
          </p:cNvPr>
          <p:cNvCxnSpPr>
            <a:stCxn id="11" idx="3"/>
            <a:endCxn id="21" idx="1"/>
          </p:cNvCxnSpPr>
          <p:nvPr/>
        </p:nvCxnSpPr>
        <p:spPr>
          <a:xfrm>
            <a:off x="2536345" y="3087621"/>
            <a:ext cx="26131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48039BB4-452D-B28A-F5A8-786563213315}"/>
              </a:ext>
            </a:extLst>
          </p:cNvPr>
          <p:cNvCxnSpPr>
            <a:cxnSpLocks/>
            <a:stCxn id="21" idx="3"/>
            <a:endCxn id="23" idx="1"/>
          </p:cNvCxnSpPr>
          <p:nvPr/>
        </p:nvCxnSpPr>
        <p:spPr>
          <a:xfrm>
            <a:off x="4822345" y="3087621"/>
            <a:ext cx="26131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D00FE23B-9921-79D0-2B22-09566BB99E60}"/>
              </a:ext>
            </a:extLst>
          </p:cNvPr>
          <p:cNvCxnSpPr>
            <a:cxnSpLocks/>
            <a:stCxn id="23" idx="3"/>
            <a:endCxn id="25" idx="1"/>
          </p:cNvCxnSpPr>
          <p:nvPr/>
        </p:nvCxnSpPr>
        <p:spPr>
          <a:xfrm flipV="1">
            <a:off x="7108345" y="3081642"/>
            <a:ext cx="261311" cy="59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527C4AB1-3878-73A3-42F7-DB1E20FA8465}"/>
              </a:ext>
            </a:extLst>
          </p:cNvPr>
          <p:cNvCxnSpPr>
            <a:cxnSpLocks/>
            <a:stCxn id="25" idx="3"/>
            <a:endCxn id="27" idx="1"/>
          </p:cNvCxnSpPr>
          <p:nvPr/>
        </p:nvCxnSpPr>
        <p:spPr>
          <a:xfrm>
            <a:off x="9394345" y="3081642"/>
            <a:ext cx="26131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a16="http://schemas.microsoft.com/office/drawing/2014/main" id="{3049A992-A55A-70A0-528E-6E7A4D7C4C42}"/>
              </a:ext>
            </a:extLst>
          </p:cNvPr>
          <p:cNvSpPr/>
          <p:nvPr/>
        </p:nvSpPr>
        <p:spPr>
          <a:xfrm>
            <a:off x="511655" y="2182969"/>
            <a:ext cx="1257519" cy="4953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PHASE 1</a:t>
            </a:r>
          </a:p>
        </p:txBody>
      </p:sp>
      <p:sp>
        <p:nvSpPr>
          <p:cNvPr id="54" name="Rectangle 53">
            <a:extLst>
              <a:ext uri="{FF2B5EF4-FFF2-40B4-BE49-F238E27FC236}">
                <a16:creationId xmlns:a16="http://schemas.microsoft.com/office/drawing/2014/main" id="{3B1E676F-4996-82DC-F2CC-8ECDC11B95A2}"/>
              </a:ext>
            </a:extLst>
          </p:cNvPr>
          <p:cNvSpPr/>
          <p:nvPr/>
        </p:nvSpPr>
        <p:spPr>
          <a:xfrm>
            <a:off x="2791029" y="2182969"/>
            <a:ext cx="1257519" cy="4953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PHASE 2</a:t>
            </a:r>
          </a:p>
        </p:txBody>
      </p:sp>
      <p:sp>
        <p:nvSpPr>
          <p:cNvPr id="55" name="Rectangle 54">
            <a:extLst>
              <a:ext uri="{FF2B5EF4-FFF2-40B4-BE49-F238E27FC236}">
                <a16:creationId xmlns:a16="http://schemas.microsoft.com/office/drawing/2014/main" id="{702300E1-BC35-E4E1-5D3E-CD0154BDA07E}"/>
              </a:ext>
            </a:extLst>
          </p:cNvPr>
          <p:cNvSpPr/>
          <p:nvPr/>
        </p:nvSpPr>
        <p:spPr>
          <a:xfrm>
            <a:off x="5083655" y="2182969"/>
            <a:ext cx="1257519" cy="4953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PHASE 3</a:t>
            </a:r>
          </a:p>
        </p:txBody>
      </p:sp>
      <p:sp>
        <p:nvSpPr>
          <p:cNvPr id="56" name="Rectangle 55">
            <a:extLst>
              <a:ext uri="{FF2B5EF4-FFF2-40B4-BE49-F238E27FC236}">
                <a16:creationId xmlns:a16="http://schemas.microsoft.com/office/drawing/2014/main" id="{F4A6616D-ECBF-0A8B-7A5B-D105A3B70E26}"/>
              </a:ext>
            </a:extLst>
          </p:cNvPr>
          <p:cNvSpPr/>
          <p:nvPr/>
        </p:nvSpPr>
        <p:spPr>
          <a:xfrm>
            <a:off x="7239000" y="2176990"/>
            <a:ext cx="1257519" cy="4953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PHASE 4</a:t>
            </a:r>
          </a:p>
        </p:txBody>
      </p:sp>
      <p:sp>
        <p:nvSpPr>
          <p:cNvPr id="57" name="Rectangle 56">
            <a:extLst>
              <a:ext uri="{FF2B5EF4-FFF2-40B4-BE49-F238E27FC236}">
                <a16:creationId xmlns:a16="http://schemas.microsoft.com/office/drawing/2014/main" id="{EE488070-46E3-D181-2823-5045982DA8D6}"/>
              </a:ext>
            </a:extLst>
          </p:cNvPr>
          <p:cNvSpPr/>
          <p:nvPr/>
        </p:nvSpPr>
        <p:spPr>
          <a:xfrm>
            <a:off x="9655655" y="2176990"/>
            <a:ext cx="1257519" cy="4953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PHASE 5</a:t>
            </a:r>
          </a:p>
        </p:txBody>
      </p:sp>
      <p:sp>
        <p:nvSpPr>
          <p:cNvPr id="58" name="Rectangle 57">
            <a:extLst>
              <a:ext uri="{FF2B5EF4-FFF2-40B4-BE49-F238E27FC236}">
                <a16:creationId xmlns:a16="http://schemas.microsoft.com/office/drawing/2014/main" id="{80FF0A8D-715A-3405-8929-3132B2E8829B}"/>
              </a:ext>
            </a:extLst>
          </p:cNvPr>
          <p:cNvSpPr/>
          <p:nvPr/>
        </p:nvSpPr>
        <p:spPr>
          <a:xfrm>
            <a:off x="511656" y="4826932"/>
            <a:ext cx="2024689" cy="67779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Exploit </a:t>
            </a:r>
            <a:r>
              <a:rPr lang="en-US" dirty="0" err="1">
                <a:solidFill>
                  <a:schemeClr val="bg1"/>
                </a:solidFill>
                <a:latin typeface="Calibri" panose="020F0502020204030204" pitchFamily="34" charset="0"/>
                <a:ea typeface="Calibri" panose="020F0502020204030204" pitchFamily="34" charset="0"/>
                <a:cs typeface="Calibri" panose="020F0502020204030204" pitchFamily="34" charset="0"/>
              </a:rPr>
              <a:t>thành</a:t>
            </a: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dirty="0" err="1">
                <a:solidFill>
                  <a:schemeClr val="bg1"/>
                </a:solidFill>
                <a:latin typeface="Calibri" panose="020F0502020204030204" pitchFamily="34" charset="0"/>
                <a:ea typeface="Calibri" panose="020F0502020204030204" pitchFamily="34" charset="0"/>
                <a:cs typeface="Calibri" panose="020F0502020204030204" pitchFamily="34" charset="0"/>
              </a:rPr>
              <a:t>công</a:t>
            </a:r>
            <a:endParaRPr 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60" name="Rectangle 59">
            <a:extLst>
              <a:ext uri="{FF2B5EF4-FFF2-40B4-BE49-F238E27FC236}">
                <a16:creationId xmlns:a16="http://schemas.microsoft.com/office/drawing/2014/main" id="{546A00F1-AF84-623B-AC63-2EA8C35749FE}"/>
              </a:ext>
            </a:extLst>
          </p:cNvPr>
          <p:cNvSpPr/>
          <p:nvPr/>
        </p:nvSpPr>
        <p:spPr>
          <a:xfrm>
            <a:off x="2797656" y="4828050"/>
            <a:ext cx="2024689" cy="67779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bg1"/>
                </a:solidFill>
                <a:latin typeface="Calibri" panose="020F0502020204030204" pitchFamily="34" charset="0"/>
                <a:ea typeface="Calibri" panose="020F0502020204030204" pitchFamily="34" charset="0"/>
                <a:cs typeface="Calibri" panose="020F0502020204030204" pitchFamily="34" charset="0"/>
              </a:rPr>
              <a:t>thất</a:t>
            </a: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dirty="0" err="1">
                <a:solidFill>
                  <a:schemeClr val="bg1"/>
                </a:solidFill>
                <a:latin typeface="Calibri" panose="020F0502020204030204" pitchFamily="34" charset="0"/>
                <a:ea typeface="Calibri" panose="020F0502020204030204" pitchFamily="34" charset="0"/>
                <a:cs typeface="Calibri" panose="020F0502020204030204" pitchFamily="34" charset="0"/>
              </a:rPr>
              <a:t>bại</a:t>
            </a: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 (fixed address)</a:t>
            </a:r>
          </a:p>
        </p:txBody>
      </p:sp>
      <p:sp>
        <p:nvSpPr>
          <p:cNvPr id="61" name="Rectangle 60">
            <a:extLst>
              <a:ext uri="{FF2B5EF4-FFF2-40B4-BE49-F238E27FC236}">
                <a16:creationId xmlns:a16="http://schemas.microsoft.com/office/drawing/2014/main" id="{DE06DFB5-E9CB-1EA1-DCEE-B1EC1681C55A}"/>
              </a:ext>
            </a:extLst>
          </p:cNvPr>
          <p:cNvSpPr/>
          <p:nvPr/>
        </p:nvSpPr>
        <p:spPr>
          <a:xfrm>
            <a:off x="5083656" y="4826932"/>
            <a:ext cx="2024689" cy="67779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bypass </a:t>
            </a:r>
            <a:r>
              <a:rPr lang="en-US" dirty="0" err="1">
                <a:solidFill>
                  <a:schemeClr val="bg1"/>
                </a:solidFill>
                <a:latin typeface="Calibri" panose="020F0502020204030204" pitchFamily="34" charset="0"/>
                <a:ea typeface="Calibri" panose="020F0502020204030204" pitchFamily="34" charset="0"/>
                <a:cs typeface="Calibri" panose="020F0502020204030204" pitchFamily="34" charset="0"/>
              </a:rPr>
              <a:t>thành</a:t>
            </a: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dirty="0" err="1">
                <a:solidFill>
                  <a:schemeClr val="bg1"/>
                </a:solidFill>
                <a:latin typeface="Calibri" panose="020F0502020204030204" pitchFamily="34" charset="0"/>
                <a:ea typeface="Calibri" panose="020F0502020204030204" pitchFamily="34" charset="0"/>
                <a:cs typeface="Calibri" panose="020F0502020204030204" pitchFamily="34" charset="0"/>
              </a:rPr>
              <a:t>công</a:t>
            </a:r>
            <a:endParaRPr 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62" name="Rectangle 61">
            <a:extLst>
              <a:ext uri="{FF2B5EF4-FFF2-40B4-BE49-F238E27FC236}">
                <a16:creationId xmlns:a16="http://schemas.microsoft.com/office/drawing/2014/main" id="{261C3A4B-B4A8-9FA5-F70F-BF67445350AA}"/>
              </a:ext>
            </a:extLst>
          </p:cNvPr>
          <p:cNvSpPr/>
          <p:nvPr/>
        </p:nvSpPr>
        <p:spPr>
          <a:xfrm>
            <a:off x="7362798" y="4826932"/>
            <a:ext cx="2024690" cy="67779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bg1"/>
                </a:solidFill>
                <a:latin typeface="Calibri" panose="020F0502020204030204" pitchFamily="34" charset="0"/>
                <a:ea typeface="Calibri" panose="020F0502020204030204" pitchFamily="34" charset="0"/>
                <a:cs typeface="Calibri" panose="020F0502020204030204" pitchFamily="34" charset="0"/>
              </a:rPr>
              <a:t>chuyển</a:t>
            </a: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 sang ROP</a:t>
            </a:r>
          </a:p>
        </p:txBody>
      </p:sp>
      <p:sp>
        <p:nvSpPr>
          <p:cNvPr id="63" name="Rectangle 62">
            <a:extLst>
              <a:ext uri="{FF2B5EF4-FFF2-40B4-BE49-F238E27FC236}">
                <a16:creationId xmlns:a16="http://schemas.microsoft.com/office/drawing/2014/main" id="{58121956-BEDB-D579-67E7-DA969926D887}"/>
              </a:ext>
            </a:extLst>
          </p:cNvPr>
          <p:cNvSpPr/>
          <p:nvPr/>
        </p:nvSpPr>
        <p:spPr>
          <a:xfrm>
            <a:off x="9641941" y="4818720"/>
            <a:ext cx="2024690" cy="67779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PIE vs non-PIE (so </a:t>
            </a:r>
            <a:r>
              <a:rPr lang="en-US" dirty="0" err="1">
                <a:solidFill>
                  <a:schemeClr val="bg1"/>
                </a:solidFill>
                <a:latin typeface="Calibri" panose="020F0502020204030204" pitchFamily="34" charset="0"/>
                <a:ea typeface="Calibri" panose="020F0502020204030204" pitchFamily="34" charset="0"/>
                <a:cs typeface="Calibri" panose="020F0502020204030204" pitchFamily="34" charset="0"/>
              </a:rPr>
              <a:t>sánh</a:t>
            </a: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2777004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FBB87-B37D-6429-C3A8-E3F5B08FD129}"/>
            </a:ext>
          </a:extLst>
        </p:cNvPr>
        <p:cNvGrpSpPr/>
        <p:nvPr/>
      </p:nvGrpSpPr>
      <p:grpSpPr>
        <a:xfrm>
          <a:off x="0" y="0"/>
          <a:ext cx="0" cy="0"/>
          <a:chOff x="0" y="0"/>
          <a:chExt cx="0" cy="0"/>
        </a:xfrm>
      </p:grpSpPr>
      <p:grpSp>
        <p:nvGrpSpPr>
          <p:cNvPr id="26" name="Group 25">
            <a:extLst>
              <a:ext uri="{FF2B5EF4-FFF2-40B4-BE49-F238E27FC236}">
                <a16:creationId xmlns:a16="http://schemas.microsoft.com/office/drawing/2014/main" id="{03EDBC59-9652-0682-CBDE-D26D6CF8D62A}"/>
              </a:ext>
            </a:extLst>
          </p:cNvPr>
          <p:cNvGrpSpPr/>
          <p:nvPr/>
        </p:nvGrpSpPr>
        <p:grpSpPr>
          <a:xfrm>
            <a:off x="5969820" y="2542772"/>
            <a:ext cx="2162179" cy="2048160"/>
            <a:chOff x="5625691" y="2480275"/>
            <a:chExt cx="2162179" cy="2048160"/>
          </a:xfrm>
        </p:grpSpPr>
        <p:sp>
          <p:nvSpPr>
            <p:cNvPr id="16" name="Rectangle 15">
              <a:extLst>
                <a:ext uri="{FF2B5EF4-FFF2-40B4-BE49-F238E27FC236}">
                  <a16:creationId xmlns:a16="http://schemas.microsoft.com/office/drawing/2014/main" id="{5F6F7B1C-F292-B6A8-E648-5284C1FA2C17}"/>
                </a:ext>
              </a:extLst>
            </p:cNvPr>
            <p:cNvSpPr/>
            <p:nvPr/>
          </p:nvSpPr>
          <p:spPr>
            <a:xfrm rot="16200000">
              <a:off x="6349334" y="1756632"/>
              <a:ext cx="714894" cy="2162179"/>
            </a:xfrm>
            <a:prstGeom prst="rect">
              <a:avLst/>
            </a:prstGeom>
            <a:solidFill>
              <a:srgbClr val="FFA3A3"/>
            </a:solidFill>
            <a:ln>
              <a:noFill/>
            </a:ln>
            <a:effectLst>
              <a:glow rad="127000">
                <a:srgbClr val="FFA3A3">
                  <a:alpha val="2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A408AFCF-24A1-28AD-B93F-E20851BDC827}"/>
                </a:ext>
              </a:extLst>
            </p:cNvPr>
            <p:cNvSpPr/>
            <p:nvPr/>
          </p:nvSpPr>
          <p:spPr>
            <a:xfrm>
              <a:off x="5625691" y="2610607"/>
              <a:ext cx="714894" cy="1917828"/>
            </a:xfrm>
            <a:prstGeom prst="rect">
              <a:avLst/>
            </a:prstGeom>
            <a:solidFill>
              <a:srgbClr val="FFA3A3"/>
            </a:solidFill>
            <a:ln>
              <a:noFill/>
            </a:ln>
            <a:effectLst>
              <a:glow rad="127000">
                <a:srgbClr val="FFA3A3">
                  <a:alpha val="2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3">
            <a:extLst>
              <a:ext uri="{FF2B5EF4-FFF2-40B4-BE49-F238E27FC236}">
                <a16:creationId xmlns:a16="http://schemas.microsoft.com/office/drawing/2014/main" id="{763A4C5B-EF0A-6D6F-8648-43A222D8AEC0}"/>
              </a:ext>
            </a:extLst>
          </p:cNvPr>
          <p:cNvGrpSpPr/>
          <p:nvPr/>
        </p:nvGrpSpPr>
        <p:grpSpPr>
          <a:xfrm>
            <a:off x="-19878" y="788664"/>
            <a:ext cx="12191999" cy="366174"/>
            <a:chOff x="1" y="6307500"/>
            <a:chExt cx="12191999" cy="366174"/>
          </a:xfrm>
          <a:effectLst>
            <a:glow rad="63500">
              <a:schemeClr val="accent1">
                <a:satMod val="175000"/>
                <a:alpha val="40000"/>
              </a:schemeClr>
            </a:glow>
          </a:effectLst>
        </p:grpSpPr>
        <p:sp>
          <p:nvSpPr>
            <p:cNvPr id="5" name="AutoShape 37">
              <a:extLst>
                <a:ext uri="{FF2B5EF4-FFF2-40B4-BE49-F238E27FC236}">
                  <a16:creationId xmlns:a16="http://schemas.microsoft.com/office/drawing/2014/main" id="{3D0FDA81-49A9-2381-C79B-65E73D93634F}"/>
                </a:ext>
              </a:extLst>
            </p:cNvPr>
            <p:cNvSpPr/>
            <p:nvPr/>
          </p:nvSpPr>
          <p:spPr>
            <a:xfrm>
              <a:off x="1" y="6646250"/>
              <a:ext cx="9413932"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6" name="AutoShape 38">
              <a:extLst>
                <a:ext uri="{FF2B5EF4-FFF2-40B4-BE49-F238E27FC236}">
                  <a16:creationId xmlns:a16="http://schemas.microsoft.com/office/drawing/2014/main" id="{CECF7434-245E-7D3F-001C-DBD3F9E15664}"/>
                </a:ext>
              </a:extLst>
            </p:cNvPr>
            <p:cNvSpPr/>
            <p:nvPr/>
          </p:nvSpPr>
          <p:spPr>
            <a:xfrm rot="18000001">
              <a:off x="9315823" y="6490587"/>
              <a:ext cx="366174"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7" name="AutoShape 40">
              <a:extLst>
                <a:ext uri="{FF2B5EF4-FFF2-40B4-BE49-F238E27FC236}">
                  <a16:creationId xmlns:a16="http://schemas.microsoft.com/office/drawing/2014/main" id="{C0C2672A-5C7A-5B74-8815-93C5C611B1CF}"/>
                </a:ext>
              </a:extLst>
            </p:cNvPr>
            <p:cNvSpPr/>
            <p:nvPr/>
          </p:nvSpPr>
          <p:spPr>
            <a:xfrm>
              <a:off x="9584694" y="6332029"/>
              <a:ext cx="2607306" cy="0"/>
            </a:xfrm>
            <a:prstGeom prst="line">
              <a:avLst/>
            </a:prstGeom>
            <a:ln w="19050" cap="flat">
              <a:solidFill>
                <a:srgbClr val="6DB1CC">
                  <a:alpha val="80000"/>
                </a:srgbClr>
              </a:solidFill>
              <a:prstDash val="solid"/>
              <a:headEnd type="none" w="sm" len="sm"/>
              <a:tailEnd type="none" w="sm" len="sm"/>
            </a:ln>
          </p:spPr>
          <p:txBody>
            <a:bodyPr/>
            <a:lstStyle/>
            <a:p>
              <a:endParaRPr lang="en-US"/>
            </a:p>
          </p:txBody>
        </p:sp>
      </p:grpSp>
      <p:sp>
        <p:nvSpPr>
          <p:cNvPr id="8" name="Rectangle 7">
            <a:extLst>
              <a:ext uri="{FF2B5EF4-FFF2-40B4-BE49-F238E27FC236}">
                <a16:creationId xmlns:a16="http://schemas.microsoft.com/office/drawing/2014/main" id="{385E868E-ACBF-C1C9-7EE3-345DACB642F2}"/>
              </a:ext>
            </a:extLst>
          </p:cNvPr>
          <p:cNvSpPr/>
          <p:nvPr/>
        </p:nvSpPr>
        <p:spPr>
          <a:xfrm>
            <a:off x="647481" y="463478"/>
            <a:ext cx="8142621" cy="593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3400" b="1" dirty="0">
                <a:solidFill>
                  <a:srgbClr val="6DB1CC"/>
                </a:solidFill>
                <a:latin typeface="Segoe UI" panose="020B0502040204020203" pitchFamily="34" charset="0"/>
                <a:cs typeface="Segoe UI" panose="020B0502040204020203" pitchFamily="34" charset="0"/>
              </a:rPr>
              <a:t>THỬ NGHIỆM &amp; ĐÁNH GIÁ</a:t>
            </a:r>
          </a:p>
        </p:txBody>
      </p:sp>
      <p:pic>
        <p:nvPicPr>
          <p:cNvPr id="9" name="Picture 8" descr="Ý nghĩa logo Đại học Công nghệ Tp.HCM (HUTECH)">
            <a:extLst>
              <a:ext uri="{FF2B5EF4-FFF2-40B4-BE49-F238E27FC236}">
                <a16:creationId xmlns:a16="http://schemas.microsoft.com/office/drawing/2014/main" id="{B95EDA5D-DE3C-A7CB-3510-3960F60367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8096" y="159827"/>
            <a:ext cx="1817203" cy="58278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285254D7-AC48-46CB-CC31-DCCD7175E39C}"/>
              </a:ext>
            </a:extLst>
          </p:cNvPr>
          <p:cNvSpPr/>
          <p:nvPr/>
        </p:nvSpPr>
        <p:spPr>
          <a:xfrm>
            <a:off x="647481" y="1197819"/>
            <a:ext cx="8142621" cy="5117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2800" dirty="0"/>
              <a:t>ASLR OFF</a:t>
            </a:r>
            <a:endParaRPr lang="vi-VN" sz="2600" dirty="0">
              <a:solidFill>
                <a:schemeClr val="bg1"/>
              </a:solidFill>
              <a:latin typeface="Segoe UI" panose="020B0502040204020203" pitchFamily="34" charset="0"/>
              <a:cs typeface="Segoe UI" panose="020B0502040204020203" pitchFamily="34" charset="0"/>
            </a:endParaRPr>
          </a:p>
        </p:txBody>
      </p:sp>
      <p:pic>
        <p:nvPicPr>
          <p:cNvPr id="13" name="Picture 12">
            <a:extLst>
              <a:ext uri="{FF2B5EF4-FFF2-40B4-BE49-F238E27FC236}">
                <a16:creationId xmlns:a16="http://schemas.microsoft.com/office/drawing/2014/main" id="{83ED6CB9-556E-8354-85CA-9827BF191369}"/>
              </a:ext>
            </a:extLst>
          </p:cNvPr>
          <p:cNvPicPr>
            <a:picLocks noChangeAspect="1"/>
          </p:cNvPicPr>
          <p:nvPr/>
        </p:nvPicPr>
        <p:blipFill>
          <a:blip r:embed="rId4"/>
          <a:stretch>
            <a:fillRect/>
          </a:stretch>
        </p:blipFill>
        <p:spPr>
          <a:xfrm>
            <a:off x="6096000" y="2670517"/>
            <a:ext cx="6096000" cy="2752002"/>
          </a:xfrm>
          <a:prstGeom prst="rect">
            <a:avLst/>
          </a:prstGeom>
        </p:spPr>
      </p:pic>
      <p:sp>
        <p:nvSpPr>
          <p:cNvPr id="22" name="TextBox 21">
            <a:extLst>
              <a:ext uri="{FF2B5EF4-FFF2-40B4-BE49-F238E27FC236}">
                <a16:creationId xmlns:a16="http://schemas.microsoft.com/office/drawing/2014/main" id="{5F03C71B-582D-71B8-4581-E96746906CC2}"/>
              </a:ext>
            </a:extLst>
          </p:cNvPr>
          <p:cNvSpPr txBox="1"/>
          <p:nvPr/>
        </p:nvSpPr>
        <p:spPr>
          <a:xfrm>
            <a:off x="153411" y="2045035"/>
            <a:ext cx="5753319" cy="4199611"/>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vi-VN" sz="2000" dirty="0">
                <a:solidFill>
                  <a:schemeClr val="bg1"/>
                </a:solidFill>
                <a:latin typeface="Calibri" panose="020F0502020204030204" pitchFamily="34" charset="0"/>
                <a:ea typeface="Calibri" panose="020F0502020204030204" pitchFamily="34" charset="0"/>
                <a:cs typeface="Calibri" panose="020F0502020204030204" pitchFamily="34" charset="0"/>
              </a:rPr>
              <a:t>Kernel báo </a:t>
            </a:r>
            <a:r>
              <a:rPr lang="vi-VN" sz="2000" b="1" dirty="0">
                <a:solidFill>
                  <a:srgbClr val="6DB1CC"/>
                </a:solidFill>
                <a:latin typeface="Calibri" panose="020F0502020204030204" pitchFamily="34" charset="0"/>
                <a:ea typeface="Calibri" panose="020F0502020204030204" pitchFamily="34" charset="0"/>
                <a:cs typeface="Calibri" panose="020F0502020204030204" pitchFamily="34" charset="0"/>
              </a:rPr>
              <a:t>randomize_va_space = 0 </a:t>
            </a:r>
            <a:r>
              <a:rPr lang="vi-VN" sz="2000" dirty="0">
                <a:solidFill>
                  <a:schemeClr val="bg1"/>
                </a:solidFill>
                <a:latin typeface="Calibri" panose="020F0502020204030204" pitchFamily="34" charset="0"/>
                <a:ea typeface="Calibri" panose="020F0502020204030204" pitchFamily="34" charset="0"/>
                <a:cs typeface="Calibri" panose="020F0502020204030204" pitchFamily="34" charset="0"/>
              </a:rPr>
              <a:t>(ASLR đang tắt).</a:t>
            </a:r>
          </a:p>
          <a:p>
            <a:pPr marL="342900" indent="-342900" algn="just">
              <a:lnSpc>
                <a:spcPct val="150000"/>
              </a:lnSpc>
              <a:buFont typeface="Arial" panose="020B0604020202020204" pitchFamily="34" charset="0"/>
              <a:buChar char="•"/>
            </a:pPr>
            <a:r>
              <a:rPr lang="vi-VN" sz="2000" dirty="0">
                <a:solidFill>
                  <a:schemeClr val="bg1"/>
                </a:solidFill>
                <a:latin typeface="Calibri" panose="020F0502020204030204" pitchFamily="34" charset="0"/>
                <a:ea typeface="Calibri" panose="020F0502020204030204" pitchFamily="34" charset="0"/>
                <a:cs typeface="Calibri" panose="020F0502020204030204" pitchFamily="34" charset="0"/>
              </a:rPr>
              <a:t>Script báo Giai đoạn 1 chạy xong bước đọc buffer và gửi payload.</a:t>
            </a:r>
          </a:p>
          <a:p>
            <a:pPr marL="342900" indent="-342900" algn="just">
              <a:lnSpc>
                <a:spcPct val="150000"/>
              </a:lnSpc>
              <a:buFont typeface="Arial" panose="020B0604020202020204" pitchFamily="34" charset="0"/>
              <a:buChar char="•"/>
            </a:pPr>
            <a:r>
              <a:rPr lang="vi-VN" sz="2000" dirty="0">
                <a:solidFill>
                  <a:schemeClr val="bg1"/>
                </a:solidFill>
                <a:latin typeface="Calibri" panose="020F0502020204030204" pitchFamily="34" charset="0"/>
                <a:ea typeface="Calibri" panose="020F0502020204030204" pitchFamily="34" charset="0"/>
                <a:cs typeface="Calibri" panose="020F0502020204030204" pitchFamily="34" charset="0"/>
              </a:rPr>
              <a:t>In ra địa chỉ buffer (leak) cụ thể (vd. 0x7fffffffdcf0).</a:t>
            </a:r>
          </a:p>
          <a:p>
            <a:pPr marL="342900" indent="-342900" algn="just">
              <a:lnSpc>
                <a:spcPct val="150000"/>
              </a:lnSpc>
              <a:buFont typeface="Arial" panose="020B0604020202020204" pitchFamily="34" charset="0"/>
              <a:buChar char="•"/>
            </a:pPr>
            <a:r>
              <a:rPr lang="vi-VN" sz="2000" dirty="0">
                <a:solidFill>
                  <a:schemeClr val="bg1"/>
                </a:solidFill>
                <a:latin typeface="Calibri" panose="020F0502020204030204" pitchFamily="34" charset="0"/>
                <a:ea typeface="Calibri" panose="020F0502020204030204" pitchFamily="34" charset="0"/>
                <a:cs typeface="Calibri" panose="020F0502020204030204" pitchFamily="34" charset="0"/>
              </a:rPr>
              <a:t>Xuất hiện uid=1337 — marker cho thấy shellcode đã chạy.</a:t>
            </a:r>
          </a:p>
          <a:p>
            <a:pPr marL="342900" indent="-342900" algn="just">
              <a:lnSpc>
                <a:spcPct val="150000"/>
              </a:lnSpc>
              <a:buFont typeface="Arial" panose="020B0604020202020204" pitchFamily="34" charset="0"/>
              <a:buChar char="•"/>
            </a:pPr>
            <a:r>
              <a:rPr lang="vi-VN" sz="2000" dirty="0">
                <a:solidFill>
                  <a:schemeClr val="bg1"/>
                </a:solidFill>
                <a:latin typeface="Calibri" panose="020F0502020204030204" pitchFamily="34" charset="0"/>
                <a:ea typeface="Calibri" panose="020F0502020204030204" pitchFamily="34" charset="0"/>
                <a:cs typeface="Calibri" panose="020F0502020204030204" pitchFamily="34" charset="0"/>
              </a:rPr>
              <a:t>Cuối cùng có dòng EXPLOIT THÀNH CÔNG và nhận định: địa chỉ cố định, payload ổn định khi ASLR tắt.</a:t>
            </a:r>
            <a:endPar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954360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38CF7D3-76A4-037A-4F44-9BD363330963}"/>
              </a:ext>
            </a:extLst>
          </p:cNvPr>
          <p:cNvPicPr>
            <a:picLocks noChangeAspect="1"/>
          </p:cNvPicPr>
          <p:nvPr/>
        </p:nvPicPr>
        <p:blipFill>
          <a:blip r:embed="rId3"/>
          <a:stretch>
            <a:fillRect/>
          </a:stretch>
        </p:blipFill>
        <p:spPr>
          <a:xfrm>
            <a:off x="1947283" y="1559896"/>
            <a:ext cx="8297433" cy="1619476"/>
          </a:xfrm>
          <a:prstGeom prst="rect">
            <a:avLst/>
          </a:prstGeom>
        </p:spPr>
      </p:pic>
      <p:sp>
        <p:nvSpPr>
          <p:cNvPr id="6" name="Rectangle 5">
            <a:extLst>
              <a:ext uri="{FF2B5EF4-FFF2-40B4-BE49-F238E27FC236}">
                <a16:creationId xmlns:a16="http://schemas.microsoft.com/office/drawing/2014/main" id="{7DAB18F6-A3D4-7442-AB59-3F4A4FCD4F79}"/>
              </a:ext>
            </a:extLst>
          </p:cNvPr>
          <p:cNvSpPr/>
          <p:nvPr/>
        </p:nvSpPr>
        <p:spPr>
          <a:xfrm>
            <a:off x="1947283" y="1048186"/>
            <a:ext cx="6594551" cy="5117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latin typeface="Arial" panose="020B0604020202020204" pitchFamily="34" charset="0"/>
                <a:cs typeface="Arial" panose="020B0604020202020204" pitchFamily="34" charset="0"/>
              </a:rPr>
              <a:t>Dựng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đạn</a:t>
            </a:r>
            <a:r>
              <a:rPr lang="en-US" dirty="0">
                <a:latin typeface="Arial" panose="020B0604020202020204" pitchFamily="34" charset="0"/>
                <a:cs typeface="Arial" panose="020B0604020202020204" pitchFamily="34" charset="0"/>
              </a:rPr>
              <a:t>” — shellcode + NOP + </a:t>
            </a:r>
            <a:r>
              <a:rPr lang="en-US" dirty="0" err="1">
                <a:latin typeface="Arial" panose="020B0604020202020204" pitchFamily="34" charset="0"/>
                <a:cs typeface="Arial" panose="020B0604020202020204" pitchFamily="34" charset="0"/>
              </a:rPr>
              <a:t>ghi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đè</a:t>
            </a:r>
            <a:r>
              <a:rPr lang="en-US" dirty="0">
                <a:latin typeface="Arial" panose="020B0604020202020204" pitchFamily="34" charset="0"/>
                <a:cs typeface="Arial" panose="020B0604020202020204" pitchFamily="34" charset="0"/>
              </a:rPr>
              <a:t> return address</a:t>
            </a:r>
          </a:p>
        </p:txBody>
      </p:sp>
      <p:pic>
        <p:nvPicPr>
          <p:cNvPr id="8" name="Picture 7">
            <a:extLst>
              <a:ext uri="{FF2B5EF4-FFF2-40B4-BE49-F238E27FC236}">
                <a16:creationId xmlns:a16="http://schemas.microsoft.com/office/drawing/2014/main" id="{12B73D14-BA90-249B-684A-7F63ABDF46B8}"/>
              </a:ext>
            </a:extLst>
          </p:cNvPr>
          <p:cNvPicPr>
            <a:picLocks noChangeAspect="1"/>
          </p:cNvPicPr>
          <p:nvPr/>
        </p:nvPicPr>
        <p:blipFill>
          <a:blip r:embed="rId4"/>
          <a:stretch>
            <a:fillRect/>
          </a:stretch>
        </p:blipFill>
        <p:spPr>
          <a:xfrm>
            <a:off x="1947283" y="4020015"/>
            <a:ext cx="8297433" cy="1419038"/>
          </a:xfrm>
          <a:prstGeom prst="rect">
            <a:avLst/>
          </a:prstGeom>
        </p:spPr>
      </p:pic>
      <p:sp>
        <p:nvSpPr>
          <p:cNvPr id="9" name="Rectangle 8">
            <a:extLst>
              <a:ext uri="{FF2B5EF4-FFF2-40B4-BE49-F238E27FC236}">
                <a16:creationId xmlns:a16="http://schemas.microsoft.com/office/drawing/2014/main" id="{F1F8F6CE-8E61-342D-2DA5-0749083A6218}"/>
              </a:ext>
            </a:extLst>
          </p:cNvPr>
          <p:cNvSpPr/>
          <p:nvPr/>
        </p:nvSpPr>
        <p:spPr>
          <a:xfrm>
            <a:off x="1947283" y="3508305"/>
            <a:ext cx="6594551" cy="5117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t>Gửi payload vào chương trình — bước tấn công truyền tải</a:t>
            </a:r>
            <a:endParaRPr lang="en-US" dirty="0"/>
          </a:p>
        </p:txBody>
      </p:sp>
    </p:spTree>
    <p:extLst>
      <p:ext uri="{BB962C8B-B14F-4D97-AF65-F5344CB8AC3E}">
        <p14:creationId xmlns:p14="http://schemas.microsoft.com/office/powerpoint/2010/main" val="4055855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61870-80C1-EA50-99E9-8F320281D622}"/>
            </a:ext>
          </a:extLst>
        </p:cNvPr>
        <p:cNvGrpSpPr/>
        <p:nvPr/>
      </p:nvGrpSpPr>
      <p:grpSpPr>
        <a:xfrm>
          <a:off x="0" y="0"/>
          <a:ext cx="0" cy="0"/>
          <a:chOff x="0" y="0"/>
          <a:chExt cx="0" cy="0"/>
        </a:xfrm>
      </p:grpSpPr>
      <p:grpSp>
        <p:nvGrpSpPr>
          <p:cNvPr id="28" name="Group 27">
            <a:extLst>
              <a:ext uri="{FF2B5EF4-FFF2-40B4-BE49-F238E27FC236}">
                <a16:creationId xmlns:a16="http://schemas.microsoft.com/office/drawing/2014/main" id="{4D6294A2-DC19-B54B-B499-B27F6C2E37DB}"/>
              </a:ext>
            </a:extLst>
          </p:cNvPr>
          <p:cNvGrpSpPr/>
          <p:nvPr/>
        </p:nvGrpSpPr>
        <p:grpSpPr>
          <a:xfrm>
            <a:off x="5955982" y="1852336"/>
            <a:ext cx="3954397" cy="4084728"/>
            <a:chOff x="5610417" y="1646708"/>
            <a:chExt cx="3954397" cy="4084728"/>
          </a:xfrm>
        </p:grpSpPr>
        <p:sp>
          <p:nvSpPr>
            <p:cNvPr id="10" name="Rectangle 9">
              <a:extLst>
                <a:ext uri="{FF2B5EF4-FFF2-40B4-BE49-F238E27FC236}">
                  <a16:creationId xmlns:a16="http://schemas.microsoft.com/office/drawing/2014/main" id="{F5CCA4BA-F4FB-34D6-CB2E-D5D825372847}"/>
                </a:ext>
              </a:extLst>
            </p:cNvPr>
            <p:cNvSpPr/>
            <p:nvPr/>
          </p:nvSpPr>
          <p:spPr>
            <a:xfrm rot="16200000">
              <a:off x="7230169" y="26956"/>
              <a:ext cx="714894" cy="3954397"/>
            </a:xfrm>
            <a:prstGeom prst="rect">
              <a:avLst/>
            </a:prstGeom>
            <a:solidFill>
              <a:srgbClr val="BCFBAD"/>
            </a:solidFill>
            <a:ln>
              <a:noFill/>
            </a:ln>
            <a:effectLst>
              <a:glow rad="127000">
                <a:srgbClr val="BCFBAD">
                  <a:alpha val="2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5FEB4F0-D266-D004-8CE1-62BD8C3734F8}"/>
                </a:ext>
              </a:extLst>
            </p:cNvPr>
            <p:cNvSpPr/>
            <p:nvPr/>
          </p:nvSpPr>
          <p:spPr>
            <a:xfrm>
              <a:off x="5610418" y="1777039"/>
              <a:ext cx="714894" cy="3954397"/>
            </a:xfrm>
            <a:prstGeom prst="rect">
              <a:avLst/>
            </a:prstGeom>
            <a:solidFill>
              <a:srgbClr val="BCFBAD"/>
            </a:solidFill>
            <a:ln>
              <a:noFill/>
            </a:ln>
            <a:effectLst>
              <a:glow rad="127000">
                <a:srgbClr val="BCFBAD">
                  <a:alpha val="2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3">
            <a:extLst>
              <a:ext uri="{FF2B5EF4-FFF2-40B4-BE49-F238E27FC236}">
                <a16:creationId xmlns:a16="http://schemas.microsoft.com/office/drawing/2014/main" id="{3DEEA04C-6809-A543-6B75-2D520916B7F7}"/>
              </a:ext>
            </a:extLst>
          </p:cNvPr>
          <p:cNvGrpSpPr/>
          <p:nvPr/>
        </p:nvGrpSpPr>
        <p:grpSpPr>
          <a:xfrm>
            <a:off x="-19878" y="788664"/>
            <a:ext cx="12191999" cy="366174"/>
            <a:chOff x="1" y="6307500"/>
            <a:chExt cx="12191999" cy="366174"/>
          </a:xfrm>
          <a:effectLst>
            <a:glow rad="63500">
              <a:schemeClr val="accent1">
                <a:satMod val="175000"/>
                <a:alpha val="40000"/>
              </a:schemeClr>
            </a:glow>
          </a:effectLst>
        </p:grpSpPr>
        <p:sp>
          <p:nvSpPr>
            <p:cNvPr id="5" name="AutoShape 37">
              <a:extLst>
                <a:ext uri="{FF2B5EF4-FFF2-40B4-BE49-F238E27FC236}">
                  <a16:creationId xmlns:a16="http://schemas.microsoft.com/office/drawing/2014/main" id="{1396E8EE-19A2-3277-18AC-47271CDA4420}"/>
                </a:ext>
              </a:extLst>
            </p:cNvPr>
            <p:cNvSpPr/>
            <p:nvPr/>
          </p:nvSpPr>
          <p:spPr>
            <a:xfrm>
              <a:off x="1" y="6646250"/>
              <a:ext cx="9413932"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6" name="AutoShape 38">
              <a:extLst>
                <a:ext uri="{FF2B5EF4-FFF2-40B4-BE49-F238E27FC236}">
                  <a16:creationId xmlns:a16="http://schemas.microsoft.com/office/drawing/2014/main" id="{D89F0AD7-31A9-8866-0BD0-67985CA03944}"/>
                </a:ext>
              </a:extLst>
            </p:cNvPr>
            <p:cNvSpPr/>
            <p:nvPr/>
          </p:nvSpPr>
          <p:spPr>
            <a:xfrm rot="18000001">
              <a:off x="9315823" y="6490587"/>
              <a:ext cx="366174"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7" name="AutoShape 40">
              <a:extLst>
                <a:ext uri="{FF2B5EF4-FFF2-40B4-BE49-F238E27FC236}">
                  <a16:creationId xmlns:a16="http://schemas.microsoft.com/office/drawing/2014/main" id="{5F5F1B29-4C97-C9E6-5A40-06EC6FB342CA}"/>
                </a:ext>
              </a:extLst>
            </p:cNvPr>
            <p:cNvSpPr/>
            <p:nvPr/>
          </p:nvSpPr>
          <p:spPr>
            <a:xfrm>
              <a:off x="9584694" y="6332029"/>
              <a:ext cx="2607306" cy="0"/>
            </a:xfrm>
            <a:prstGeom prst="line">
              <a:avLst/>
            </a:prstGeom>
            <a:ln w="19050" cap="flat">
              <a:solidFill>
                <a:srgbClr val="6DB1CC">
                  <a:alpha val="80000"/>
                </a:srgbClr>
              </a:solidFill>
              <a:prstDash val="solid"/>
              <a:headEnd type="none" w="sm" len="sm"/>
              <a:tailEnd type="none" w="sm" len="sm"/>
            </a:ln>
          </p:spPr>
          <p:txBody>
            <a:bodyPr/>
            <a:lstStyle/>
            <a:p>
              <a:endParaRPr lang="en-US"/>
            </a:p>
          </p:txBody>
        </p:sp>
      </p:grpSp>
      <p:sp>
        <p:nvSpPr>
          <p:cNvPr id="8" name="Rectangle 7">
            <a:extLst>
              <a:ext uri="{FF2B5EF4-FFF2-40B4-BE49-F238E27FC236}">
                <a16:creationId xmlns:a16="http://schemas.microsoft.com/office/drawing/2014/main" id="{1493F702-6A4D-E873-CBB2-3FE8060D4B9C}"/>
              </a:ext>
            </a:extLst>
          </p:cNvPr>
          <p:cNvSpPr/>
          <p:nvPr/>
        </p:nvSpPr>
        <p:spPr>
          <a:xfrm>
            <a:off x="647481" y="463478"/>
            <a:ext cx="8142621" cy="593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3400" b="1" dirty="0">
                <a:solidFill>
                  <a:srgbClr val="6DB1CC"/>
                </a:solidFill>
                <a:latin typeface="Segoe UI" panose="020B0502040204020203" pitchFamily="34" charset="0"/>
                <a:cs typeface="Segoe UI" panose="020B0502040204020203" pitchFamily="34" charset="0"/>
              </a:rPr>
              <a:t>THỬ NGHIỆM &amp; ĐÁNH GIÁ</a:t>
            </a:r>
          </a:p>
        </p:txBody>
      </p:sp>
      <p:pic>
        <p:nvPicPr>
          <p:cNvPr id="9" name="Picture 8" descr="Ý nghĩa logo Đại học Công nghệ Tp.HCM (HUTECH)">
            <a:extLst>
              <a:ext uri="{FF2B5EF4-FFF2-40B4-BE49-F238E27FC236}">
                <a16:creationId xmlns:a16="http://schemas.microsoft.com/office/drawing/2014/main" id="{0462D78E-3F07-D38A-666B-C40312BFC5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8096" y="159827"/>
            <a:ext cx="1817203" cy="58278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1F79E2B4-5F3C-E0D9-77AD-F8DAC2D3B28E}"/>
              </a:ext>
            </a:extLst>
          </p:cNvPr>
          <p:cNvSpPr/>
          <p:nvPr/>
        </p:nvSpPr>
        <p:spPr>
          <a:xfrm>
            <a:off x="647481" y="1197819"/>
            <a:ext cx="8142621" cy="5117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2800" dirty="0"/>
              <a:t>ASLR ON</a:t>
            </a:r>
            <a:endParaRPr lang="vi-VN" sz="2600" dirty="0">
              <a:solidFill>
                <a:schemeClr val="bg1"/>
              </a:solidFill>
              <a:latin typeface="Segoe UI" panose="020B0502040204020203" pitchFamily="34" charset="0"/>
              <a:cs typeface="Segoe UI" panose="020B0502040204020203" pitchFamily="34" charset="0"/>
            </a:endParaRPr>
          </a:p>
        </p:txBody>
      </p:sp>
      <p:pic>
        <p:nvPicPr>
          <p:cNvPr id="27" name="Picture 26">
            <a:extLst>
              <a:ext uri="{FF2B5EF4-FFF2-40B4-BE49-F238E27FC236}">
                <a16:creationId xmlns:a16="http://schemas.microsoft.com/office/drawing/2014/main" id="{CA90B22D-8396-3EF3-257F-321CD4C6D045}"/>
              </a:ext>
            </a:extLst>
          </p:cNvPr>
          <p:cNvPicPr>
            <a:picLocks noChangeAspect="1"/>
          </p:cNvPicPr>
          <p:nvPr/>
        </p:nvPicPr>
        <p:blipFill>
          <a:blip r:embed="rId3"/>
          <a:stretch>
            <a:fillRect/>
          </a:stretch>
        </p:blipFill>
        <p:spPr>
          <a:xfrm>
            <a:off x="6112592" y="1986412"/>
            <a:ext cx="6079408" cy="4335732"/>
          </a:xfrm>
          <a:prstGeom prst="rect">
            <a:avLst/>
          </a:prstGeom>
        </p:spPr>
      </p:pic>
      <p:sp>
        <p:nvSpPr>
          <p:cNvPr id="29" name="TextBox 28">
            <a:extLst>
              <a:ext uri="{FF2B5EF4-FFF2-40B4-BE49-F238E27FC236}">
                <a16:creationId xmlns:a16="http://schemas.microsoft.com/office/drawing/2014/main" id="{DD08D83E-2464-9768-5F1D-DA068ECC086A}"/>
              </a:ext>
            </a:extLst>
          </p:cNvPr>
          <p:cNvSpPr txBox="1"/>
          <p:nvPr/>
        </p:nvSpPr>
        <p:spPr>
          <a:xfrm>
            <a:off x="153411" y="2045035"/>
            <a:ext cx="5753319" cy="4661276"/>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vi-VN" sz="2000" dirty="0">
                <a:solidFill>
                  <a:schemeClr val="bg1"/>
                </a:solidFill>
                <a:latin typeface="Calibri" panose="020F0502020204030204" pitchFamily="34" charset="0"/>
                <a:ea typeface="Calibri" panose="020F0502020204030204" pitchFamily="34" charset="0"/>
                <a:cs typeface="Calibri" panose="020F0502020204030204" pitchFamily="34" charset="0"/>
              </a:rPr>
              <a:t>Khi ASLR tắt, chương trình in địa chỉ buffer (vd. 0x7fffffffdd60) — lấy làm --fixed-addr.</a:t>
            </a:r>
          </a:p>
          <a:p>
            <a:pPr marL="342900" indent="-342900" algn="just">
              <a:lnSpc>
                <a:spcPct val="150000"/>
              </a:lnSpc>
              <a:buFont typeface="Arial" panose="020B0604020202020204" pitchFamily="34" charset="0"/>
              <a:buChar char="•"/>
            </a:pPr>
            <a:r>
              <a:rPr lang="vi-VN" sz="2000" dirty="0">
                <a:solidFill>
                  <a:schemeClr val="bg1"/>
                </a:solidFill>
                <a:latin typeface="Calibri" panose="020F0502020204030204" pitchFamily="34" charset="0"/>
                <a:ea typeface="Calibri" panose="020F0502020204030204" pitchFamily="34" charset="0"/>
                <a:cs typeface="Calibri" panose="020F0502020204030204" pitchFamily="34" charset="0"/>
              </a:rPr>
              <a:t>Bật lại ASLR: </a:t>
            </a:r>
            <a:r>
              <a:rPr lang="vi-VN" sz="2000" b="1" dirty="0">
                <a:solidFill>
                  <a:srgbClr val="6DB1CC"/>
                </a:solidFill>
                <a:latin typeface="Calibri" panose="020F0502020204030204" pitchFamily="34" charset="0"/>
                <a:ea typeface="Calibri" panose="020F0502020204030204" pitchFamily="34" charset="0"/>
                <a:cs typeface="Calibri" panose="020F0502020204030204" pitchFamily="34" charset="0"/>
              </a:rPr>
              <a:t>randomize_va_space = 2</a:t>
            </a:r>
            <a:r>
              <a:rPr lang="vi-VN" sz="2000" dirty="0">
                <a:solidFill>
                  <a:schemeClr val="bg1"/>
                </a:solidFill>
                <a:latin typeface="Calibri" panose="020F0502020204030204" pitchFamily="34" charset="0"/>
                <a:ea typeface="Calibri" panose="020F0502020204030204" pitchFamily="34" charset="0"/>
                <a:cs typeface="Calibri" panose="020F0502020204030204" pitchFamily="34" charset="0"/>
              </a:rPr>
              <a:t>.</a:t>
            </a:r>
          </a:p>
          <a:p>
            <a:pPr marL="342900" indent="-342900" algn="just">
              <a:lnSpc>
                <a:spcPct val="150000"/>
              </a:lnSpc>
              <a:buFont typeface="Arial" panose="020B0604020202020204" pitchFamily="34" charset="0"/>
              <a:buChar char="•"/>
            </a:pPr>
            <a:r>
              <a:rPr lang="vi-VN" sz="2000" dirty="0">
                <a:solidFill>
                  <a:schemeClr val="bg1"/>
                </a:solidFill>
                <a:latin typeface="Calibri" panose="020F0502020204030204" pitchFamily="34" charset="0"/>
                <a:ea typeface="Calibri" panose="020F0502020204030204" pitchFamily="34" charset="0"/>
                <a:cs typeface="Calibri" panose="020F0502020204030204" pitchFamily="34" charset="0"/>
              </a:rPr>
              <a:t>Chạy exploit_phase2_aslr_on_fail.py với địa chỉ đó, 50 lần: mỗi chặng 10 lần, success vẫn = 0.</a:t>
            </a:r>
          </a:p>
          <a:p>
            <a:pPr marL="342900" indent="-342900" algn="just">
              <a:lnSpc>
                <a:spcPct val="150000"/>
              </a:lnSpc>
              <a:buFont typeface="Arial" panose="020B0604020202020204" pitchFamily="34" charset="0"/>
              <a:buChar char="•"/>
            </a:pPr>
            <a:r>
              <a:rPr lang="vi-VN" sz="2000" dirty="0">
                <a:solidFill>
                  <a:schemeClr val="bg1"/>
                </a:solidFill>
                <a:latin typeface="Calibri" panose="020F0502020204030204" pitchFamily="34" charset="0"/>
                <a:ea typeface="Calibri" panose="020F0502020204030204" pitchFamily="34" charset="0"/>
                <a:cs typeface="Calibri" panose="020F0502020204030204" pitchFamily="34" charset="0"/>
              </a:rPr>
              <a:t>Success: 0/50 — Crash/fail: 50/50 (không lần nào thành công).</a:t>
            </a:r>
          </a:p>
          <a:p>
            <a:pPr marL="342900" indent="-342900" algn="just">
              <a:lnSpc>
                <a:spcPct val="150000"/>
              </a:lnSpc>
              <a:buFont typeface="Arial" panose="020B0604020202020204" pitchFamily="34" charset="0"/>
              <a:buChar char="•"/>
            </a:pPr>
            <a:r>
              <a:rPr lang="vi-VN" sz="2000" dirty="0">
                <a:solidFill>
                  <a:schemeClr val="bg1"/>
                </a:solidFill>
                <a:latin typeface="Calibri" panose="020F0502020204030204" pitchFamily="34" charset="0"/>
                <a:ea typeface="Calibri" panose="020F0502020204030204" pitchFamily="34" charset="0"/>
                <a:cs typeface="Calibri" panose="020F0502020204030204" pitchFamily="34" charset="0"/>
              </a:rPr>
              <a:t>Stack đổi mỗi lần chạy; payload bám một địa chỉ cũ nên gần như luôn thất bại → thấy tác dụng phòng thủ của ASLR trong kịch bản này.</a:t>
            </a:r>
            <a:endPar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778172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33E87C-0A18-7679-562B-C6434ACDD3C4}"/>
              </a:ext>
            </a:extLst>
          </p:cNvPr>
          <p:cNvPicPr>
            <a:picLocks noChangeAspect="1"/>
          </p:cNvPicPr>
          <p:nvPr/>
        </p:nvPicPr>
        <p:blipFill>
          <a:blip r:embed="rId2"/>
          <a:stretch>
            <a:fillRect/>
          </a:stretch>
        </p:blipFill>
        <p:spPr>
          <a:xfrm>
            <a:off x="2342144" y="1326995"/>
            <a:ext cx="7507712" cy="4926673"/>
          </a:xfrm>
          <a:prstGeom prst="rect">
            <a:avLst/>
          </a:prstGeom>
        </p:spPr>
      </p:pic>
      <p:sp>
        <p:nvSpPr>
          <p:cNvPr id="6" name="Rectangle 5">
            <a:extLst>
              <a:ext uri="{FF2B5EF4-FFF2-40B4-BE49-F238E27FC236}">
                <a16:creationId xmlns:a16="http://schemas.microsoft.com/office/drawing/2014/main" id="{AB9663FD-2EF4-86F4-3E46-1C52F02BDFD9}"/>
              </a:ext>
            </a:extLst>
          </p:cNvPr>
          <p:cNvSpPr/>
          <p:nvPr/>
        </p:nvSpPr>
        <p:spPr>
          <a:xfrm>
            <a:off x="2342144" y="349099"/>
            <a:ext cx="7507712" cy="97789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latin typeface="Arial" panose="020B0604020202020204" pitchFamily="34" charset="0"/>
                <a:cs typeface="Arial" panose="020B0604020202020204" pitchFamily="34" charset="0"/>
              </a:rPr>
              <a:t>run_one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gửi</a:t>
            </a:r>
            <a:r>
              <a:rPr lang="en-US" dirty="0">
                <a:latin typeface="Arial" panose="020B0604020202020204" pitchFamily="34" charset="0"/>
                <a:cs typeface="Arial" panose="020B0604020202020204" pitchFamily="34" charset="0"/>
              </a:rPr>
              <a:t> payload </a:t>
            </a:r>
            <a:r>
              <a:rPr lang="en-US" dirty="0" err="1">
                <a:latin typeface="Arial" panose="020B0604020202020204" pitchFamily="34" charset="0"/>
                <a:cs typeface="Arial" panose="020B0604020202020204" pitchFamily="34" charset="0"/>
              </a:rPr>
              <a:t>địa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chỉ</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cố</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định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vào</a:t>
            </a:r>
            <a:r>
              <a:rPr lang="en-US" dirty="0">
                <a:latin typeface="Arial" panose="020B0604020202020204" pitchFamily="34" charset="0"/>
                <a:cs typeface="Arial" panose="020B0604020202020204" pitchFamily="34" charset="0"/>
              </a:rPr>
              <a:t> binary, </a:t>
            </a:r>
            <a:r>
              <a:rPr lang="en-US" dirty="0" err="1">
                <a:latin typeface="Arial" panose="020B0604020202020204" pitchFamily="34" charset="0"/>
                <a:cs typeface="Arial" panose="020B0604020202020204" pitchFamily="34" charset="0"/>
              </a:rPr>
              <a:t>bỏ</a:t>
            </a:r>
            <a:r>
              <a:rPr lang="en-US" dirty="0">
                <a:latin typeface="Arial" panose="020B0604020202020204" pitchFamily="34" charset="0"/>
                <a:cs typeface="Arial" panose="020B0604020202020204" pitchFamily="34" charset="0"/>
              </a:rPr>
              <a:t> qua leak,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xem</a:t>
            </a:r>
            <a:r>
              <a:rPr lang="en-US" dirty="0">
                <a:latin typeface="Arial" panose="020B0604020202020204" pitchFamily="34" charset="0"/>
                <a:cs typeface="Arial" panose="020B0604020202020204" pitchFamily="34" charset="0"/>
              </a:rPr>
              <a:t> output </a:t>
            </a:r>
            <a:r>
              <a:rPr lang="en-US" dirty="0" err="1">
                <a:latin typeface="Arial" panose="020B0604020202020204" pitchFamily="34" charset="0"/>
                <a:cs typeface="Arial" panose="020B0604020202020204" pitchFamily="34" charset="0"/>
              </a:rPr>
              <a:t>có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uid</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biết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lần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đó</a:t>
            </a:r>
            <a:r>
              <a:rPr lang="en-US" dirty="0">
                <a:latin typeface="Arial" panose="020B0604020202020204" pitchFamily="34" charset="0"/>
                <a:cs typeface="Arial" panose="020B0604020202020204" pitchFamily="34" charset="0"/>
              </a:rPr>
              <a:t> exploit </a:t>
            </a:r>
            <a:r>
              <a:rPr lang="en-US" dirty="0" err="1">
                <a:latin typeface="Arial" panose="020B0604020202020204" pitchFamily="34" charset="0"/>
                <a:cs typeface="Arial" panose="020B0604020202020204" pitchFamily="34" charset="0"/>
              </a:rPr>
              <a:t>có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ăn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không</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dùng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đếm</a:t>
            </a:r>
            <a:r>
              <a:rPr lang="en-US" dirty="0">
                <a:latin typeface="Arial" panose="020B0604020202020204" pitchFamily="34" charset="0"/>
                <a:cs typeface="Arial" panose="020B0604020202020204" pitchFamily="34" charset="0"/>
              </a:rPr>
              <a:t> success/fail </a:t>
            </a:r>
            <a:r>
              <a:rPr lang="en-US" dirty="0" err="1">
                <a:latin typeface="Arial" panose="020B0604020202020204" pitchFamily="34" charset="0"/>
                <a:cs typeface="Arial" panose="020B0604020202020204" pitchFamily="34" charset="0"/>
              </a:rPr>
              <a:t>khi</a:t>
            </a:r>
            <a:r>
              <a:rPr lang="en-US" dirty="0">
                <a:latin typeface="Arial" panose="020B0604020202020204" pitchFamily="34" charset="0"/>
                <a:cs typeface="Arial" panose="020B0604020202020204" pitchFamily="34" charset="0"/>
              </a:rPr>
              <a:t> ASLR </a:t>
            </a:r>
            <a:r>
              <a:rPr lang="en-US" dirty="0" err="1">
                <a:latin typeface="Arial" panose="020B0604020202020204" pitchFamily="34" charset="0"/>
                <a:cs typeface="Arial" panose="020B0604020202020204" pitchFamily="34" charset="0"/>
              </a:rPr>
              <a:t>bật</a:t>
            </a: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9784669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2D03A-8F42-69DF-7706-B97CAC1A75AE}"/>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DD9CFC27-AA81-4DA6-7736-AB724A6BBAD9}"/>
              </a:ext>
            </a:extLst>
          </p:cNvPr>
          <p:cNvGrpSpPr/>
          <p:nvPr/>
        </p:nvGrpSpPr>
        <p:grpSpPr>
          <a:xfrm>
            <a:off x="-19878" y="788664"/>
            <a:ext cx="12191999" cy="366174"/>
            <a:chOff x="1" y="6307500"/>
            <a:chExt cx="12191999" cy="366174"/>
          </a:xfrm>
          <a:effectLst>
            <a:glow rad="63500">
              <a:schemeClr val="accent1">
                <a:satMod val="175000"/>
                <a:alpha val="40000"/>
              </a:schemeClr>
            </a:glow>
          </a:effectLst>
        </p:grpSpPr>
        <p:sp>
          <p:nvSpPr>
            <p:cNvPr id="5" name="AutoShape 37">
              <a:extLst>
                <a:ext uri="{FF2B5EF4-FFF2-40B4-BE49-F238E27FC236}">
                  <a16:creationId xmlns:a16="http://schemas.microsoft.com/office/drawing/2014/main" id="{B5EF1D3E-A217-EDC7-4872-CAFC27A8695E}"/>
                </a:ext>
              </a:extLst>
            </p:cNvPr>
            <p:cNvSpPr/>
            <p:nvPr/>
          </p:nvSpPr>
          <p:spPr>
            <a:xfrm>
              <a:off x="1" y="6646250"/>
              <a:ext cx="9413932"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6" name="AutoShape 38">
              <a:extLst>
                <a:ext uri="{FF2B5EF4-FFF2-40B4-BE49-F238E27FC236}">
                  <a16:creationId xmlns:a16="http://schemas.microsoft.com/office/drawing/2014/main" id="{207FA72E-63E0-7374-CC3F-5FDF61DBAD55}"/>
                </a:ext>
              </a:extLst>
            </p:cNvPr>
            <p:cNvSpPr/>
            <p:nvPr/>
          </p:nvSpPr>
          <p:spPr>
            <a:xfrm rot="18000001">
              <a:off x="9315823" y="6490587"/>
              <a:ext cx="366174"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7" name="AutoShape 40">
              <a:extLst>
                <a:ext uri="{FF2B5EF4-FFF2-40B4-BE49-F238E27FC236}">
                  <a16:creationId xmlns:a16="http://schemas.microsoft.com/office/drawing/2014/main" id="{EF2E1533-6A99-62E8-315C-3D734CF2AE89}"/>
                </a:ext>
              </a:extLst>
            </p:cNvPr>
            <p:cNvSpPr/>
            <p:nvPr/>
          </p:nvSpPr>
          <p:spPr>
            <a:xfrm>
              <a:off x="9584694" y="6332029"/>
              <a:ext cx="2607306" cy="0"/>
            </a:xfrm>
            <a:prstGeom prst="line">
              <a:avLst/>
            </a:prstGeom>
            <a:ln w="19050" cap="flat">
              <a:solidFill>
                <a:srgbClr val="6DB1CC">
                  <a:alpha val="80000"/>
                </a:srgbClr>
              </a:solidFill>
              <a:prstDash val="solid"/>
              <a:headEnd type="none" w="sm" len="sm"/>
              <a:tailEnd type="none" w="sm" len="sm"/>
            </a:ln>
          </p:spPr>
          <p:txBody>
            <a:bodyPr/>
            <a:lstStyle/>
            <a:p>
              <a:endParaRPr lang="en-US"/>
            </a:p>
          </p:txBody>
        </p:sp>
      </p:grpSp>
      <p:sp>
        <p:nvSpPr>
          <p:cNvPr id="8" name="Rectangle 7">
            <a:extLst>
              <a:ext uri="{FF2B5EF4-FFF2-40B4-BE49-F238E27FC236}">
                <a16:creationId xmlns:a16="http://schemas.microsoft.com/office/drawing/2014/main" id="{E94F57C1-F780-D95D-24D9-07F47D6648C6}"/>
              </a:ext>
            </a:extLst>
          </p:cNvPr>
          <p:cNvSpPr/>
          <p:nvPr/>
        </p:nvSpPr>
        <p:spPr>
          <a:xfrm>
            <a:off x="647481" y="463478"/>
            <a:ext cx="8142621" cy="593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3400" b="1" dirty="0">
                <a:solidFill>
                  <a:srgbClr val="6DB1CC"/>
                </a:solidFill>
                <a:latin typeface="Segoe UI" panose="020B0502040204020203" pitchFamily="34" charset="0"/>
                <a:cs typeface="Segoe UI" panose="020B0502040204020203" pitchFamily="34" charset="0"/>
              </a:rPr>
              <a:t>THỬ NGHIỆM &amp; ĐÁNH GIÁ</a:t>
            </a:r>
          </a:p>
        </p:txBody>
      </p:sp>
      <p:pic>
        <p:nvPicPr>
          <p:cNvPr id="9" name="Picture 8" descr="Ý nghĩa logo Đại học Công nghệ Tp.HCM (HUTECH)">
            <a:extLst>
              <a:ext uri="{FF2B5EF4-FFF2-40B4-BE49-F238E27FC236}">
                <a16:creationId xmlns:a16="http://schemas.microsoft.com/office/drawing/2014/main" id="{72E1F08B-372D-5616-09C0-FBE7E8AD9F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8096" y="159827"/>
            <a:ext cx="1817203" cy="58278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DFA84126-34E6-A71E-AFE3-DCD7094B8D99}"/>
              </a:ext>
            </a:extLst>
          </p:cNvPr>
          <p:cNvSpPr/>
          <p:nvPr/>
        </p:nvSpPr>
        <p:spPr>
          <a:xfrm>
            <a:off x="647481" y="1197819"/>
            <a:ext cx="8142621" cy="5117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2800" dirty="0"/>
              <a:t>ASLR + LEAK (BYPASS)</a:t>
            </a:r>
            <a:endParaRPr lang="vi-VN" sz="2600" dirty="0">
              <a:solidFill>
                <a:schemeClr val="bg1"/>
              </a:solidFill>
              <a:latin typeface="Segoe UI" panose="020B0502040204020203" pitchFamily="34" charset="0"/>
              <a:cs typeface="Segoe UI" panose="020B0502040204020203" pitchFamily="34" charset="0"/>
            </a:endParaRPr>
          </a:p>
        </p:txBody>
      </p:sp>
      <p:sp>
        <p:nvSpPr>
          <p:cNvPr id="15" name="TextBox 14">
            <a:extLst>
              <a:ext uri="{FF2B5EF4-FFF2-40B4-BE49-F238E27FC236}">
                <a16:creationId xmlns:a16="http://schemas.microsoft.com/office/drawing/2014/main" id="{C9D9B7A1-DD5A-0355-4C37-66B0149DD040}"/>
              </a:ext>
            </a:extLst>
          </p:cNvPr>
          <p:cNvSpPr txBox="1"/>
          <p:nvPr/>
        </p:nvSpPr>
        <p:spPr>
          <a:xfrm>
            <a:off x="153411" y="2728418"/>
            <a:ext cx="5753319" cy="2814617"/>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vi-VN" sz="2000" b="1" dirty="0">
                <a:solidFill>
                  <a:srgbClr val="6DB1CC"/>
                </a:solidFill>
                <a:latin typeface="Calibri" panose="020F0502020204030204" pitchFamily="34" charset="0"/>
                <a:ea typeface="Calibri" panose="020F0502020204030204" pitchFamily="34" charset="0"/>
                <a:cs typeface="Calibri" panose="020F0502020204030204" pitchFamily="34" charset="0"/>
              </a:rPr>
              <a:t>randomize_va_space = 2 </a:t>
            </a:r>
            <a:r>
              <a:rPr lang="vi-VN" sz="2000" dirty="0">
                <a:solidFill>
                  <a:srgbClr val="6DB1CC"/>
                </a:solidFill>
                <a:latin typeface="Calibri" panose="020F0502020204030204" pitchFamily="34" charset="0"/>
                <a:ea typeface="Calibri" panose="020F0502020204030204" pitchFamily="34" charset="0"/>
                <a:cs typeface="Calibri" panose="020F0502020204030204" pitchFamily="34" charset="0"/>
              </a:rPr>
              <a:t>(ASLR bật)</a:t>
            </a:r>
            <a:r>
              <a:rPr lang="vi-VN" sz="2000" dirty="0">
                <a:solidFill>
                  <a:schemeClr val="bg1"/>
                </a:solidFill>
                <a:latin typeface="Calibri" panose="020F0502020204030204" pitchFamily="34" charset="0"/>
                <a:ea typeface="Calibri" panose="020F0502020204030204" pitchFamily="34" charset="0"/>
                <a:cs typeface="Calibri" panose="020F0502020204030204" pitchFamily="34" charset="0"/>
              </a:rPr>
              <a:t>.</a:t>
            </a:r>
          </a:p>
          <a:p>
            <a:pPr marL="342900" indent="-342900" algn="just">
              <a:lnSpc>
                <a:spcPct val="150000"/>
              </a:lnSpc>
              <a:buFont typeface="Arial" panose="020B0604020202020204" pitchFamily="34" charset="0"/>
              <a:buChar char="•"/>
            </a:pPr>
            <a:r>
              <a:rPr lang="vi-VN" sz="2000" dirty="0">
                <a:solidFill>
                  <a:schemeClr val="bg1"/>
                </a:solidFill>
                <a:latin typeface="Calibri" panose="020F0502020204030204" pitchFamily="34" charset="0"/>
                <a:ea typeface="Calibri" panose="020F0502020204030204" pitchFamily="34" charset="0"/>
                <a:cs typeface="Calibri" panose="020F0502020204030204" pitchFamily="34" charset="0"/>
              </a:rPr>
              <a:t>Script đọc leak buffer (vd. 0x7fff9aaf15e0) → dùng làm địa chỉ nhảy.</a:t>
            </a:r>
          </a:p>
          <a:p>
            <a:pPr marL="342900" indent="-342900" algn="just">
              <a:lnSpc>
                <a:spcPct val="150000"/>
              </a:lnSpc>
              <a:buFont typeface="Arial" panose="020B0604020202020204" pitchFamily="34" charset="0"/>
              <a:buChar char="•"/>
            </a:pPr>
            <a:r>
              <a:rPr lang="vi-VN" sz="2000" dirty="0">
                <a:solidFill>
                  <a:schemeClr val="bg1"/>
                </a:solidFill>
                <a:latin typeface="Calibri" panose="020F0502020204030204" pitchFamily="34" charset="0"/>
                <a:ea typeface="Calibri" panose="020F0502020204030204" pitchFamily="34" charset="0"/>
                <a:cs typeface="Calibri" panose="020F0502020204030204" pitchFamily="34" charset="0"/>
              </a:rPr>
              <a:t>Có uid=1337 và dòng BYPASS THÀNH CÔNG → exploit vẫn chạy được nhờ lộ địa chỉ, ASLR kém tác dụng trong trường hợp này</a:t>
            </a:r>
            <a:endPar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30" name="Picture 29">
            <a:extLst>
              <a:ext uri="{FF2B5EF4-FFF2-40B4-BE49-F238E27FC236}">
                <a16:creationId xmlns:a16="http://schemas.microsoft.com/office/drawing/2014/main" id="{2433A59B-D1CE-1BD2-F7C4-9416CBEFBB27}"/>
              </a:ext>
            </a:extLst>
          </p:cNvPr>
          <p:cNvPicPr>
            <a:picLocks noChangeAspect="1"/>
          </p:cNvPicPr>
          <p:nvPr/>
        </p:nvPicPr>
        <p:blipFill>
          <a:blip r:embed="rId3"/>
          <a:stretch>
            <a:fillRect/>
          </a:stretch>
        </p:blipFill>
        <p:spPr>
          <a:xfrm>
            <a:off x="6112591" y="2910464"/>
            <a:ext cx="6079409" cy="2450527"/>
          </a:xfrm>
          <a:prstGeom prst="rect">
            <a:avLst/>
          </a:prstGeom>
        </p:spPr>
      </p:pic>
      <p:sp>
        <p:nvSpPr>
          <p:cNvPr id="16" name="Rectangle 15">
            <a:extLst>
              <a:ext uri="{FF2B5EF4-FFF2-40B4-BE49-F238E27FC236}">
                <a16:creationId xmlns:a16="http://schemas.microsoft.com/office/drawing/2014/main" id="{203A2C33-982D-8497-0E5A-67F96F92CA45}"/>
              </a:ext>
            </a:extLst>
          </p:cNvPr>
          <p:cNvSpPr/>
          <p:nvPr/>
        </p:nvSpPr>
        <p:spPr>
          <a:xfrm rot="16200000">
            <a:off x="10168132" y="3383792"/>
            <a:ext cx="93340" cy="3954397"/>
          </a:xfrm>
          <a:prstGeom prst="rect">
            <a:avLst/>
          </a:prstGeom>
          <a:solidFill>
            <a:srgbClr val="68AECA"/>
          </a:solidFill>
          <a:ln>
            <a:noFill/>
          </a:ln>
          <a:effectLst>
            <a:glow rad="127000">
              <a:srgbClr val="93C5D9">
                <a:alpha val="2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9D350752-F94D-471E-A702-9DFF4D368855}"/>
              </a:ext>
            </a:extLst>
          </p:cNvPr>
          <p:cNvSpPr/>
          <p:nvPr/>
        </p:nvSpPr>
        <p:spPr>
          <a:xfrm rot="16200000">
            <a:off x="7464893" y="1508597"/>
            <a:ext cx="93340" cy="2797945"/>
          </a:xfrm>
          <a:prstGeom prst="rect">
            <a:avLst/>
          </a:prstGeom>
          <a:solidFill>
            <a:srgbClr val="68AECA"/>
          </a:solidFill>
          <a:ln>
            <a:noFill/>
          </a:ln>
          <a:effectLst>
            <a:glow rad="127000">
              <a:srgbClr val="93C5D9">
                <a:alpha val="2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594265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58A68-282D-A160-409D-324EA8F2646E}"/>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B471CCAF-3456-7029-3EC5-4A22569BCDDA}"/>
              </a:ext>
            </a:extLst>
          </p:cNvPr>
          <p:cNvGrpSpPr/>
          <p:nvPr/>
        </p:nvGrpSpPr>
        <p:grpSpPr>
          <a:xfrm>
            <a:off x="-19878" y="788664"/>
            <a:ext cx="12191999" cy="366174"/>
            <a:chOff x="1" y="6307500"/>
            <a:chExt cx="12191999" cy="366174"/>
          </a:xfrm>
          <a:effectLst>
            <a:glow rad="63500">
              <a:schemeClr val="accent1">
                <a:satMod val="175000"/>
                <a:alpha val="40000"/>
              </a:schemeClr>
            </a:glow>
          </a:effectLst>
        </p:grpSpPr>
        <p:sp>
          <p:nvSpPr>
            <p:cNvPr id="5" name="AutoShape 37">
              <a:extLst>
                <a:ext uri="{FF2B5EF4-FFF2-40B4-BE49-F238E27FC236}">
                  <a16:creationId xmlns:a16="http://schemas.microsoft.com/office/drawing/2014/main" id="{FF48788F-7538-0316-A414-E4B6B179F4B0}"/>
                </a:ext>
              </a:extLst>
            </p:cNvPr>
            <p:cNvSpPr/>
            <p:nvPr/>
          </p:nvSpPr>
          <p:spPr>
            <a:xfrm>
              <a:off x="1" y="6646250"/>
              <a:ext cx="9413932"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6" name="AutoShape 38">
              <a:extLst>
                <a:ext uri="{FF2B5EF4-FFF2-40B4-BE49-F238E27FC236}">
                  <a16:creationId xmlns:a16="http://schemas.microsoft.com/office/drawing/2014/main" id="{04AC0BA3-D448-35FD-4377-0BD67678FCDB}"/>
                </a:ext>
              </a:extLst>
            </p:cNvPr>
            <p:cNvSpPr/>
            <p:nvPr/>
          </p:nvSpPr>
          <p:spPr>
            <a:xfrm rot="18000001">
              <a:off x="9315823" y="6490587"/>
              <a:ext cx="366174"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7" name="AutoShape 40">
              <a:extLst>
                <a:ext uri="{FF2B5EF4-FFF2-40B4-BE49-F238E27FC236}">
                  <a16:creationId xmlns:a16="http://schemas.microsoft.com/office/drawing/2014/main" id="{024E6A2B-D673-82A7-31DF-C84C5EA11A4F}"/>
                </a:ext>
              </a:extLst>
            </p:cNvPr>
            <p:cNvSpPr/>
            <p:nvPr/>
          </p:nvSpPr>
          <p:spPr>
            <a:xfrm>
              <a:off x="9584694" y="6332029"/>
              <a:ext cx="2607306" cy="0"/>
            </a:xfrm>
            <a:prstGeom prst="line">
              <a:avLst/>
            </a:prstGeom>
            <a:ln w="19050" cap="flat">
              <a:solidFill>
                <a:srgbClr val="6DB1CC">
                  <a:alpha val="80000"/>
                </a:srgbClr>
              </a:solidFill>
              <a:prstDash val="solid"/>
              <a:headEnd type="none" w="sm" len="sm"/>
              <a:tailEnd type="none" w="sm" len="sm"/>
            </a:ln>
          </p:spPr>
          <p:txBody>
            <a:bodyPr/>
            <a:lstStyle/>
            <a:p>
              <a:endParaRPr lang="en-US"/>
            </a:p>
          </p:txBody>
        </p:sp>
      </p:grpSp>
      <p:sp>
        <p:nvSpPr>
          <p:cNvPr id="8" name="Rectangle 7">
            <a:extLst>
              <a:ext uri="{FF2B5EF4-FFF2-40B4-BE49-F238E27FC236}">
                <a16:creationId xmlns:a16="http://schemas.microsoft.com/office/drawing/2014/main" id="{B7D3A1E7-724B-7A62-2914-9D394256B3FB}"/>
              </a:ext>
            </a:extLst>
          </p:cNvPr>
          <p:cNvSpPr/>
          <p:nvPr/>
        </p:nvSpPr>
        <p:spPr>
          <a:xfrm>
            <a:off x="647481" y="463478"/>
            <a:ext cx="8142621" cy="593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3400" b="1" dirty="0">
                <a:solidFill>
                  <a:srgbClr val="6DB1CC"/>
                </a:solidFill>
                <a:latin typeface="Segoe UI" panose="020B0502040204020203" pitchFamily="34" charset="0"/>
                <a:cs typeface="Segoe UI" panose="020B0502040204020203" pitchFamily="34" charset="0"/>
              </a:rPr>
              <a:t>THỬ NGHIỆM &amp; ĐÁNH GIÁ</a:t>
            </a:r>
          </a:p>
        </p:txBody>
      </p:sp>
      <p:pic>
        <p:nvPicPr>
          <p:cNvPr id="9" name="Picture 8" descr="Ý nghĩa logo Đại học Công nghệ Tp.HCM (HUTECH)">
            <a:extLst>
              <a:ext uri="{FF2B5EF4-FFF2-40B4-BE49-F238E27FC236}">
                <a16:creationId xmlns:a16="http://schemas.microsoft.com/office/drawing/2014/main" id="{D0E2289D-71E1-D708-7EBB-7C5F1FF326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8096" y="159827"/>
            <a:ext cx="1817203" cy="58278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01870664-57C1-6EED-9B89-5C38629599E3}"/>
              </a:ext>
            </a:extLst>
          </p:cNvPr>
          <p:cNvSpPr/>
          <p:nvPr/>
        </p:nvSpPr>
        <p:spPr>
          <a:xfrm>
            <a:off x="647481" y="1197819"/>
            <a:ext cx="8142621" cy="5117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2800" dirty="0"/>
              <a:t>ASLR + NX + ROP</a:t>
            </a:r>
            <a:endParaRPr lang="vi-VN" sz="2800" dirty="0">
              <a:solidFill>
                <a:schemeClr val="bg1"/>
              </a:solidFill>
              <a:latin typeface="Segoe UI" panose="020B0502040204020203" pitchFamily="34" charset="0"/>
              <a:cs typeface="Segoe UI" panose="020B0502040204020203" pitchFamily="34" charset="0"/>
            </a:endParaRPr>
          </a:p>
        </p:txBody>
      </p:sp>
      <p:pic>
        <p:nvPicPr>
          <p:cNvPr id="18" name="Picture 17">
            <a:extLst>
              <a:ext uri="{FF2B5EF4-FFF2-40B4-BE49-F238E27FC236}">
                <a16:creationId xmlns:a16="http://schemas.microsoft.com/office/drawing/2014/main" id="{E82BC38B-F312-BDAD-2696-53A82A4847A4}"/>
              </a:ext>
            </a:extLst>
          </p:cNvPr>
          <p:cNvPicPr>
            <a:picLocks noChangeAspect="1"/>
          </p:cNvPicPr>
          <p:nvPr/>
        </p:nvPicPr>
        <p:blipFill>
          <a:blip r:embed="rId3"/>
          <a:stretch>
            <a:fillRect/>
          </a:stretch>
        </p:blipFill>
        <p:spPr>
          <a:xfrm>
            <a:off x="6050828" y="2191162"/>
            <a:ext cx="6141172" cy="4028502"/>
          </a:xfrm>
          <a:prstGeom prst="rect">
            <a:avLst/>
          </a:prstGeom>
        </p:spPr>
      </p:pic>
      <p:sp>
        <p:nvSpPr>
          <p:cNvPr id="14" name="Rectangle 13">
            <a:extLst>
              <a:ext uri="{FF2B5EF4-FFF2-40B4-BE49-F238E27FC236}">
                <a16:creationId xmlns:a16="http://schemas.microsoft.com/office/drawing/2014/main" id="{CFAE18EB-ADEB-79B6-494E-DD62BE9694A8}"/>
              </a:ext>
            </a:extLst>
          </p:cNvPr>
          <p:cNvSpPr/>
          <p:nvPr/>
        </p:nvSpPr>
        <p:spPr>
          <a:xfrm rot="16200000">
            <a:off x="10168132" y="4242465"/>
            <a:ext cx="93340" cy="3954397"/>
          </a:xfrm>
          <a:prstGeom prst="rect">
            <a:avLst/>
          </a:prstGeom>
          <a:solidFill>
            <a:srgbClr val="68AECA"/>
          </a:solidFill>
          <a:ln>
            <a:noFill/>
          </a:ln>
          <a:effectLst>
            <a:glow rad="127000">
              <a:srgbClr val="93C5D9">
                <a:alpha val="2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CA569F35-D851-81F0-DB94-904F495EEE20}"/>
              </a:ext>
            </a:extLst>
          </p:cNvPr>
          <p:cNvSpPr/>
          <p:nvPr/>
        </p:nvSpPr>
        <p:spPr>
          <a:xfrm rot="16200000">
            <a:off x="7403130" y="789295"/>
            <a:ext cx="93340" cy="2797945"/>
          </a:xfrm>
          <a:prstGeom prst="rect">
            <a:avLst/>
          </a:prstGeom>
          <a:solidFill>
            <a:srgbClr val="68AECA"/>
          </a:solidFill>
          <a:ln>
            <a:noFill/>
          </a:ln>
          <a:effectLst>
            <a:glow rad="127000">
              <a:srgbClr val="93C5D9">
                <a:alpha val="2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123AEAB3-B596-AA2E-6BE4-E9EBB90B2C79}"/>
              </a:ext>
            </a:extLst>
          </p:cNvPr>
          <p:cNvSpPr txBox="1"/>
          <p:nvPr/>
        </p:nvSpPr>
        <p:spPr>
          <a:xfrm>
            <a:off x="153411" y="2045035"/>
            <a:ext cx="5753319" cy="4199611"/>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vi-VN" sz="2000" b="1" dirty="0">
                <a:solidFill>
                  <a:srgbClr val="6DB1CC"/>
                </a:solidFill>
                <a:latin typeface="Calibri" panose="020F0502020204030204" pitchFamily="34" charset="0"/>
                <a:ea typeface="Calibri" panose="020F0502020204030204" pitchFamily="34" charset="0"/>
                <a:cs typeface="Calibri" panose="020F0502020204030204" pitchFamily="34" charset="0"/>
              </a:rPr>
              <a:t>randomize_va_space = 2 </a:t>
            </a:r>
            <a:r>
              <a:rPr lang="vi-VN" sz="2000" dirty="0">
                <a:solidFill>
                  <a:srgbClr val="6DB1CC"/>
                </a:solidFill>
                <a:latin typeface="Calibri" panose="020F0502020204030204" pitchFamily="34" charset="0"/>
                <a:ea typeface="Calibri" panose="020F0502020204030204" pitchFamily="34" charset="0"/>
                <a:cs typeface="Calibri" panose="020F0502020204030204" pitchFamily="34" charset="0"/>
              </a:rPr>
              <a:t>(ASLR bật)</a:t>
            </a:r>
            <a:r>
              <a:rPr lang="vi-VN" sz="2000" dirty="0">
                <a:solidFill>
                  <a:schemeClr val="bg1"/>
                </a:solidFill>
                <a:latin typeface="Calibri" panose="020F0502020204030204" pitchFamily="34" charset="0"/>
                <a:ea typeface="Calibri" panose="020F0502020204030204" pitchFamily="34" charset="0"/>
                <a:cs typeface="Calibri" panose="020F0502020204030204" pitchFamily="34" charset="0"/>
              </a:rPr>
              <a:t>.</a:t>
            </a:r>
          </a:p>
          <a:p>
            <a:pPr marL="342900" indent="-342900" algn="just">
              <a:lnSpc>
                <a:spcPct val="150000"/>
              </a:lnSpc>
              <a:buFont typeface="Arial" panose="020B0604020202020204" pitchFamily="34" charset="0"/>
              <a:buChar char="•"/>
            </a:pPr>
            <a:r>
              <a:rPr lang="vi-VN" sz="2000" dirty="0">
                <a:solidFill>
                  <a:schemeClr val="bg1"/>
                </a:solidFill>
                <a:latin typeface="Calibri" panose="020F0502020204030204" pitchFamily="34" charset="0"/>
                <a:ea typeface="Calibri" panose="020F0502020204030204" pitchFamily="34" charset="0"/>
                <a:cs typeface="Calibri" panose="020F0502020204030204" pitchFamily="34" charset="0"/>
              </a:rPr>
              <a:t>Chạy exploit_phase4_rop.py heavy: leak printf trong libc → tính libc base → suy ra system, chuỗi /bin/sh, gadget pop rdi / ret; payload 240 byte, OFFSET_RET = 104.</a:t>
            </a:r>
          </a:p>
          <a:p>
            <a:pPr marL="342900" indent="-342900" algn="just">
              <a:lnSpc>
                <a:spcPct val="150000"/>
              </a:lnSpc>
              <a:buFont typeface="Arial" panose="020B0604020202020204" pitchFamily="34" charset="0"/>
              <a:buChar char="•"/>
            </a:pPr>
            <a:r>
              <a:rPr lang="vi-VN" sz="2000" dirty="0">
                <a:solidFill>
                  <a:schemeClr val="bg1"/>
                </a:solidFill>
                <a:latin typeface="Calibri" panose="020F0502020204030204" pitchFamily="34" charset="0"/>
                <a:ea typeface="Calibri" panose="020F0502020204030204" pitchFamily="34" charset="0"/>
                <a:cs typeface="Calibri" panose="020F0502020204030204" pitchFamily="34" charset="0"/>
              </a:rPr>
              <a:t>Output uid=1000(kali)... — shell thật, lệnh id chạy được (khác marker 1337 của shellcode).</a:t>
            </a:r>
          </a:p>
          <a:p>
            <a:pPr marL="342900" indent="-342900" algn="just">
              <a:lnSpc>
                <a:spcPct val="150000"/>
              </a:lnSpc>
              <a:buFont typeface="Arial" panose="020B0604020202020204" pitchFamily="34" charset="0"/>
              <a:buChar char="•"/>
            </a:pPr>
            <a:r>
              <a:rPr lang="vi-VN" sz="2000" dirty="0">
                <a:solidFill>
                  <a:schemeClr val="bg1"/>
                </a:solidFill>
                <a:latin typeface="Calibri" panose="020F0502020204030204" pitchFamily="34" charset="0"/>
                <a:ea typeface="Calibri" panose="020F0502020204030204" pitchFamily="34" charset="0"/>
                <a:cs typeface="Calibri" panose="020F0502020204030204" pitchFamily="34" charset="0"/>
              </a:rPr>
              <a:t>Dòng ROP THÀNH CÔNG: có leak + ret2libc thì NX + ASLR riêng lẻ chưa đủ trong kịch bản demo.</a:t>
            </a:r>
            <a:endPar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612333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C3C03-95E0-F796-ECCC-6C46BCA4A923}"/>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0016BFBB-C9BD-7568-70E2-8CFD3C80FE83}"/>
              </a:ext>
            </a:extLst>
          </p:cNvPr>
          <p:cNvGrpSpPr/>
          <p:nvPr/>
        </p:nvGrpSpPr>
        <p:grpSpPr>
          <a:xfrm>
            <a:off x="-19878" y="788664"/>
            <a:ext cx="12191999" cy="366174"/>
            <a:chOff x="1" y="6307500"/>
            <a:chExt cx="12191999" cy="366174"/>
          </a:xfrm>
          <a:effectLst>
            <a:glow rad="63500">
              <a:schemeClr val="accent1">
                <a:satMod val="175000"/>
                <a:alpha val="40000"/>
              </a:schemeClr>
            </a:glow>
          </a:effectLst>
        </p:grpSpPr>
        <p:sp>
          <p:nvSpPr>
            <p:cNvPr id="5" name="AutoShape 37">
              <a:extLst>
                <a:ext uri="{FF2B5EF4-FFF2-40B4-BE49-F238E27FC236}">
                  <a16:creationId xmlns:a16="http://schemas.microsoft.com/office/drawing/2014/main" id="{4AFB2A7D-D406-AB17-6B1A-221F334DE8E9}"/>
                </a:ext>
              </a:extLst>
            </p:cNvPr>
            <p:cNvSpPr/>
            <p:nvPr/>
          </p:nvSpPr>
          <p:spPr>
            <a:xfrm>
              <a:off x="1" y="6646250"/>
              <a:ext cx="9413932"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6" name="AutoShape 38">
              <a:extLst>
                <a:ext uri="{FF2B5EF4-FFF2-40B4-BE49-F238E27FC236}">
                  <a16:creationId xmlns:a16="http://schemas.microsoft.com/office/drawing/2014/main" id="{2A00B0BA-6629-0724-E925-28A29097FF22}"/>
                </a:ext>
              </a:extLst>
            </p:cNvPr>
            <p:cNvSpPr/>
            <p:nvPr/>
          </p:nvSpPr>
          <p:spPr>
            <a:xfrm rot="18000001">
              <a:off x="9315823" y="6490587"/>
              <a:ext cx="366174"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7" name="AutoShape 40">
              <a:extLst>
                <a:ext uri="{FF2B5EF4-FFF2-40B4-BE49-F238E27FC236}">
                  <a16:creationId xmlns:a16="http://schemas.microsoft.com/office/drawing/2014/main" id="{941F5664-7DC4-8ACC-816F-E9998E786813}"/>
                </a:ext>
              </a:extLst>
            </p:cNvPr>
            <p:cNvSpPr/>
            <p:nvPr/>
          </p:nvSpPr>
          <p:spPr>
            <a:xfrm>
              <a:off x="9584694" y="6332029"/>
              <a:ext cx="2607306" cy="0"/>
            </a:xfrm>
            <a:prstGeom prst="line">
              <a:avLst/>
            </a:prstGeom>
            <a:ln w="19050" cap="flat">
              <a:solidFill>
                <a:srgbClr val="6DB1CC">
                  <a:alpha val="80000"/>
                </a:srgbClr>
              </a:solidFill>
              <a:prstDash val="solid"/>
              <a:headEnd type="none" w="sm" len="sm"/>
              <a:tailEnd type="none" w="sm" len="sm"/>
            </a:ln>
          </p:spPr>
          <p:txBody>
            <a:bodyPr/>
            <a:lstStyle/>
            <a:p>
              <a:endParaRPr lang="en-US"/>
            </a:p>
          </p:txBody>
        </p:sp>
      </p:grpSp>
      <p:sp>
        <p:nvSpPr>
          <p:cNvPr id="8" name="Rectangle 7">
            <a:extLst>
              <a:ext uri="{FF2B5EF4-FFF2-40B4-BE49-F238E27FC236}">
                <a16:creationId xmlns:a16="http://schemas.microsoft.com/office/drawing/2014/main" id="{81CEE8D3-5C2D-4E98-025A-8ECDE6AC5356}"/>
              </a:ext>
            </a:extLst>
          </p:cNvPr>
          <p:cNvSpPr/>
          <p:nvPr/>
        </p:nvSpPr>
        <p:spPr>
          <a:xfrm>
            <a:off x="647481" y="463478"/>
            <a:ext cx="8142621" cy="593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3400" b="1" dirty="0">
                <a:solidFill>
                  <a:srgbClr val="6DB1CC"/>
                </a:solidFill>
                <a:latin typeface="Segoe UI" panose="020B0502040204020203" pitchFamily="34" charset="0"/>
                <a:cs typeface="Segoe UI" panose="020B0502040204020203" pitchFamily="34" charset="0"/>
              </a:rPr>
              <a:t>THỬ NGHIỆM &amp; ĐÁNH GIÁ</a:t>
            </a:r>
          </a:p>
        </p:txBody>
      </p:sp>
      <p:pic>
        <p:nvPicPr>
          <p:cNvPr id="9" name="Picture 8" descr="Ý nghĩa logo Đại học Công nghệ Tp.HCM (HUTECH)">
            <a:extLst>
              <a:ext uri="{FF2B5EF4-FFF2-40B4-BE49-F238E27FC236}">
                <a16:creationId xmlns:a16="http://schemas.microsoft.com/office/drawing/2014/main" id="{D4EDCDD0-A590-F618-2E13-C01B3107BF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8096" y="159827"/>
            <a:ext cx="1817203" cy="58278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56192A2-07BE-7198-11FE-736A786E587F}"/>
              </a:ext>
            </a:extLst>
          </p:cNvPr>
          <p:cNvSpPr/>
          <p:nvPr/>
        </p:nvSpPr>
        <p:spPr>
          <a:xfrm>
            <a:off x="647481" y="1197819"/>
            <a:ext cx="8142621" cy="5117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2800" dirty="0"/>
              <a:t>SO SÁNH PIE &amp; NON – PIE</a:t>
            </a:r>
            <a:endParaRPr lang="vi-VN" sz="2800" dirty="0">
              <a:solidFill>
                <a:schemeClr val="bg1"/>
              </a:solidFill>
              <a:latin typeface="Segoe UI" panose="020B0502040204020203" pitchFamily="34" charset="0"/>
              <a:cs typeface="Segoe UI" panose="020B0502040204020203" pitchFamily="34" charset="0"/>
            </a:endParaRPr>
          </a:p>
        </p:txBody>
      </p:sp>
      <p:pic>
        <p:nvPicPr>
          <p:cNvPr id="13" name="Picture 12">
            <a:extLst>
              <a:ext uri="{FF2B5EF4-FFF2-40B4-BE49-F238E27FC236}">
                <a16:creationId xmlns:a16="http://schemas.microsoft.com/office/drawing/2014/main" id="{4B41D2BC-B8FD-5370-1582-9F697A9DA11B}"/>
              </a:ext>
            </a:extLst>
          </p:cNvPr>
          <p:cNvPicPr>
            <a:picLocks noChangeAspect="1"/>
          </p:cNvPicPr>
          <p:nvPr/>
        </p:nvPicPr>
        <p:blipFill>
          <a:blip r:embed="rId3"/>
          <a:stretch>
            <a:fillRect/>
          </a:stretch>
        </p:blipFill>
        <p:spPr>
          <a:xfrm>
            <a:off x="6096000" y="2542773"/>
            <a:ext cx="6096000" cy="3291400"/>
          </a:xfrm>
          <a:prstGeom prst="rect">
            <a:avLst/>
          </a:prstGeom>
        </p:spPr>
      </p:pic>
      <p:graphicFrame>
        <p:nvGraphicFramePr>
          <p:cNvPr id="10" name="Table 9">
            <a:extLst>
              <a:ext uri="{FF2B5EF4-FFF2-40B4-BE49-F238E27FC236}">
                <a16:creationId xmlns:a16="http://schemas.microsoft.com/office/drawing/2014/main" id="{FF3EA53E-7CE0-110F-B833-E6A3FAA9AE79}"/>
              </a:ext>
            </a:extLst>
          </p:cNvPr>
          <p:cNvGraphicFramePr>
            <a:graphicFrameLocks noGrp="1"/>
          </p:cNvGraphicFramePr>
          <p:nvPr>
            <p:extLst>
              <p:ext uri="{D42A27DB-BD31-4B8C-83A1-F6EECF244321}">
                <p14:modId xmlns:p14="http://schemas.microsoft.com/office/powerpoint/2010/main" val="3305567295"/>
              </p:ext>
            </p:extLst>
          </p:nvPr>
        </p:nvGraphicFramePr>
        <p:xfrm>
          <a:off x="262365" y="2775234"/>
          <a:ext cx="5645958" cy="973868"/>
        </p:xfrm>
        <a:graphic>
          <a:graphicData uri="http://schemas.openxmlformats.org/drawingml/2006/table">
            <a:tbl>
              <a:tblPr firstRow="1" bandRow="1">
                <a:tableStyleId>{5C22544A-7EE6-4342-B048-85BDC9FD1C3A}</a:tableStyleId>
              </a:tblPr>
              <a:tblGrid>
                <a:gridCol w="1187654">
                  <a:extLst>
                    <a:ext uri="{9D8B030D-6E8A-4147-A177-3AD203B41FA5}">
                      <a16:colId xmlns:a16="http://schemas.microsoft.com/office/drawing/2014/main" val="2480779245"/>
                    </a:ext>
                  </a:extLst>
                </a:gridCol>
                <a:gridCol w="1900556">
                  <a:extLst>
                    <a:ext uri="{9D8B030D-6E8A-4147-A177-3AD203B41FA5}">
                      <a16:colId xmlns:a16="http://schemas.microsoft.com/office/drawing/2014/main" val="52160566"/>
                    </a:ext>
                  </a:extLst>
                </a:gridCol>
                <a:gridCol w="2557748">
                  <a:extLst>
                    <a:ext uri="{9D8B030D-6E8A-4147-A177-3AD203B41FA5}">
                      <a16:colId xmlns:a16="http://schemas.microsoft.com/office/drawing/2014/main" val="4107552"/>
                    </a:ext>
                  </a:extLst>
                </a:gridCol>
              </a:tblGrid>
              <a:tr h="338994">
                <a:tc>
                  <a:txBody>
                    <a:bodyPr/>
                    <a:lstStyle/>
                    <a:p>
                      <a:pPr algn="ctr"/>
                      <a:r>
                        <a:rPr lang="en-US" sz="1800" b="1" dirty="0" err="1">
                          <a:solidFill>
                            <a:schemeClr val="tx1"/>
                          </a:solidFill>
                          <a:latin typeface="Calibri" panose="020F0502020204030204" pitchFamily="34" charset="0"/>
                          <a:ea typeface="Calibri" panose="020F0502020204030204" pitchFamily="34" charset="0"/>
                          <a:cs typeface="Calibri" panose="020F0502020204030204" pitchFamily="34" charset="0"/>
                        </a:rPr>
                        <a:t>Lần</a:t>
                      </a:r>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800" b="1" dirty="0" err="1">
                          <a:solidFill>
                            <a:schemeClr val="tx1"/>
                          </a:solidFill>
                          <a:latin typeface="Calibri" panose="020F0502020204030204" pitchFamily="34" charset="0"/>
                          <a:ea typeface="Calibri" panose="020F0502020204030204" pitchFamily="34" charset="0"/>
                          <a:cs typeface="Calibri" panose="020F0502020204030204" pitchFamily="34" charset="0"/>
                        </a:rPr>
                        <a:t>chạy</a:t>
                      </a:r>
                      <a:endPar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75452" marR="75452" marT="37727" marB="37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DB1CC"/>
                    </a:solidFill>
                  </a:tcPr>
                </a:tc>
                <a:tc>
                  <a:txBody>
                    <a:bodyPr/>
                    <a:lstStyle/>
                    <a:p>
                      <a:pPr algn="ctr"/>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rPr>
                        <a:t>non-PIE</a:t>
                      </a:r>
                    </a:p>
                  </a:txBody>
                  <a:tcPr marL="75452" marR="75452" marT="37727" marB="37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DB1CC"/>
                    </a:solidFill>
                  </a:tcPr>
                </a:tc>
                <a:tc>
                  <a:txBody>
                    <a:bodyPr/>
                    <a:lstStyle/>
                    <a:p>
                      <a:pPr algn="ctr"/>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rPr>
                        <a:t>PIE</a:t>
                      </a:r>
                    </a:p>
                  </a:txBody>
                  <a:tcPr marL="75452" marR="75452" marT="37727" marB="37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DB1CC"/>
                    </a:solidFill>
                  </a:tcPr>
                </a:tc>
                <a:extLst>
                  <a:ext uri="{0D108BD9-81ED-4DB2-BD59-A6C34878D82A}">
                    <a16:rowId xmlns:a16="http://schemas.microsoft.com/office/drawing/2014/main" val="2893572874"/>
                  </a:ext>
                </a:extLst>
              </a:tr>
              <a:tr h="338994">
                <a:tc>
                  <a:txBody>
                    <a:bodyPr/>
                    <a:lstStyle/>
                    <a:p>
                      <a:pPr algn="ctr"/>
                      <a:r>
                        <a:rPr lang="en-US" sz="1800" dirty="0">
                          <a:latin typeface="Calibri" panose="020F0502020204030204" pitchFamily="34" charset="0"/>
                          <a:ea typeface="Calibri" panose="020F0502020204030204" pitchFamily="34" charset="0"/>
                          <a:cs typeface="Calibri" panose="020F0502020204030204" pitchFamily="34" charset="0"/>
                        </a:rPr>
                        <a:t>1 – 5</a:t>
                      </a:r>
                    </a:p>
                  </a:txBody>
                  <a:tcPr marL="75452" marR="75452" marT="37727" marB="37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9D1E1"/>
                    </a:solidFill>
                  </a:tcPr>
                </a:tc>
                <a:tc>
                  <a:txBody>
                    <a:bodyPr/>
                    <a:lstStyle/>
                    <a:p>
                      <a:pPr algn="l"/>
                      <a:r>
                        <a:rPr lang="en-US" sz="1800" b="1" dirty="0">
                          <a:latin typeface="Calibri" panose="020F0502020204030204" pitchFamily="34" charset="0"/>
                          <a:ea typeface="Calibri" panose="020F0502020204030204" pitchFamily="34" charset="0"/>
                          <a:cs typeface="Calibri" panose="020F0502020204030204" pitchFamily="34" charset="0"/>
                        </a:rPr>
                        <a:t>0x40123f</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dirty="0" err="1">
                          <a:latin typeface="Calibri" panose="020F0502020204030204" pitchFamily="34" charset="0"/>
                          <a:ea typeface="Calibri" panose="020F0502020204030204" pitchFamily="34" charset="0"/>
                          <a:cs typeface="Calibri" panose="020F0502020204030204" pitchFamily="34" charset="0"/>
                        </a:rPr>
                        <a:t>giống</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dirty="0" err="1">
                          <a:latin typeface="Calibri" panose="020F0502020204030204" pitchFamily="34" charset="0"/>
                          <a:ea typeface="Calibri" panose="020F0502020204030204" pitchFamily="34" charset="0"/>
                          <a:cs typeface="Calibri" panose="020F0502020204030204" pitchFamily="34" charset="0"/>
                        </a:rPr>
                        <a:t>nhau</a:t>
                      </a:r>
                      <a:r>
                        <a:rPr lang="en-US" sz="1800" dirty="0">
                          <a:latin typeface="Calibri" panose="020F0502020204030204" pitchFamily="34" charset="0"/>
                          <a:ea typeface="Calibri" panose="020F0502020204030204" pitchFamily="34" charset="0"/>
                          <a:cs typeface="Calibri" panose="020F0502020204030204" pitchFamily="34" charset="0"/>
                        </a:rPr>
                        <a:t>)</a:t>
                      </a:r>
                    </a:p>
                  </a:txBody>
                  <a:tcPr marL="75452" marR="75452" marT="37727" marB="37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9D1E1"/>
                    </a:solidFill>
                  </a:tcPr>
                </a:tc>
                <a:tc>
                  <a:txBody>
                    <a:bodyPr/>
                    <a:lstStyle/>
                    <a:p>
                      <a:pPr algn="l"/>
                      <a:r>
                        <a:rPr lang="en-US" sz="1800" dirty="0" err="1">
                          <a:latin typeface="Calibri" panose="020F0502020204030204" pitchFamily="34" charset="0"/>
                          <a:ea typeface="Calibri" panose="020F0502020204030204" pitchFamily="34" charset="0"/>
                          <a:cs typeface="Calibri" panose="020F0502020204030204" pitchFamily="34" charset="0"/>
                        </a:rPr>
                        <a:t>Mỗi</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dirty="0" err="1">
                          <a:latin typeface="Calibri" panose="020F0502020204030204" pitchFamily="34" charset="0"/>
                          <a:ea typeface="Calibri" panose="020F0502020204030204" pitchFamily="34" charset="0"/>
                          <a:cs typeface="Calibri" panose="020F0502020204030204" pitchFamily="34" charset="0"/>
                        </a:rPr>
                        <a:t>lần</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dirty="0" err="1">
                          <a:latin typeface="Calibri" panose="020F0502020204030204" pitchFamily="34" charset="0"/>
                          <a:ea typeface="Calibri" panose="020F0502020204030204" pitchFamily="34" charset="0"/>
                          <a:cs typeface="Calibri" panose="020F0502020204030204" pitchFamily="34" charset="0"/>
                        </a:rPr>
                        <a:t>một</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dirty="0" err="1">
                          <a:latin typeface="Calibri" panose="020F0502020204030204" pitchFamily="34" charset="0"/>
                          <a:ea typeface="Calibri" panose="020F0502020204030204" pitchFamily="34" charset="0"/>
                          <a:cs typeface="Calibri" panose="020F0502020204030204" pitchFamily="34" charset="0"/>
                        </a:rPr>
                        <a:t>địa</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dirty="0" err="1">
                          <a:latin typeface="Calibri" panose="020F0502020204030204" pitchFamily="34" charset="0"/>
                          <a:ea typeface="Calibri" panose="020F0502020204030204" pitchFamily="34" charset="0"/>
                          <a:cs typeface="Calibri" panose="020F0502020204030204" pitchFamily="34" charset="0"/>
                        </a:rPr>
                        <a:t>chỉ</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dirty="0" err="1">
                          <a:latin typeface="Calibri" panose="020F0502020204030204" pitchFamily="34" charset="0"/>
                          <a:ea typeface="Calibri" panose="020F0502020204030204" pitchFamily="34" charset="0"/>
                          <a:cs typeface="Calibri" panose="020F0502020204030204" pitchFamily="34" charset="0"/>
                        </a:rPr>
                        <a:t>khác</a:t>
                      </a:r>
                      <a:r>
                        <a:rPr lang="en-US" sz="1800" dirty="0">
                          <a:latin typeface="Calibri" panose="020F0502020204030204" pitchFamily="34" charset="0"/>
                          <a:ea typeface="Calibri" panose="020F0502020204030204" pitchFamily="34" charset="0"/>
                          <a:cs typeface="Calibri" panose="020F0502020204030204" pitchFamily="34" charset="0"/>
                        </a:rPr>
                        <a:t> ( </a:t>
                      </a:r>
                      <a:r>
                        <a:rPr lang="en-US" sz="1800" b="1" dirty="0">
                          <a:latin typeface="Calibri" panose="020F0502020204030204" pitchFamily="34" charset="0"/>
                          <a:ea typeface="Calibri" panose="020F0502020204030204" pitchFamily="34" charset="0"/>
                          <a:cs typeface="Calibri" panose="020F0502020204030204" pitchFamily="34" charset="0"/>
                        </a:rPr>
                        <a:t>0x55f2</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b="1" dirty="0">
                          <a:latin typeface="Calibri" panose="020F0502020204030204" pitchFamily="34" charset="0"/>
                          <a:ea typeface="Calibri" panose="020F0502020204030204" pitchFamily="34" charset="0"/>
                          <a:cs typeface="Calibri" panose="020F0502020204030204" pitchFamily="34" charset="0"/>
                        </a:rPr>
                        <a:t>0x55e9</a:t>
                      </a:r>
                      <a:r>
                        <a:rPr lang="en-US" sz="1800" dirty="0">
                          <a:latin typeface="Calibri" panose="020F0502020204030204" pitchFamily="34" charset="0"/>
                          <a:ea typeface="Calibri" panose="020F0502020204030204" pitchFamily="34" charset="0"/>
                          <a:cs typeface="Calibri" panose="020F0502020204030204" pitchFamily="34" charset="0"/>
                        </a:rPr>
                        <a:t>…, …)</a:t>
                      </a:r>
                    </a:p>
                  </a:txBody>
                  <a:tcPr marL="75452" marR="75452" marT="37727" marB="37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9D1E1"/>
                    </a:solidFill>
                  </a:tcPr>
                </a:tc>
                <a:extLst>
                  <a:ext uri="{0D108BD9-81ED-4DB2-BD59-A6C34878D82A}">
                    <a16:rowId xmlns:a16="http://schemas.microsoft.com/office/drawing/2014/main" val="2026110469"/>
                  </a:ext>
                </a:extLst>
              </a:tr>
            </a:tbl>
          </a:graphicData>
        </a:graphic>
      </p:graphicFrame>
      <p:graphicFrame>
        <p:nvGraphicFramePr>
          <p:cNvPr id="12" name="Table 11">
            <a:extLst>
              <a:ext uri="{FF2B5EF4-FFF2-40B4-BE49-F238E27FC236}">
                <a16:creationId xmlns:a16="http://schemas.microsoft.com/office/drawing/2014/main" id="{78DFA447-4C01-326A-070E-EFE9C6C7C7CB}"/>
              </a:ext>
            </a:extLst>
          </p:cNvPr>
          <p:cNvGraphicFramePr>
            <a:graphicFrameLocks noGrp="1"/>
          </p:cNvGraphicFramePr>
          <p:nvPr>
            <p:extLst>
              <p:ext uri="{D42A27DB-BD31-4B8C-83A1-F6EECF244321}">
                <p14:modId xmlns:p14="http://schemas.microsoft.com/office/powerpoint/2010/main" val="1921105162"/>
              </p:ext>
            </p:extLst>
          </p:nvPr>
        </p:nvGraphicFramePr>
        <p:xfrm>
          <a:off x="262365" y="4889638"/>
          <a:ext cx="5645958" cy="1073409"/>
        </p:xfrm>
        <a:graphic>
          <a:graphicData uri="http://schemas.openxmlformats.org/drawingml/2006/table">
            <a:tbl>
              <a:tblPr firstRow="1" bandRow="1">
                <a:tableStyleId>{5C22544A-7EE6-4342-B048-85BDC9FD1C3A}</a:tableStyleId>
              </a:tblPr>
              <a:tblGrid>
                <a:gridCol w="2547580">
                  <a:extLst>
                    <a:ext uri="{9D8B030D-6E8A-4147-A177-3AD203B41FA5}">
                      <a16:colId xmlns:a16="http://schemas.microsoft.com/office/drawing/2014/main" val="2480779245"/>
                    </a:ext>
                  </a:extLst>
                </a:gridCol>
                <a:gridCol w="1588519">
                  <a:extLst>
                    <a:ext uri="{9D8B030D-6E8A-4147-A177-3AD203B41FA5}">
                      <a16:colId xmlns:a16="http://schemas.microsoft.com/office/drawing/2014/main" val="52160566"/>
                    </a:ext>
                  </a:extLst>
                </a:gridCol>
                <a:gridCol w="1509859">
                  <a:extLst>
                    <a:ext uri="{9D8B030D-6E8A-4147-A177-3AD203B41FA5}">
                      <a16:colId xmlns:a16="http://schemas.microsoft.com/office/drawing/2014/main" val="4107552"/>
                    </a:ext>
                  </a:extLst>
                </a:gridCol>
              </a:tblGrid>
              <a:tr h="373861">
                <a:tc>
                  <a:txBody>
                    <a:bodyPr/>
                    <a:lstStyle/>
                    <a:p>
                      <a:pPr algn="ctr"/>
                      <a:r>
                        <a:rPr lang="en-US" sz="1800" b="1" dirty="0" err="1">
                          <a:solidFill>
                            <a:schemeClr val="tx1"/>
                          </a:solidFill>
                          <a:latin typeface="Calibri" panose="020F0502020204030204" pitchFamily="34" charset="0"/>
                          <a:ea typeface="Calibri" panose="020F0502020204030204" pitchFamily="34" charset="0"/>
                          <a:cs typeface="Calibri" panose="020F0502020204030204" pitchFamily="34" charset="0"/>
                        </a:rPr>
                        <a:t>Tiêu</a:t>
                      </a:r>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800" b="1" dirty="0" err="1">
                          <a:solidFill>
                            <a:schemeClr val="tx1"/>
                          </a:solidFill>
                          <a:latin typeface="Calibri" panose="020F0502020204030204" pitchFamily="34" charset="0"/>
                          <a:ea typeface="Calibri" panose="020F0502020204030204" pitchFamily="34" charset="0"/>
                          <a:cs typeface="Calibri" panose="020F0502020204030204" pitchFamily="34" charset="0"/>
                        </a:rPr>
                        <a:t>chí</a:t>
                      </a:r>
                      <a:endPar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75452" marR="75452" marT="37727" marB="37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DB1CC"/>
                    </a:solidFill>
                  </a:tcPr>
                </a:tc>
                <a:tc>
                  <a:txBody>
                    <a:bodyPr/>
                    <a:lstStyle/>
                    <a:p>
                      <a:pPr algn="ctr"/>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rPr>
                        <a:t>non-PIE</a:t>
                      </a:r>
                    </a:p>
                  </a:txBody>
                  <a:tcPr marL="75452" marR="75452" marT="37727" marB="37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DB1CC"/>
                    </a:solidFill>
                  </a:tcPr>
                </a:tc>
                <a:tc>
                  <a:txBody>
                    <a:bodyPr/>
                    <a:lstStyle/>
                    <a:p>
                      <a:pPr algn="ctr"/>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rPr>
                        <a:t>PIE</a:t>
                      </a:r>
                    </a:p>
                  </a:txBody>
                  <a:tcPr marL="75452" marR="75452" marT="37727" marB="37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DB1CC"/>
                    </a:solidFill>
                  </a:tcPr>
                </a:tc>
                <a:extLst>
                  <a:ext uri="{0D108BD9-81ED-4DB2-BD59-A6C34878D82A}">
                    <a16:rowId xmlns:a16="http://schemas.microsoft.com/office/drawing/2014/main" val="2893572874"/>
                  </a:ext>
                </a:extLst>
              </a:tr>
              <a:tr h="338994">
                <a:tc>
                  <a:txBody>
                    <a:bodyPr/>
                    <a:lstStyle/>
                    <a:p>
                      <a:pPr algn="l"/>
                      <a:r>
                        <a:rPr lang="en-US" sz="1800" dirty="0" err="1">
                          <a:latin typeface="Calibri" panose="020F0502020204030204" pitchFamily="34" charset="0"/>
                          <a:ea typeface="Calibri" panose="020F0502020204030204" pitchFamily="34" charset="0"/>
                          <a:cs typeface="Calibri" panose="020F0502020204030204" pitchFamily="34" charset="0"/>
                        </a:rPr>
                        <a:t>Số</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dirty="0" err="1">
                          <a:latin typeface="Calibri" panose="020F0502020204030204" pitchFamily="34" charset="0"/>
                          <a:ea typeface="Calibri" panose="020F0502020204030204" pitchFamily="34" charset="0"/>
                          <a:cs typeface="Calibri" panose="020F0502020204030204" pitchFamily="34" charset="0"/>
                        </a:rPr>
                        <a:t>giá</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dirty="0" err="1">
                          <a:latin typeface="Calibri" panose="020F0502020204030204" pitchFamily="34" charset="0"/>
                          <a:ea typeface="Calibri" panose="020F0502020204030204" pitchFamily="34" charset="0"/>
                          <a:cs typeface="Calibri" panose="020F0502020204030204" pitchFamily="34" charset="0"/>
                        </a:rPr>
                        <a:t>trị</a:t>
                      </a:r>
                      <a:r>
                        <a:rPr lang="en-US" sz="1800" dirty="0">
                          <a:latin typeface="Calibri" panose="020F0502020204030204" pitchFamily="34" charset="0"/>
                          <a:ea typeface="Calibri" panose="020F0502020204030204" pitchFamily="34" charset="0"/>
                          <a:cs typeface="Calibri" panose="020F0502020204030204" pitchFamily="34" charset="0"/>
                        </a:rPr>
                        <a:t> main </a:t>
                      </a:r>
                      <a:r>
                        <a:rPr lang="en-US" sz="1800" dirty="0" err="1">
                          <a:latin typeface="Calibri" panose="020F0502020204030204" pitchFamily="34" charset="0"/>
                          <a:ea typeface="Calibri" panose="020F0502020204030204" pitchFamily="34" charset="0"/>
                          <a:cs typeface="Calibri" panose="020F0502020204030204" pitchFamily="34" charset="0"/>
                        </a:rPr>
                        <a:t>khác</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dirty="0" err="1">
                          <a:latin typeface="Calibri" panose="020F0502020204030204" pitchFamily="34" charset="0"/>
                          <a:ea typeface="Calibri" panose="020F0502020204030204" pitchFamily="34" charset="0"/>
                          <a:cs typeface="Calibri" panose="020F0502020204030204" pitchFamily="34" charset="0"/>
                        </a:rPr>
                        <a:t>nhau</a:t>
                      </a:r>
                      <a:endParaRPr lang="en-US" sz="1800" dirty="0">
                        <a:latin typeface="Calibri" panose="020F0502020204030204" pitchFamily="34" charset="0"/>
                        <a:ea typeface="Calibri" panose="020F0502020204030204" pitchFamily="34" charset="0"/>
                        <a:cs typeface="Calibri" panose="020F0502020204030204" pitchFamily="34" charset="0"/>
                      </a:endParaRPr>
                    </a:p>
                  </a:txBody>
                  <a:tcPr marL="75452" marR="75452" marT="37727" marB="37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9D1E1"/>
                    </a:solidFill>
                  </a:tcPr>
                </a:tc>
                <a:tc>
                  <a:txBody>
                    <a:bodyPr/>
                    <a:lstStyle/>
                    <a:p>
                      <a:pPr algn="ctr"/>
                      <a:r>
                        <a:rPr lang="en-US" sz="1800" dirty="0">
                          <a:latin typeface="Calibri" panose="020F0502020204030204" pitchFamily="34" charset="0"/>
                          <a:ea typeface="Calibri" panose="020F0502020204030204" pitchFamily="34" charset="0"/>
                          <a:cs typeface="Calibri" panose="020F0502020204030204" pitchFamily="34" charset="0"/>
                        </a:rPr>
                        <a:t>1</a:t>
                      </a:r>
                    </a:p>
                  </a:txBody>
                  <a:tcPr marL="75452" marR="75452" marT="37727" marB="37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9D1E1"/>
                    </a:solidFill>
                  </a:tcPr>
                </a:tc>
                <a:tc>
                  <a:txBody>
                    <a:bodyPr/>
                    <a:lstStyle/>
                    <a:p>
                      <a:pPr algn="ctr"/>
                      <a:r>
                        <a:rPr lang="en-US" sz="1800" dirty="0">
                          <a:latin typeface="Calibri" panose="020F0502020204030204" pitchFamily="34" charset="0"/>
                          <a:ea typeface="Calibri" panose="020F0502020204030204" pitchFamily="34" charset="0"/>
                          <a:cs typeface="Calibri" panose="020F0502020204030204" pitchFamily="34" charset="0"/>
                        </a:rPr>
                        <a:t>5</a:t>
                      </a:r>
                    </a:p>
                  </a:txBody>
                  <a:tcPr marL="75452" marR="75452" marT="37727" marB="37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9D1E1"/>
                    </a:solidFill>
                  </a:tcPr>
                </a:tc>
                <a:extLst>
                  <a:ext uri="{0D108BD9-81ED-4DB2-BD59-A6C34878D82A}">
                    <a16:rowId xmlns:a16="http://schemas.microsoft.com/office/drawing/2014/main" val="2026110469"/>
                  </a:ext>
                </a:extLst>
              </a:tr>
              <a:tr h="338994">
                <a:tc>
                  <a:txBody>
                    <a:bodyPr/>
                    <a:lstStyle/>
                    <a:p>
                      <a:pPr algn="l"/>
                      <a:r>
                        <a:rPr lang="en-US" sz="1800" dirty="0">
                          <a:latin typeface="Calibri" panose="020F0502020204030204" pitchFamily="34" charset="0"/>
                          <a:ea typeface="Calibri" panose="020F0502020204030204" pitchFamily="34" charset="0"/>
                          <a:cs typeface="Calibri" panose="020F0502020204030204" pitchFamily="34" charset="0"/>
                        </a:rPr>
                        <a:t>Stack (buffer)</a:t>
                      </a:r>
                    </a:p>
                  </a:txBody>
                  <a:tcPr marL="75452" marR="75452" marT="37727" marB="37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9D1E1"/>
                    </a:solidFill>
                  </a:tcPr>
                </a:tc>
                <a:tc>
                  <a:txBody>
                    <a:bodyPr/>
                    <a:lstStyle/>
                    <a:p>
                      <a:pPr algn="ctr"/>
                      <a:r>
                        <a:rPr lang="en-US" sz="1800" dirty="0">
                          <a:latin typeface="Calibri" panose="020F0502020204030204" pitchFamily="34" charset="0"/>
                          <a:ea typeface="Calibri" panose="020F0502020204030204" pitchFamily="34" charset="0"/>
                          <a:cs typeface="Calibri" panose="020F0502020204030204" pitchFamily="34" charset="0"/>
                        </a:rPr>
                        <a:t>Random</a:t>
                      </a:r>
                    </a:p>
                  </a:txBody>
                  <a:tcPr marL="75452" marR="75452" marT="37727" marB="37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9D1E1"/>
                    </a:solidFill>
                  </a:tcPr>
                </a:tc>
                <a:tc>
                  <a:txBody>
                    <a:bodyPr/>
                    <a:lstStyle/>
                    <a:p>
                      <a:pPr algn="ctr"/>
                      <a:r>
                        <a:rPr lang="en-US" sz="1800" dirty="0">
                          <a:latin typeface="Calibri" panose="020F0502020204030204" pitchFamily="34" charset="0"/>
                          <a:ea typeface="Calibri" panose="020F0502020204030204" pitchFamily="34" charset="0"/>
                          <a:cs typeface="Calibri" panose="020F0502020204030204" pitchFamily="34" charset="0"/>
                        </a:rPr>
                        <a:t>Random</a:t>
                      </a:r>
                    </a:p>
                  </a:txBody>
                  <a:tcPr marL="75452" marR="75452" marT="37727" marB="37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9D1E1"/>
                    </a:solidFill>
                  </a:tcPr>
                </a:tc>
                <a:extLst>
                  <a:ext uri="{0D108BD9-81ED-4DB2-BD59-A6C34878D82A}">
                    <a16:rowId xmlns:a16="http://schemas.microsoft.com/office/drawing/2014/main" val="3515446383"/>
                  </a:ext>
                </a:extLst>
              </a:tr>
            </a:tbl>
          </a:graphicData>
        </a:graphic>
      </p:graphicFrame>
      <p:grpSp>
        <p:nvGrpSpPr>
          <p:cNvPr id="30" name="Group 29">
            <a:extLst>
              <a:ext uri="{FF2B5EF4-FFF2-40B4-BE49-F238E27FC236}">
                <a16:creationId xmlns:a16="http://schemas.microsoft.com/office/drawing/2014/main" id="{4E1B4C5C-5AD9-7698-6F1E-27CFC8D17909}"/>
              </a:ext>
            </a:extLst>
          </p:cNvPr>
          <p:cNvGrpSpPr/>
          <p:nvPr/>
        </p:nvGrpSpPr>
        <p:grpSpPr>
          <a:xfrm>
            <a:off x="-402695" y="1709529"/>
            <a:ext cx="11994227" cy="1233305"/>
            <a:chOff x="-402695" y="1477068"/>
            <a:chExt cx="11994227" cy="1233305"/>
          </a:xfrm>
        </p:grpSpPr>
        <p:grpSp>
          <p:nvGrpSpPr>
            <p:cNvPr id="14" name="Group 13">
              <a:extLst>
                <a:ext uri="{FF2B5EF4-FFF2-40B4-BE49-F238E27FC236}">
                  <a16:creationId xmlns:a16="http://schemas.microsoft.com/office/drawing/2014/main" id="{983989AB-F298-7E8D-F645-3CB75D638B73}"/>
                </a:ext>
              </a:extLst>
            </p:cNvPr>
            <p:cNvGrpSpPr/>
            <p:nvPr/>
          </p:nvGrpSpPr>
          <p:grpSpPr>
            <a:xfrm>
              <a:off x="-402695" y="1989965"/>
              <a:ext cx="853837" cy="326966"/>
              <a:chOff x="-402695" y="1540627"/>
              <a:chExt cx="853837" cy="326966"/>
            </a:xfrm>
            <a:solidFill>
              <a:srgbClr val="6DB1CC"/>
            </a:solidFill>
          </p:grpSpPr>
          <p:sp>
            <p:nvSpPr>
              <p:cNvPr id="15" name="Rectangle 14">
                <a:extLst>
                  <a:ext uri="{FF2B5EF4-FFF2-40B4-BE49-F238E27FC236}">
                    <a16:creationId xmlns:a16="http://schemas.microsoft.com/office/drawing/2014/main" id="{EDBF1B88-A0AF-AE98-2C3A-36F87BBDF245}"/>
                  </a:ext>
                </a:extLst>
              </p:cNvPr>
              <p:cNvSpPr/>
              <p:nvPr/>
            </p:nvSpPr>
            <p:spPr>
              <a:xfrm>
                <a:off x="-402695" y="1540627"/>
                <a:ext cx="552019" cy="32696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E039C12-BC6E-9126-5166-B0FC925F84DE}"/>
                  </a:ext>
                </a:extLst>
              </p:cNvPr>
              <p:cNvSpPr/>
              <p:nvPr/>
            </p:nvSpPr>
            <p:spPr>
              <a:xfrm>
                <a:off x="197772" y="1540627"/>
                <a:ext cx="118416" cy="32696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B3B36E9-D713-C4E4-4DCF-D7A80E33ADF5}"/>
                  </a:ext>
                </a:extLst>
              </p:cNvPr>
              <p:cNvSpPr/>
              <p:nvPr/>
            </p:nvSpPr>
            <p:spPr>
              <a:xfrm>
                <a:off x="364636" y="1540627"/>
                <a:ext cx="86506" cy="32696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A9126A36-D0BF-57EC-A916-3AE5E6B118ED}"/>
                </a:ext>
              </a:extLst>
            </p:cNvPr>
            <p:cNvSpPr/>
            <p:nvPr/>
          </p:nvSpPr>
          <p:spPr>
            <a:xfrm>
              <a:off x="600467" y="1477068"/>
              <a:ext cx="10991065" cy="123330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spcBef>
                  <a:spcPts val="600"/>
                </a:spcBef>
              </a:pPr>
              <a:r>
                <a:rPr lang="en-US" sz="2200" b="1" dirty="0" err="1">
                  <a:solidFill>
                    <a:schemeClr val="bg1"/>
                  </a:solidFill>
                  <a:latin typeface="Segoe UI" panose="020B0502040204020203" pitchFamily="34" charset="0"/>
                  <a:cs typeface="Segoe UI" panose="020B0502040204020203" pitchFamily="34" charset="0"/>
                </a:rPr>
                <a:t>Kết</a:t>
              </a:r>
              <a:r>
                <a:rPr lang="en-US" sz="2200" b="1" dirty="0">
                  <a:solidFill>
                    <a:schemeClr val="bg1"/>
                  </a:solidFill>
                  <a:latin typeface="Segoe UI" panose="020B0502040204020203" pitchFamily="34" charset="0"/>
                  <a:cs typeface="Segoe UI" panose="020B0502040204020203" pitchFamily="34" charset="0"/>
                </a:rPr>
                <a:t> </a:t>
              </a:r>
              <a:r>
                <a:rPr lang="en-US" sz="2200" b="1" dirty="0" err="1">
                  <a:solidFill>
                    <a:schemeClr val="bg1"/>
                  </a:solidFill>
                  <a:latin typeface="Segoe UI" panose="020B0502040204020203" pitchFamily="34" charset="0"/>
                  <a:cs typeface="Segoe UI" panose="020B0502040204020203" pitchFamily="34" charset="0"/>
                </a:rPr>
                <a:t>quả</a:t>
              </a:r>
              <a:r>
                <a:rPr lang="en-US" sz="2200" b="1" dirty="0">
                  <a:solidFill>
                    <a:schemeClr val="bg1"/>
                  </a:solidFill>
                  <a:latin typeface="Segoe UI" panose="020B0502040204020203" pitchFamily="34" charset="0"/>
                  <a:cs typeface="Segoe UI" panose="020B0502040204020203" pitchFamily="34" charset="0"/>
                </a:rPr>
                <a:t> </a:t>
              </a:r>
              <a:r>
                <a:rPr lang="en-US" sz="2200" b="1" dirty="0" err="1">
                  <a:solidFill>
                    <a:schemeClr val="bg1"/>
                  </a:solidFill>
                  <a:latin typeface="Segoe UI" panose="020B0502040204020203" pitchFamily="34" charset="0"/>
                  <a:cs typeface="Segoe UI" panose="020B0502040204020203" pitchFamily="34" charset="0"/>
                </a:rPr>
                <a:t>đo</a:t>
              </a:r>
              <a:r>
                <a:rPr lang="en-US" sz="2200" b="1" dirty="0">
                  <a:solidFill>
                    <a:schemeClr val="bg1"/>
                  </a:solidFill>
                  <a:latin typeface="Segoe UI" panose="020B0502040204020203" pitchFamily="34" charset="0"/>
                  <a:cs typeface="Segoe UI" panose="020B0502040204020203" pitchFamily="34" charset="0"/>
                </a:rPr>
                <a:t> </a:t>
              </a:r>
              <a:r>
                <a:rPr lang="en-US" sz="2200" b="1" dirty="0" err="1">
                  <a:solidFill>
                    <a:schemeClr val="bg1"/>
                  </a:solidFill>
                  <a:latin typeface="Segoe UI" panose="020B0502040204020203" pitchFamily="34" charset="0"/>
                  <a:cs typeface="Segoe UI" panose="020B0502040204020203" pitchFamily="34" charset="0"/>
                </a:rPr>
                <a:t>theo</a:t>
              </a:r>
              <a:r>
                <a:rPr lang="en-US" sz="2200" b="1" dirty="0">
                  <a:solidFill>
                    <a:schemeClr val="bg1"/>
                  </a:solidFill>
                  <a:latin typeface="Segoe UI" panose="020B0502040204020203" pitchFamily="34" charset="0"/>
                  <a:cs typeface="Segoe UI" panose="020B0502040204020203" pitchFamily="34" charset="0"/>
                </a:rPr>
                <a:t> </a:t>
              </a:r>
              <a:r>
                <a:rPr lang="en-US" sz="2200" b="1" dirty="0" err="1">
                  <a:solidFill>
                    <a:schemeClr val="bg1"/>
                  </a:solidFill>
                  <a:latin typeface="Segoe UI" panose="020B0502040204020203" pitchFamily="34" charset="0"/>
                  <a:cs typeface="Segoe UI" panose="020B0502040204020203" pitchFamily="34" charset="0"/>
                </a:rPr>
                <a:t>lần</a:t>
              </a:r>
              <a:r>
                <a:rPr lang="en-US" sz="2200" b="1" dirty="0">
                  <a:solidFill>
                    <a:schemeClr val="bg1"/>
                  </a:solidFill>
                  <a:latin typeface="Segoe UI" panose="020B0502040204020203" pitchFamily="34" charset="0"/>
                  <a:cs typeface="Segoe UI" panose="020B0502040204020203" pitchFamily="34" charset="0"/>
                </a:rPr>
                <a:t> </a:t>
              </a:r>
              <a:r>
                <a:rPr lang="en-US" sz="2200" b="1" dirty="0" err="1">
                  <a:solidFill>
                    <a:schemeClr val="bg1"/>
                  </a:solidFill>
                  <a:latin typeface="Segoe UI" panose="020B0502040204020203" pitchFamily="34" charset="0"/>
                  <a:cs typeface="Segoe UI" panose="020B0502040204020203" pitchFamily="34" charset="0"/>
                </a:rPr>
                <a:t>chạy</a:t>
              </a:r>
              <a:endParaRPr lang="en-US" sz="2200" dirty="0">
                <a:solidFill>
                  <a:schemeClr val="bg1"/>
                </a:solidFill>
                <a:latin typeface="Segoe UI" panose="020B0502040204020203" pitchFamily="34" charset="0"/>
                <a:cs typeface="Segoe UI" panose="020B0502040204020203" pitchFamily="34" charset="0"/>
              </a:endParaRPr>
            </a:p>
          </p:txBody>
        </p:sp>
      </p:grpSp>
      <p:grpSp>
        <p:nvGrpSpPr>
          <p:cNvPr id="29" name="Group 28">
            <a:extLst>
              <a:ext uri="{FF2B5EF4-FFF2-40B4-BE49-F238E27FC236}">
                <a16:creationId xmlns:a16="http://schemas.microsoft.com/office/drawing/2014/main" id="{AF6C61D7-9E70-3522-D060-EECBA1449180}"/>
              </a:ext>
            </a:extLst>
          </p:cNvPr>
          <p:cNvGrpSpPr/>
          <p:nvPr/>
        </p:nvGrpSpPr>
        <p:grpSpPr>
          <a:xfrm>
            <a:off x="-413846" y="3742483"/>
            <a:ext cx="11994227" cy="1233305"/>
            <a:chOff x="-413846" y="3510022"/>
            <a:chExt cx="11994227" cy="1233305"/>
          </a:xfrm>
        </p:grpSpPr>
        <p:grpSp>
          <p:nvGrpSpPr>
            <p:cNvPr id="24" name="Group 23">
              <a:extLst>
                <a:ext uri="{FF2B5EF4-FFF2-40B4-BE49-F238E27FC236}">
                  <a16:creationId xmlns:a16="http://schemas.microsoft.com/office/drawing/2014/main" id="{B76D23BF-2EAA-1B7A-0361-CA52E519A68E}"/>
                </a:ext>
              </a:extLst>
            </p:cNvPr>
            <p:cNvGrpSpPr/>
            <p:nvPr/>
          </p:nvGrpSpPr>
          <p:grpSpPr>
            <a:xfrm>
              <a:off x="-413846" y="4022919"/>
              <a:ext cx="853837" cy="326966"/>
              <a:chOff x="-402695" y="1540627"/>
              <a:chExt cx="853837" cy="326966"/>
            </a:xfrm>
            <a:solidFill>
              <a:srgbClr val="6DB1CC"/>
            </a:solidFill>
          </p:grpSpPr>
          <p:sp>
            <p:nvSpPr>
              <p:cNvPr id="25" name="Rectangle 24">
                <a:extLst>
                  <a:ext uri="{FF2B5EF4-FFF2-40B4-BE49-F238E27FC236}">
                    <a16:creationId xmlns:a16="http://schemas.microsoft.com/office/drawing/2014/main" id="{AE084D8C-2EEE-9C7A-204A-133132F707B9}"/>
                  </a:ext>
                </a:extLst>
              </p:cNvPr>
              <p:cNvSpPr/>
              <p:nvPr/>
            </p:nvSpPr>
            <p:spPr>
              <a:xfrm>
                <a:off x="-402695" y="1540627"/>
                <a:ext cx="552019" cy="32696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959763A-6959-C5E2-1DE7-82C15C9B91F3}"/>
                  </a:ext>
                </a:extLst>
              </p:cNvPr>
              <p:cNvSpPr/>
              <p:nvPr/>
            </p:nvSpPr>
            <p:spPr>
              <a:xfrm>
                <a:off x="197772" y="1540627"/>
                <a:ext cx="118416" cy="32696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42E7937-4AFD-5FC5-3E2C-F03239D08383}"/>
                  </a:ext>
                </a:extLst>
              </p:cNvPr>
              <p:cNvSpPr/>
              <p:nvPr/>
            </p:nvSpPr>
            <p:spPr>
              <a:xfrm>
                <a:off x="364636" y="1540627"/>
                <a:ext cx="86506" cy="32696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Rectangle 27">
              <a:extLst>
                <a:ext uri="{FF2B5EF4-FFF2-40B4-BE49-F238E27FC236}">
                  <a16:creationId xmlns:a16="http://schemas.microsoft.com/office/drawing/2014/main" id="{18C12FD7-9DC2-65E1-5D57-DA6D7C6648E5}"/>
                </a:ext>
              </a:extLst>
            </p:cNvPr>
            <p:cNvSpPr/>
            <p:nvPr/>
          </p:nvSpPr>
          <p:spPr>
            <a:xfrm>
              <a:off x="589316" y="3510022"/>
              <a:ext cx="10991065" cy="123330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spcBef>
                  <a:spcPts val="600"/>
                </a:spcBef>
              </a:pPr>
              <a:r>
                <a:rPr lang="en-US" sz="2200" b="1" dirty="0" err="1">
                  <a:solidFill>
                    <a:schemeClr val="bg1"/>
                  </a:solidFill>
                  <a:latin typeface="Segoe UI" panose="020B0502040204020203" pitchFamily="34" charset="0"/>
                  <a:cs typeface="Segoe UI" panose="020B0502040204020203" pitchFamily="34" charset="0"/>
                </a:rPr>
                <a:t>Bảng</a:t>
              </a:r>
              <a:r>
                <a:rPr lang="en-US" sz="2200" b="1" dirty="0">
                  <a:solidFill>
                    <a:schemeClr val="bg1"/>
                  </a:solidFill>
                  <a:latin typeface="Segoe UI" panose="020B0502040204020203" pitchFamily="34" charset="0"/>
                  <a:cs typeface="Segoe UI" panose="020B0502040204020203" pitchFamily="34" charset="0"/>
                </a:rPr>
                <a:t> so </a:t>
              </a:r>
              <a:r>
                <a:rPr lang="en-US" sz="2200" b="1" dirty="0" err="1">
                  <a:solidFill>
                    <a:schemeClr val="bg1"/>
                  </a:solidFill>
                  <a:latin typeface="Segoe UI" panose="020B0502040204020203" pitchFamily="34" charset="0"/>
                  <a:cs typeface="Segoe UI" panose="020B0502040204020203" pitchFamily="34" charset="0"/>
                </a:rPr>
                <a:t>sánh</a:t>
              </a:r>
              <a:r>
                <a:rPr lang="en-US" sz="2200" b="1" dirty="0">
                  <a:solidFill>
                    <a:schemeClr val="bg1"/>
                  </a:solidFill>
                  <a:latin typeface="Segoe UI" panose="020B0502040204020203" pitchFamily="34" charset="0"/>
                  <a:cs typeface="Segoe UI" panose="020B0502040204020203" pitchFamily="34" charset="0"/>
                </a:rPr>
                <a:t> </a:t>
              </a:r>
              <a:r>
                <a:rPr lang="en-US" sz="2200" b="1" dirty="0" err="1">
                  <a:solidFill>
                    <a:schemeClr val="bg1"/>
                  </a:solidFill>
                  <a:latin typeface="Segoe UI" panose="020B0502040204020203" pitchFamily="34" charset="0"/>
                  <a:cs typeface="Segoe UI" panose="020B0502040204020203" pitchFamily="34" charset="0"/>
                </a:rPr>
                <a:t>tổng</a:t>
              </a:r>
              <a:r>
                <a:rPr lang="en-US" sz="2200" b="1" dirty="0">
                  <a:solidFill>
                    <a:schemeClr val="bg1"/>
                  </a:solidFill>
                  <a:latin typeface="Segoe UI" panose="020B0502040204020203" pitchFamily="34" charset="0"/>
                  <a:cs typeface="Segoe UI" panose="020B0502040204020203" pitchFamily="34" charset="0"/>
                </a:rPr>
                <a:t> </a:t>
              </a:r>
              <a:r>
                <a:rPr lang="en-US" sz="2200" b="1" dirty="0" err="1">
                  <a:solidFill>
                    <a:schemeClr val="bg1"/>
                  </a:solidFill>
                  <a:latin typeface="Segoe UI" panose="020B0502040204020203" pitchFamily="34" charset="0"/>
                  <a:cs typeface="Segoe UI" panose="020B0502040204020203" pitchFamily="34" charset="0"/>
                </a:rPr>
                <a:t>quan</a:t>
              </a:r>
              <a:endParaRPr lang="en-US" sz="2200" dirty="0">
                <a:solidFill>
                  <a:schemeClr val="bg1"/>
                </a:solidFill>
                <a:latin typeface="Segoe UI" panose="020B0502040204020203" pitchFamily="34" charset="0"/>
                <a:cs typeface="Segoe UI" panose="020B0502040204020203" pitchFamily="34" charset="0"/>
              </a:endParaRPr>
            </a:p>
          </p:txBody>
        </p:sp>
      </p:grpSp>
    </p:spTree>
    <p:extLst>
      <p:ext uri="{BB962C8B-B14F-4D97-AF65-F5344CB8AC3E}">
        <p14:creationId xmlns:p14="http://schemas.microsoft.com/office/powerpoint/2010/main" val="2287696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15138-63A6-1C88-9F7C-65761C6FF70A}"/>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4C57AC4A-1D27-4A39-0BBF-BC4CABE6CC4C}"/>
              </a:ext>
            </a:extLst>
          </p:cNvPr>
          <p:cNvGrpSpPr/>
          <p:nvPr/>
        </p:nvGrpSpPr>
        <p:grpSpPr>
          <a:xfrm>
            <a:off x="-19878" y="788664"/>
            <a:ext cx="12191999" cy="366174"/>
            <a:chOff x="1" y="6307500"/>
            <a:chExt cx="12191999" cy="366174"/>
          </a:xfrm>
          <a:effectLst>
            <a:glow rad="63500">
              <a:schemeClr val="accent1">
                <a:satMod val="175000"/>
                <a:alpha val="40000"/>
              </a:schemeClr>
            </a:glow>
          </a:effectLst>
        </p:grpSpPr>
        <p:sp>
          <p:nvSpPr>
            <p:cNvPr id="5" name="AutoShape 37">
              <a:extLst>
                <a:ext uri="{FF2B5EF4-FFF2-40B4-BE49-F238E27FC236}">
                  <a16:creationId xmlns:a16="http://schemas.microsoft.com/office/drawing/2014/main" id="{D73C3418-5285-706C-5274-389127FD9680}"/>
                </a:ext>
              </a:extLst>
            </p:cNvPr>
            <p:cNvSpPr/>
            <p:nvPr/>
          </p:nvSpPr>
          <p:spPr>
            <a:xfrm>
              <a:off x="1" y="6646250"/>
              <a:ext cx="9413932"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6" name="AutoShape 38">
              <a:extLst>
                <a:ext uri="{FF2B5EF4-FFF2-40B4-BE49-F238E27FC236}">
                  <a16:creationId xmlns:a16="http://schemas.microsoft.com/office/drawing/2014/main" id="{7CAC7690-3C2E-CE98-0112-61C159AE69D8}"/>
                </a:ext>
              </a:extLst>
            </p:cNvPr>
            <p:cNvSpPr/>
            <p:nvPr/>
          </p:nvSpPr>
          <p:spPr>
            <a:xfrm rot="18000001">
              <a:off x="9315823" y="6490587"/>
              <a:ext cx="366174"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7" name="AutoShape 40">
              <a:extLst>
                <a:ext uri="{FF2B5EF4-FFF2-40B4-BE49-F238E27FC236}">
                  <a16:creationId xmlns:a16="http://schemas.microsoft.com/office/drawing/2014/main" id="{55A017F2-056D-212E-9927-037502848DE3}"/>
                </a:ext>
              </a:extLst>
            </p:cNvPr>
            <p:cNvSpPr/>
            <p:nvPr/>
          </p:nvSpPr>
          <p:spPr>
            <a:xfrm>
              <a:off x="9584694" y="6332029"/>
              <a:ext cx="2607306" cy="0"/>
            </a:xfrm>
            <a:prstGeom prst="line">
              <a:avLst/>
            </a:prstGeom>
            <a:ln w="19050" cap="flat">
              <a:solidFill>
                <a:srgbClr val="6DB1CC">
                  <a:alpha val="80000"/>
                </a:srgbClr>
              </a:solidFill>
              <a:prstDash val="solid"/>
              <a:headEnd type="none" w="sm" len="sm"/>
              <a:tailEnd type="none" w="sm" len="sm"/>
            </a:ln>
          </p:spPr>
          <p:txBody>
            <a:bodyPr/>
            <a:lstStyle/>
            <a:p>
              <a:endParaRPr lang="en-US"/>
            </a:p>
          </p:txBody>
        </p:sp>
      </p:grpSp>
      <p:sp>
        <p:nvSpPr>
          <p:cNvPr id="8" name="Rectangle 7">
            <a:extLst>
              <a:ext uri="{FF2B5EF4-FFF2-40B4-BE49-F238E27FC236}">
                <a16:creationId xmlns:a16="http://schemas.microsoft.com/office/drawing/2014/main" id="{99D4F4F5-C8FD-F6F2-1BAE-2E548B7ADF12}"/>
              </a:ext>
            </a:extLst>
          </p:cNvPr>
          <p:cNvSpPr/>
          <p:nvPr/>
        </p:nvSpPr>
        <p:spPr>
          <a:xfrm>
            <a:off x="647481" y="463478"/>
            <a:ext cx="8142621" cy="593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3400" b="1" dirty="0">
                <a:solidFill>
                  <a:srgbClr val="6DB1CC"/>
                </a:solidFill>
                <a:latin typeface="Segoe UI" panose="020B0502040204020203" pitchFamily="34" charset="0"/>
                <a:cs typeface="Segoe UI" panose="020B0502040204020203" pitchFamily="34" charset="0"/>
              </a:rPr>
              <a:t>KẾT LUẬN</a:t>
            </a:r>
          </a:p>
        </p:txBody>
      </p:sp>
      <p:pic>
        <p:nvPicPr>
          <p:cNvPr id="9" name="Picture 8" descr="Ý nghĩa logo Đại học Công nghệ Tp.HCM (HUTECH)">
            <a:extLst>
              <a:ext uri="{FF2B5EF4-FFF2-40B4-BE49-F238E27FC236}">
                <a16:creationId xmlns:a16="http://schemas.microsoft.com/office/drawing/2014/main" id="{2A2800F4-6E2B-6971-03A0-4F07A27B0B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8096" y="159827"/>
            <a:ext cx="1817203" cy="58278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6026B6B-9D2C-B9AF-D3FD-A81AB4949B8F}"/>
              </a:ext>
            </a:extLst>
          </p:cNvPr>
          <p:cNvSpPr txBox="1"/>
          <p:nvPr/>
        </p:nvSpPr>
        <p:spPr>
          <a:xfrm>
            <a:off x="595052" y="1895562"/>
            <a:ext cx="11001895" cy="3835024"/>
          </a:xfrm>
          <a:prstGeom prst="rect">
            <a:avLst/>
          </a:prstGeom>
          <a:noFill/>
        </p:spPr>
        <p:txBody>
          <a:bodyPr wrap="square">
            <a:spAutoFit/>
          </a:bodyPr>
          <a:lstStyle/>
          <a:p>
            <a:pPr>
              <a:lnSpc>
                <a:spcPct val="150000"/>
              </a:lnSpc>
              <a:spcAft>
                <a:spcPts val="1200"/>
              </a:spcAft>
            </a:pPr>
            <a:r>
              <a:rPr lang="vi-VN" dirty="0">
                <a:solidFill>
                  <a:schemeClr val="bg1"/>
                </a:solidFill>
                <a:latin typeface="Calibri" panose="020F0502020204030204" pitchFamily="34" charset="0"/>
                <a:ea typeface="Calibri" panose="020F0502020204030204" pitchFamily="34" charset="0"/>
                <a:cs typeface="Calibri" panose="020F0502020204030204" pitchFamily="34" charset="0"/>
              </a:rPr>
              <a:t>Đồ án đã xây dựng hệ thống thực nghiệm đánh giá hiệu quả của ASLR trong việc giảm khả năng khai thác lỗ hổng buffer overflow, thông qua các kịch bản tấn công và phòng thủ khác nhau trong môi trường Linux.</a:t>
            </a:r>
          </a:p>
          <a:p>
            <a:pPr>
              <a:lnSpc>
                <a:spcPct val="150000"/>
              </a:lnSpc>
              <a:spcAft>
                <a:spcPts val="1200"/>
              </a:spcAft>
            </a:pPr>
            <a:r>
              <a:rPr lang="vi-VN" dirty="0">
                <a:solidFill>
                  <a:schemeClr val="bg1"/>
                </a:solidFill>
                <a:latin typeface="Calibri" panose="020F0502020204030204" pitchFamily="34" charset="0"/>
                <a:ea typeface="Calibri" panose="020F0502020204030204" pitchFamily="34" charset="0"/>
                <a:cs typeface="Calibri" panose="020F0502020204030204" pitchFamily="34" charset="0"/>
              </a:rPr>
              <a:t>Pipeline thực nghiệm: xây dựng chương trình có lỗ hổng (demo_aslr), thực hiện khai thác theo từng phase (ASLR OFF, ASLR ON, ASLR + leak, NX, PIE), và thu thập kết quả để phân tích.</a:t>
            </a:r>
          </a:p>
          <a:p>
            <a:pPr>
              <a:lnSpc>
                <a:spcPct val="150000"/>
              </a:lnSpc>
              <a:spcAft>
                <a:spcPts val="1200"/>
              </a:spcAft>
            </a:pPr>
            <a:r>
              <a:rPr lang="vi-VN" dirty="0">
                <a:solidFill>
                  <a:schemeClr val="bg1"/>
                </a:solidFill>
                <a:latin typeface="Calibri" panose="020F0502020204030204" pitchFamily="34" charset="0"/>
                <a:ea typeface="Calibri" panose="020F0502020204030204" pitchFamily="34" charset="0"/>
                <a:cs typeface="Calibri" panose="020F0502020204030204" pitchFamily="34" charset="0"/>
              </a:rPr>
              <a:t>Kết quả minh chứng: khi ASLR tắt, khai thác thành công ổn định; khi bật ASLR, khai thác thất bại; khi có information leak, có thể bypass và khai thác thành công trở lại; các cơ chế như NX và PIE giúp tăng mức độ bảo vệ.</a:t>
            </a:r>
          </a:p>
          <a:p>
            <a:pPr>
              <a:lnSpc>
                <a:spcPct val="150000"/>
              </a:lnSpc>
            </a:pPr>
            <a:r>
              <a:rPr lang="vi-VN" dirty="0">
                <a:solidFill>
                  <a:schemeClr val="bg1"/>
                </a:solidFill>
                <a:latin typeface="Calibri" panose="020F0502020204030204" pitchFamily="34" charset="0"/>
                <a:ea typeface="Calibri" panose="020F0502020204030204" pitchFamily="34" charset="0"/>
                <a:cs typeface="Calibri" panose="020F0502020204030204" pitchFamily="34" charset="0"/>
              </a:rPr>
              <a:t>Như vậy, các mục tiêu đề ra về đánh giá hiệu quả của ASLR, phân tích hạn chế và thử nghiệm các kỹ thuật bypass đã được thực hiện đầy đủ trong phạm vi đồ án.</a:t>
            </a:r>
            <a:endParaRPr 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963045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0D0D1-0325-D59F-C9FD-23A4C9304919}"/>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05C024BB-D49B-CE20-EC44-34420D72EFDC}"/>
              </a:ext>
            </a:extLst>
          </p:cNvPr>
          <p:cNvGrpSpPr/>
          <p:nvPr/>
        </p:nvGrpSpPr>
        <p:grpSpPr>
          <a:xfrm>
            <a:off x="-19878" y="788664"/>
            <a:ext cx="12191999" cy="366174"/>
            <a:chOff x="1" y="6307500"/>
            <a:chExt cx="12191999" cy="366174"/>
          </a:xfrm>
          <a:effectLst>
            <a:glow rad="63500">
              <a:schemeClr val="accent1">
                <a:satMod val="175000"/>
                <a:alpha val="40000"/>
              </a:schemeClr>
            </a:glow>
          </a:effectLst>
        </p:grpSpPr>
        <p:sp>
          <p:nvSpPr>
            <p:cNvPr id="5" name="AutoShape 37">
              <a:extLst>
                <a:ext uri="{FF2B5EF4-FFF2-40B4-BE49-F238E27FC236}">
                  <a16:creationId xmlns:a16="http://schemas.microsoft.com/office/drawing/2014/main" id="{DABFD597-AE29-2324-E1A8-866FD7CCC0CF}"/>
                </a:ext>
              </a:extLst>
            </p:cNvPr>
            <p:cNvSpPr/>
            <p:nvPr/>
          </p:nvSpPr>
          <p:spPr>
            <a:xfrm>
              <a:off x="1" y="6646250"/>
              <a:ext cx="9413932"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6" name="AutoShape 38">
              <a:extLst>
                <a:ext uri="{FF2B5EF4-FFF2-40B4-BE49-F238E27FC236}">
                  <a16:creationId xmlns:a16="http://schemas.microsoft.com/office/drawing/2014/main" id="{33444467-54C6-0508-B9B3-3FFE3E3A672C}"/>
                </a:ext>
              </a:extLst>
            </p:cNvPr>
            <p:cNvSpPr/>
            <p:nvPr/>
          </p:nvSpPr>
          <p:spPr>
            <a:xfrm rot="18000001">
              <a:off x="9315823" y="6490587"/>
              <a:ext cx="366174" cy="0"/>
            </a:xfrm>
            <a:prstGeom prst="line">
              <a:avLst/>
            </a:prstGeom>
            <a:ln w="19050" cap="rnd">
              <a:solidFill>
                <a:srgbClr val="6DB1CC">
                  <a:alpha val="80000"/>
                </a:srgbClr>
              </a:solidFill>
              <a:prstDash val="solid"/>
              <a:headEnd type="none" w="sm" len="sm"/>
              <a:tailEnd type="none" w="sm" len="sm"/>
            </a:ln>
          </p:spPr>
          <p:txBody>
            <a:bodyPr/>
            <a:lstStyle/>
            <a:p>
              <a:endParaRPr lang="en-US"/>
            </a:p>
          </p:txBody>
        </p:sp>
        <p:sp>
          <p:nvSpPr>
            <p:cNvPr id="7" name="AutoShape 40">
              <a:extLst>
                <a:ext uri="{FF2B5EF4-FFF2-40B4-BE49-F238E27FC236}">
                  <a16:creationId xmlns:a16="http://schemas.microsoft.com/office/drawing/2014/main" id="{3D7D17F3-FA79-3E99-10D7-8F94FB97182A}"/>
                </a:ext>
              </a:extLst>
            </p:cNvPr>
            <p:cNvSpPr/>
            <p:nvPr/>
          </p:nvSpPr>
          <p:spPr>
            <a:xfrm>
              <a:off x="9584694" y="6332029"/>
              <a:ext cx="2607306" cy="0"/>
            </a:xfrm>
            <a:prstGeom prst="line">
              <a:avLst/>
            </a:prstGeom>
            <a:ln w="19050" cap="flat">
              <a:solidFill>
                <a:srgbClr val="6DB1CC">
                  <a:alpha val="80000"/>
                </a:srgbClr>
              </a:solidFill>
              <a:prstDash val="solid"/>
              <a:headEnd type="none" w="sm" len="sm"/>
              <a:tailEnd type="none" w="sm" len="sm"/>
            </a:ln>
          </p:spPr>
          <p:txBody>
            <a:bodyPr/>
            <a:lstStyle/>
            <a:p>
              <a:endParaRPr lang="en-US"/>
            </a:p>
          </p:txBody>
        </p:sp>
      </p:grpSp>
      <p:pic>
        <p:nvPicPr>
          <p:cNvPr id="9" name="Picture 8" descr="Ý nghĩa logo Đại học Công nghệ Tp.HCM (HUTECH)">
            <a:extLst>
              <a:ext uri="{FF2B5EF4-FFF2-40B4-BE49-F238E27FC236}">
                <a16:creationId xmlns:a16="http://schemas.microsoft.com/office/drawing/2014/main" id="{C8F6A362-944D-8FE5-12FB-00585095BE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8096" y="159827"/>
            <a:ext cx="1817203" cy="58278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87348FF-2E1F-4167-3975-5931132701EE}"/>
              </a:ext>
            </a:extLst>
          </p:cNvPr>
          <p:cNvSpPr/>
          <p:nvPr/>
        </p:nvSpPr>
        <p:spPr>
          <a:xfrm>
            <a:off x="647481" y="463478"/>
            <a:ext cx="8142621" cy="593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3000" b="1" dirty="0">
                <a:solidFill>
                  <a:srgbClr val="6DB1CC"/>
                </a:solidFill>
                <a:latin typeface="Segoe UI" panose="020B0502040204020203" pitchFamily="34" charset="0"/>
                <a:cs typeface="Segoe UI" panose="020B0502040204020203" pitchFamily="34" charset="0"/>
              </a:rPr>
              <a:t>HẠN CHẾ VÀ HƯỚNG PHÁT TRIỂN</a:t>
            </a:r>
          </a:p>
        </p:txBody>
      </p:sp>
      <p:sp>
        <p:nvSpPr>
          <p:cNvPr id="10" name="TextBox 9">
            <a:extLst>
              <a:ext uri="{FF2B5EF4-FFF2-40B4-BE49-F238E27FC236}">
                <a16:creationId xmlns:a16="http://schemas.microsoft.com/office/drawing/2014/main" id="{FA176F32-C430-0A4C-8F1C-E4449155EA89}"/>
              </a:ext>
            </a:extLst>
          </p:cNvPr>
          <p:cNvSpPr txBox="1"/>
          <p:nvPr/>
        </p:nvSpPr>
        <p:spPr>
          <a:xfrm>
            <a:off x="600467" y="1893846"/>
            <a:ext cx="11606589" cy="1891287"/>
          </a:xfrm>
          <a:prstGeom prst="rect">
            <a:avLst/>
          </a:prstGeom>
          <a:noFill/>
        </p:spPr>
        <p:txBody>
          <a:bodyPr wrap="square">
            <a:spAutoFit/>
          </a:bodyPr>
          <a:lstStyle/>
          <a:p>
            <a:pPr marL="342900" indent="-342900">
              <a:lnSpc>
                <a:spcPct val="150000"/>
              </a:lnSpc>
              <a:buFont typeface="Arial" panose="020B0604020202020204" pitchFamily="34" charset="0"/>
              <a:buChar char="•"/>
            </a:pPr>
            <a:r>
              <a:rPr lang="vi-VN" sz="2000" dirty="0">
                <a:solidFill>
                  <a:schemeClr val="bg1"/>
                </a:solidFill>
                <a:latin typeface="Calibri" panose="020F0502020204030204" pitchFamily="34" charset="0"/>
                <a:ea typeface="Calibri" panose="020F0502020204030204" pitchFamily="34" charset="0"/>
                <a:cs typeface="Calibri" panose="020F0502020204030204" pitchFamily="34" charset="0"/>
              </a:rPr>
              <a:t>Thực nghiệm trong môi trường lab (demo), chưa phản ánh đầy đủ hệ thống thực tế.</a:t>
            </a:r>
          </a:p>
          <a:p>
            <a:pPr marL="342900" indent="-342900">
              <a:lnSpc>
                <a:spcPct val="150000"/>
              </a:lnSpc>
              <a:buFont typeface="Arial" panose="020B0604020202020204" pitchFamily="34" charset="0"/>
              <a:buChar char="•"/>
            </a:pPr>
            <a:r>
              <a:rPr lang="vi-VN" sz="2000" dirty="0">
                <a:solidFill>
                  <a:schemeClr val="bg1"/>
                </a:solidFill>
                <a:latin typeface="Calibri" panose="020F0502020204030204" pitchFamily="34" charset="0"/>
                <a:ea typeface="Calibri" panose="020F0502020204030204" pitchFamily="34" charset="0"/>
                <a:cs typeface="Calibri" panose="020F0502020204030204" pitchFamily="34" charset="0"/>
              </a:rPr>
              <a:t>Kịch bản tập trung vào buffer overflow cơ bản, chưa bao phủ nhiều dạng khai thác khác.</a:t>
            </a:r>
          </a:p>
          <a:p>
            <a:pPr marL="342900" indent="-342900">
              <a:lnSpc>
                <a:spcPct val="150000"/>
              </a:lnSpc>
              <a:buFont typeface="Arial" panose="020B0604020202020204" pitchFamily="34" charset="0"/>
              <a:buChar char="•"/>
            </a:pPr>
            <a:r>
              <a:rPr lang="vi-VN" sz="2000" dirty="0">
                <a:solidFill>
                  <a:schemeClr val="bg1"/>
                </a:solidFill>
                <a:latin typeface="Calibri" panose="020F0502020204030204" pitchFamily="34" charset="0"/>
                <a:ea typeface="Calibri" panose="020F0502020204030204" pitchFamily="34" charset="0"/>
                <a:cs typeface="Calibri" panose="020F0502020204030204" pitchFamily="34" charset="0"/>
              </a:rPr>
              <a:t>Chưa đánh giá sâu với các cơ chế bảo vệ nâng cao (RELRO, stack canary, v.v.).</a:t>
            </a:r>
          </a:p>
          <a:p>
            <a:pPr marL="342900" indent="-342900">
              <a:lnSpc>
                <a:spcPct val="150000"/>
              </a:lnSpc>
              <a:buFont typeface="Arial" panose="020B0604020202020204" pitchFamily="34" charset="0"/>
              <a:buChar char="•"/>
            </a:pPr>
            <a:r>
              <a:rPr lang="vi-VN" sz="2000" dirty="0">
                <a:solidFill>
                  <a:schemeClr val="bg1"/>
                </a:solidFill>
                <a:latin typeface="Calibri" panose="020F0502020204030204" pitchFamily="34" charset="0"/>
                <a:ea typeface="Calibri" panose="020F0502020204030204" pitchFamily="34" charset="0"/>
                <a:cs typeface="Calibri" panose="020F0502020204030204" pitchFamily="34" charset="0"/>
              </a:rPr>
              <a:t>Việc triển khai ROP trong môi trường NX còn đơn giản, chưa bao phủ các kỹ thuật bypass nâng cao.</a:t>
            </a:r>
          </a:p>
        </p:txBody>
      </p:sp>
      <p:grpSp>
        <p:nvGrpSpPr>
          <p:cNvPr id="11" name="Group 10">
            <a:extLst>
              <a:ext uri="{FF2B5EF4-FFF2-40B4-BE49-F238E27FC236}">
                <a16:creationId xmlns:a16="http://schemas.microsoft.com/office/drawing/2014/main" id="{194C5603-4F71-08BC-A93B-D314E043B443}"/>
              </a:ext>
            </a:extLst>
          </p:cNvPr>
          <p:cNvGrpSpPr/>
          <p:nvPr/>
        </p:nvGrpSpPr>
        <p:grpSpPr>
          <a:xfrm>
            <a:off x="-402695" y="1566880"/>
            <a:ext cx="853837" cy="326966"/>
            <a:chOff x="-402695" y="1540627"/>
            <a:chExt cx="853837" cy="326966"/>
          </a:xfrm>
          <a:solidFill>
            <a:srgbClr val="6DB1CC"/>
          </a:solidFill>
        </p:grpSpPr>
        <p:sp>
          <p:nvSpPr>
            <p:cNvPr id="12" name="Rectangle 11">
              <a:extLst>
                <a:ext uri="{FF2B5EF4-FFF2-40B4-BE49-F238E27FC236}">
                  <a16:creationId xmlns:a16="http://schemas.microsoft.com/office/drawing/2014/main" id="{3B245CD8-089A-F17B-2C1A-40C1FB865906}"/>
                </a:ext>
              </a:extLst>
            </p:cNvPr>
            <p:cNvSpPr/>
            <p:nvPr/>
          </p:nvSpPr>
          <p:spPr>
            <a:xfrm>
              <a:off x="-402695" y="1540627"/>
              <a:ext cx="552019" cy="32696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E6B424B-0AD4-F9B1-A7DD-1EFF8DBE81F0}"/>
                </a:ext>
              </a:extLst>
            </p:cNvPr>
            <p:cNvSpPr/>
            <p:nvPr/>
          </p:nvSpPr>
          <p:spPr>
            <a:xfrm>
              <a:off x="197772" y="1540627"/>
              <a:ext cx="118416" cy="32696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E94FE10-3791-5166-D883-B0873C3B4656}"/>
                </a:ext>
              </a:extLst>
            </p:cNvPr>
            <p:cNvSpPr/>
            <p:nvPr/>
          </p:nvSpPr>
          <p:spPr>
            <a:xfrm>
              <a:off x="364636" y="1540627"/>
              <a:ext cx="86506" cy="32696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F78BDF14-0F4F-3758-47AA-EB9F4470F038}"/>
              </a:ext>
            </a:extLst>
          </p:cNvPr>
          <p:cNvSpPr/>
          <p:nvPr/>
        </p:nvSpPr>
        <p:spPr>
          <a:xfrm>
            <a:off x="600467" y="3511332"/>
            <a:ext cx="10991065" cy="123330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spcBef>
                <a:spcPts val="600"/>
              </a:spcBef>
            </a:pPr>
            <a:r>
              <a:rPr lang="en-US" sz="2200" b="1" dirty="0" err="1">
                <a:solidFill>
                  <a:schemeClr val="bg1"/>
                </a:solidFill>
                <a:latin typeface="Segoe UI" panose="020B0502040204020203" pitchFamily="34" charset="0"/>
                <a:cs typeface="Segoe UI" panose="020B0502040204020203" pitchFamily="34" charset="0"/>
              </a:rPr>
              <a:t>Hướng</a:t>
            </a:r>
            <a:r>
              <a:rPr lang="en-US" sz="2200" b="1" dirty="0">
                <a:solidFill>
                  <a:schemeClr val="bg1"/>
                </a:solidFill>
                <a:latin typeface="Segoe UI" panose="020B0502040204020203" pitchFamily="34" charset="0"/>
                <a:cs typeface="Segoe UI" panose="020B0502040204020203" pitchFamily="34" charset="0"/>
              </a:rPr>
              <a:t> </a:t>
            </a:r>
            <a:r>
              <a:rPr lang="en-US" sz="2200" b="1" dirty="0" err="1">
                <a:solidFill>
                  <a:schemeClr val="bg1"/>
                </a:solidFill>
                <a:latin typeface="Segoe UI" panose="020B0502040204020203" pitchFamily="34" charset="0"/>
                <a:cs typeface="Segoe UI" panose="020B0502040204020203" pitchFamily="34" charset="0"/>
              </a:rPr>
              <a:t>phát</a:t>
            </a:r>
            <a:r>
              <a:rPr lang="en-US" sz="2200" b="1" dirty="0">
                <a:solidFill>
                  <a:schemeClr val="bg1"/>
                </a:solidFill>
                <a:latin typeface="Segoe UI" panose="020B0502040204020203" pitchFamily="34" charset="0"/>
                <a:cs typeface="Segoe UI" panose="020B0502040204020203" pitchFamily="34" charset="0"/>
              </a:rPr>
              <a:t> </a:t>
            </a:r>
            <a:r>
              <a:rPr lang="en-US" sz="2200" b="1" dirty="0" err="1">
                <a:solidFill>
                  <a:schemeClr val="bg1"/>
                </a:solidFill>
                <a:latin typeface="Segoe UI" panose="020B0502040204020203" pitchFamily="34" charset="0"/>
                <a:cs typeface="Segoe UI" panose="020B0502040204020203" pitchFamily="34" charset="0"/>
              </a:rPr>
              <a:t>triển</a:t>
            </a:r>
            <a:endParaRPr lang="en-US" sz="2200" dirty="0">
              <a:solidFill>
                <a:schemeClr val="bg1"/>
              </a:solidFill>
              <a:latin typeface="Segoe UI" panose="020B0502040204020203" pitchFamily="34" charset="0"/>
              <a:cs typeface="Segoe UI" panose="020B0502040204020203" pitchFamily="34" charset="0"/>
            </a:endParaRPr>
          </a:p>
        </p:txBody>
      </p:sp>
      <p:sp>
        <p:nvSpPr>
          <p:cNvPr id="16" name="TextBox 15">
            <a:extLst>
              <a:ext uri="{FF2B5EF4-FFF2-40B4-BE49-F238E27FC236}">
                <a16:creationId xmlns:a16="http://schemas.microsoft.com/office/drawing/2014/main" id="{8C39DDB7-3977-675A-19C9-4B8A4614E6F0}"/>
              </a:ext>
            </a:extLst>
          </p:cNvPr>
          <p:cNvSpPr txBox="1"/>
          <p:nvPr/>
        </p:nvSpPr>
        <p:spPr>
          <a:xfrm>
            <a:off x="600467" y="4358005"/>
            <a:ext cx="11237957" cy="1891287"/>
          </a:xfrm>
          <a:prstGeom prst="rect">
            <a:avLst/>
          </a:prstGeom>
          <a:noFill/>
        </p:spPr>
        <p:txBody>
          <a:bodyPr wrap="square">
            <a:spAutoFit/>
          </a:bodyPr>
          <a:lstStyle/>
          <a:p>
            <a:pPr marL="342900" indent="-342900">
              <a:lnSpc>
                <a:spcPct val="150000"/>
              </a:lnSpc>
              <a:buFont typeface="Arial" panose="020B0604020202020204" pitchFamily="34" charset="0"/>
              <a:buChar char="•"/>
            </a:pPr>
            <a:r>
              <a:rPr lang="vi-VN" sz="2000" dirty="0">
                <a:solidFill>
                  <a:schemeClr val="bg1"/>
                </a:solidFill>
                <a:latin typeface="Calibri" panose="020F0502020204030204" pitchFamily="34" charset="0"/>
                <a:ea typeface="Calibri" panose="020F0502020204030204" pitchFamily="34" charset="0"/>
                <a:cs typeface="Calibri" panose="020F0502020204030204" pitchFamily="34" charset="0"/>
              </a:rPr>
              <a:t>Mở rộng thêm các kỹ thuật khai thác (heap overflow, format string, v.v.).</a:t>
            </a:r>
            <a:endPar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342900" indent="-342900">
              <a:lnSpc>
                <a:spcPct val="150000"/>
              </a:lnSpc>
              <a:buFont typeface="Arial" panose="020B0604020202020204" pitchFamily="34" charset="0"/>
              <a:buChar char="•"/>
            </a:pPr>
            <a:r>
              <a:rPr lang="vi-VN" sz="2000" dirty="0">
                <a:solidFill>
                  <a:schemeClr val="bg1"/>
                </a:solidFill>
                <a:latin typeface="Calibri" panose="020F0502020204030204" pitchFamily="34" charset="0"/>
                <a:ea typeface="Calibri" panose="020F0502020204030204" pitchFamily="34" charset="0"/>
                <a:cs typeface="Calibri" panose="020F0502020204030204" pitchFamily="34" charset="0"/>
              </a:rPr>
              <a:t>Kết hợp nhiều cơ chế bảo vệ (ASLR + NX + PIE + RELRO) để đánh giá toàn diện</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a:t>
            </a:r>
          </a:p>
          <a:p>
            <a:pPr marL="342900" indent="-342900">
              <a:lnSpc>
                <a:spcPct val="150000"/>
              </a:lnSpc>
              <a:buFont typeface="Arial" panose="020B0604020202020204" pitchFamily="34" charset="0"/>
              <a:buChar char="•"/>
            </a:pPr>
            <a:r>
              <a:rPr lang="vi-VN" sz="2000" dirty="0">
                <a:solidFill>
                  <a:schemeClr val="bg1"/>
                </a:solidFill>
                <a:latin typeface="Calibri" panose="020F0502020204030204" pitchFamily="34" charset="0"/>
                <a:ea typeface="Calibri" panose="020F0502020204030204" pitchFamily="34" charset="0"/>
                <a:cs typeface="Calibri" panose="020F0502020204030204" pitchFamily="34" charset="0"/>
              </a:rPr>
              <a:t>Hoàn thiện ROP chain và các kỹ thuật bypass nâng cao.</a:t>
            </a:r>
            <a:endPar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342900" indent="-342900">
              <a:lnSpc>
                <a:spcPct val="150000"/>
              </a:lnSpc>
              <a:buFont typeface="Arial" panose="020B0604020202020204" pitchFamily="34" charset="0"/>
              <a:buChar char="•"/>
            </a:pPr>
            <a:r>
              <a:rPr lang="vi-VN" sz="2000" dirty="0">
                <a:solidFill>
                  <a:schemeClr val="bg1"/>
                </a:solidFill>
                <a:latin typeface="Calibri" panose="020F0502020204030204" pitchFamily="34" charset="0"/>
                <a:ea typeface="Calibri" panose="020F0502020204030204" pitchFamily="34" charset="0"/>
                <a:cs typeface="Calibri" panose="020F0502020204030204" pitchFamily="34" charset="0"/>
              </a:rPr>
              <a:t>Xây dựng môi trường gần thực tế (multi-service, network attack)</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a:t>
            </a:r>
          </a:p>
        </p:txBody>
      </p:sp>
      <p:grpSp>
        <p:nvGrpSpPr>
          <p:cNvPr id="17" name="Group 16">
            <a:extLst>
              <a:ext uri="{FF2B5EF4-FFF2-40B4-BE49-F238E27FC236}">
                <a16:creationId xmlns:a16="http://schemas.microsoft.com/office/drawing/2014/main" id="{973FE2A1-9452-F776-D2FE-0C7CCFE49735}"/>
              </a:ext>
            </a:extLst>
          </p:cNvPr>
          <p:cNvGrpSpPr/>
          <p:nvPr/>
        </p:nvGrpSpPr>
        <p:grpSpPr>
          <a:xfrm>
            <a:off x="-402695" y="4031039"/>
            <a:ext cx="853837" cy="326966"/>
            <a:chOff x="-402695" y="1540627"/>
            <a:chExt cx="853837" cy="326966"/>
          </a:xfrm>
          <a:solidFill>
            <a:srgbClr val="6DB1CC"/>
          </a:solidFill>
        </p:grpSpPr>
        <p:sp>
          <p:nvSpPr>
            <p:cNvPr id="18" name="Rectangle 17">
              <a:extLst>
                <a:ext uri="{FF2B5EF4-FFF2-40B4-BE49-F238E27FC236}">
                  <a16:creationId xmlns:a16="http://schemas.microsoft.com/office/drawing/2014/main" id="{C03B51AA-1F86-A747-0615-5BC4E05B5A8A}"/>
                </a:ext>
              </a:extLst>
            </p:cNvPr>
            <p:cNvSpPr/>
            <p:nvPr/>
          </p:nvSpPr>
          <p:spPr>
            <a:xfrm>
              <a:off x="-402695" y="1540627"/>
              <a:ext cx="552019" cy="32696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B9F01FA-3467-5162-FCDF-F727199FB3B8}"/>
                </a:ext>
              </a:extLst>
            </p:cNvPr>
            <p:cNvSpPr/>
            <p:nvPr/>
          </p:nvSpPr>
          <p:spPr>
            <a:xfrm>
              <a:off x="197772" y="1540627"/>
              <a:ext cx="118416" cy="32696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D99225F-526D-070C-23E4-63F5BD3031CB}"/>
                </a:ext>
              </a:extLst>
            </p:cNvPr>
            <p:cNvSpPr/>
            <p:nvPr/>
          </p:nvSpPr>
          <p:spPr>
            <a:xfrm>
              <a:off x="364636" y="1540627"/>
              <a:ext cx="86506" cy="32696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2">
            <a:extLst>
              <a:ext uri="{FF2B5EF4-FFF2-40B4-BE49-F238E27FC236}">
                <a16:creationId xmlns:a16="http://schemas.microsoft.com/office/drawing/2014/main" id="{E46AECDF-29B6-EFB7-1C63-4829F36CA58A}"/>
              </a:ext>
            </a:extLst>
          </p:cNvPr>
          <p:cNvSpPr/>
          <p:nvPr/>
        </p:nvSpPr>
        <p:spPr>
          <a:xfrm>
            <a:off x="600467" y="1053983"/>
            <a:ext cx="10991065" cy="123330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spcBef>
                <a:spcPts val="600"/>
              </a:spcBef>
            </a:pPr>
            <a:r>
              <a:rPr lang="en-US" sz="2200" b="1" dirty="0" err="1">
                <a:solidFill>
                  <a:schemeClr val="bg1"/>
                </a:solidFill>
                <a:latin typeface="Segoe UI" panose="020B0502040204020203" pitchFamily="34" charset="0"/>
                <a:cs typeface="Segoe UI" panose="020B0502040204020203" pitchFamily="34" charset="0"/>
              </a:rPr>
              <a:t>Hạn</a:t>
            </a:r>
            <a:r>
              <a:rPr lang="en-US" sz="2200" b="1" dirty="0">
                <a:solidFill>
                  <a:schemeClr val="bg1"/>
                </a:solidFill>
                <a:latin typeface="Segoe UI" panose="020B0502040204020203" pitchFamily="34" charset="0"/>
                <a:cs typeface="Segoe UI" panose="020B0502040204020203" pitchFamily="34" charset="0"/>
              </a:rPr>
              <a:t> </a:t>
            </a:r>
            <a:r>
              <a:rPr lang="en-US" sz="2200" b="1" dirty="0" err="1">
                <a:solidFill>
                  <a:schemeClr val="bg1"/>
                </a:solidFill>
                <a:latin typeface="Segoe UI" panose="020B0502040204020203" pitchFamily="34" charset="0"/>
                <a:cs typeface="Segoe UI" panose="020B0502040204020203" pitchFamily="34" charset="0"/>
              </a:rPr>
              <a:t>chế</a:t>
            </a:r>
            <a:endParaRPr lang="en-US" sz="2200"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2199309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reeform 2">
            <a:extLst>
              <a:ext uri="{FF2B5EF4-FFF2-40B4-BE49-F238E27FC236}">
                <a16:creationId xmlns:a16="http://schemas.microsoft.com/office/drawing/2014/main" id="{6010570A-E346-456F-ACB2-7409B5B4586D}"/>
              </a:ext>
            </a:extLst>
          </p:cNvPr>
          <p:cNvSpPr>
            <a:spLocks noGrp="1" noRot="1" noMove="1" noResize="1" noEditPoints="1" noAdjustHandles="1" noChangeArrowheads="1" noChangeShapeType="1"/>
          </p:cNvSpPr>
          <p:nvPr/>
        </p:nvSpPr>
        <p:spPr>
          <a:xfrm>
            <a:off x="9144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BEBA8EAE-BF5A-486C-A8C5-ECC9F3942E4B}">
                  <a14:imgProps xmlns:a14="http://schemas.microsoft.com/office/drawing/2010/main">
                    <a14:imgLayer r:embed="rId3">
                      <a14:imgEffect>
                        <a14:saturation sat="72000"/>
                      </a14:imgEffect>
                      <a14:imgEffect>
                        <a14:brightnessContrast bright="-43000" contrast="5000"/>
                      </a14:imgEffect>
                    </a14:imgLayer>
                  </a14:imgProps>
                </a:ext>
              </a:extLst>
            </a:blip>
            <a:stretch>
              <a:fillRect t="-38888" b="-38888"/>
            </a:stretch>
          </a:blipFill>
        </p:spPr>
        <p:txBody>
          <a:bodyPr/>
          <a:lstStyle/>
          <a:p>
            <a:endParaRPr lang="en-US"/>
          </a:p>
        </p:txBody>
      </p:sp>
      <p:sp>
        <p:nvSpPr>
          <p:cNvPr id="4" name="Rectangle 3">
            <a:extLst>
              <a:ext uri="{FF2B5EF4-FFF2-40B4-BE49-F238E27FC236}">
                <a16:creationId xmlns:a16="http://schemas.microsoft.com/office/drawing/2014/main" id="{78EA6825-3001-22E0-1F05-48E75FC4225A}"/>
              </a:ext>
            </a:extLst>
          </p:cNvPr>
          <p:cNvSpPr/>
          <p:nvPr/>
        </p:nvSpPr>
        <p:spPr>
          <a:xfrm>
            <a:off x="1080894" y="2748146"/>
            <a:ext cx="10030211" cy="136170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6600" b="1" dirty="0">
                <a:solidFill>
                  <a:srgbClr val="00AFB8"/>
                </a:solidFill>
                <a:latin typeface="Segoe UI" panose="020B0502040204020203" pitchFamily="34" charset="0"/>
                <a:cs typeface="Segoe UI" panose="020B0502040204020203" pitchFamily="34" charset="0"/>
              </a:rPr>
              <a:t>THANK YOU !</a:t>
            </a:r>
            <a:endParaRPr lang="en-US" sz="8800" b="1" dirty="0">
              <a:solidFill>
                <a:srgbClr val="00AFB8"/>
              </a:solidFill>
              <a:latin typeface="Segoe UI" panose="020B0502040204020203" pitchFamily="34" charset="0"/>
              <a:cs typeface="Segoe UI" panose="020B0502040204020203" pitchFamily="34" charset="0"/>
            </a:endParaRPr>
          </a:p>
        </p:txBody>
      </p:sp>
      <p:pic>
        <p:nvPicPr>
          <p:cNvPr id="6" name="Picture 8" descr="Ý nghĩa logo Đại học Công nghệ Tp.HCM (HUTECH)">
            <a:extLst>
              <a:ext uri="{FF2B5EF4-FFF2-40B4-BE49-F238E27FC236}">
                <a16:creationId xmlns:a16="http://schemas.microsoft.com/office/drawing/2014/main" id="{8E0B84D0-AA7A-609C-B5F6-DF5EF657CA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08096" y="159827"/>
            <a:ext cx="1817203" cy="582783"/>
          </a:xfrm>
          <a:prstGeom prst="rect">
            <a:avLst/>
          </a:prstGeom>
          <a:noFill/>
          <a:extLst>
            <a:ext uri="{909E8E84-426E-40DD-AFC4-6F175D3DCCD1}">
              <a14:hiddenFill xmlns:a14="http://schemas.microsoft.com/office/drawing/2010/main">
                <a:solidFill>
                  <a:srgbClr val="FFFFFF"/>
                </a:solidFill>
              </a14:hiddenFill>
            </a:ext>
          </a:extLst>
        </p:spPr>
      </p:pic>
      <p:grpSp>
        <p:nvGrpSpPr>
          <p:cNvPr id="21" name="Group 20">
            <a:extLst>
              <a:ext uri="{FF2B5EF4-FFF2-40B4-BE49-F238E27FC236}">
                <a16:creationId xmlns:a16="http://schemas.microsoft.com/office/drawing/2014/main" id="{021B2146-4E62-5EB9-2B13-03444D3CA29E}"/>
              </a:ext>
            </a:extLst>
          </p:cNvPr>
          <p:cNvGrpSpPr/>
          <p:nvPr/>
        </p:nvGrpSpPr>
        <p:grpSpPr>
          <a:xfrm>
            <a:off x="1439957" y="2904446"/>
            <a:ext cx="1469497" cy="1049105"/>
            <a:chOff x="1439957" y="2904446"/>
            <a:chExt cx="1469497" cy="1049105"/>
          </a:xfrm>
        </p:grpSpPr>
        <p:sp>
          <p:nvSpPr>
            <p:cNvPr id="16" name="Oval 15">
              <a:extLst>
                <a:ext uri="{FF2B5EF4-FFF2-40B4-BE49-F238E27FC236}">
                  <a16:creationId xmlns:a16="http://schemas.microsoft.com/office/drawing/2014/main" id="{8C12379F-2986-E187-417F-EF78B742A769}"/>
                </a:ext>
              </a:extLst>
            </p:cNvPr>
            <p:cNvSpPr/>
            <p:nvPr/>
          </p:nvSpPr>
          <p:spPr>
            <a:xfrm>
              <a:off x="1446625" y="3170332"/>
              <a:ext cx="1380201" cy="598612"/>
            </a:xfrm>
            <a:prstGeom prst="ellipse">
              <a:avLst/>
            </a:prstGeom>
            <a:solidFill>
              <a:srgbClr val="6DB1CC">
                <a:alpha val="1000"/>
              </a:srgbClr>
            </a:solidFill>
            <a:ln>
              <a:noFill/>
            </a:ln>
            <a:effectLst>
              <a:glow rad="711200">
                <a:srgbClr val="4C9FC0">
                  <a:alpha val="1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087AF18C-58F5-2A41-4DAA-3D272F05461A}"/>
                </a:ext>
              </a:extLst>
            </p:cNvPr>
            <p:cNvGrpSpPr/>
            <p:nvPr/>
          </p:nvGrpSpPr>
          <p:grpSpPr>
            <a:xfrm>
              <a:off x="1439957" y="2904446"/>
              <a:ext cx="1469497" cy="1049105"/>
              <a:chOff x="1390081" y="4189844"/>
              <a:chExt cx="2671601" cy="1907312"/>
            </a:xfrm>
          </p:grpSpPr>
          <p:sp>
            <p:nvSpPr>
              <p:cNvPr id="18" name="Freeform 8">
                <a:extLst>
                  <a:ext uri="{FF2B5EF4-FFF2-40B4-BE49-F238E27FC236}">
                    <a16:creationId xmlns:a16="http://schemas.microsoft.com/office/drawing/2014/main" id="{9E83BC7D-0C32-3FB6-8C55-7725C882FC79}"/>
                  </a:ext>
                </a:extLst>
              </p:cNvPr>
              <p:cNvSpPr/>
              <p:nvPr/>
            </p:nvSpPr>
            <p:spPr>
              <a:xfrm>
                <a:off x="2843386" y="4189844"/>
                <a:ext cx="1218296" cy="1907312"/>
              </a:xfrm>
              <a:custGeom>
                <a:avLst/>
                <a:gdLst/>
                <a:ahLst/>
                <a:cxnLst/>
                <a:rect l="l" t="t" r="r" b="b"/>
                <a:pathLst>
                  <a:path w="1218296" h="1907312">
                    <a:moveTo>
                      <a:pt x="0" y="0"/>
                    </a:moveTo>
                    <a:lnTo>
                      <a:pt x="1218295" y="0"/>
                    </a:lnTo>
                    <a:lnTo>
                      <a:pt x="1218295" y="1907312"/>
                    </a:lnTo>
                    <a:lnTo>
                      <a:pt x="0" y="19073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9" name="Freeform 15">
                <a:extLst>
                  <a:ext uri="{FF2B5EF4-FFF2-40B4-BE49-F238E27FC236}">
                    <a16:creationId xmlns:a16="http://schemas.microsoft.com/office/drawing/2014/main" id="{0924C91E-097C-0296-1401-6B01E6E34582}"/>
                  </a:ext>
                </a:extLst>
              </p:cNvPr>
              <p:cNvSpPr/>
              <p:nvPr/>
            </p:nvSpPr>
            <p:spPr>
              <a:xfrm>
                <a:off x="2105520" y="4471286"/>
                <a:ext cx="858754" cy="1344429"/>
              </a:xfrm>
              <a:custGeom>
                <a:avLst/>
                <a:gdLst/>
                <a:ahLst/>
                <a:cxnLst/>
                <a:rect l="l" t="t" r="r" b="b"/>
                <a:pathLst>
                  <a:path w="858754" h="1344429">
                    <a:moveTo>
                      <a:pt x="0" y="0"/>
                    </a:moveTo>
                    <a:lnTo>
                      <a:pt x="858754" y="0"/>
                    </a:lnTo>
                    <a:lnTo>
                      <a:pt x="858754" y="1344428"/>
                    </a:lnTo>
                    <a:lnTo>
                      <a:pt x="0" y="134442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0" name="Freeform 16">
                <a:extLst>
                  <a:ext uri="{FF2B5EF4-FFF2-40B4-BE49-F238E27FC236}">
                    <a16:creationId xmlns:a16="http://schemas.microsoft.com/office/drawing/2014/main" id="{F68DF4AD-2BD6-E937-30FE-3C58743DA869}"/>
                  </a:ext>
                </a:extLst>
              </p:cNvPr>
              <p:cNvSpPr/>
              <p:nvPr/>
            </p:nvSpPr>
            <p:spPr>
              <a:xfrm>
                <a:off x="1390081" y="4650573"/>
                <a:ext cx="629715" cy="985855"/>
              </a:xfrm>
              <a:custGeom>
                <a:avLst/>
                <a:gdLst/>
                <a:ahLst/>
                <a:cxnLst/>
                <a:rect l="l" t="t" r="r" b="b"/>
                <a:pathLst>
                  <a:path w="629715" h="985855">
                    <a:moveTo>
                      <a:pt x="0" y="0"/>
                    </a:moveTo>
                    <a:lnTo>
                      <a:pt x="629714" y="0"/>
                    </a:lnTo>
                    <a:lnTo>
                      <a:pt x="629714" y="985854"/>
                    </a:lnTo>
                    <a:lnTo>
                      <a:pt x="0" y="98585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grpSp>
      <p:grpSp>
        <p:nvGrpSpPr>
          <p:cNvPr id="22" name="Group 21">
            <a:extLst>
              <a:ext uri="{FF2B5EF4-FFF2-40B4-BE49-F238E27FC236}">
                <a16:creationId xmlns:a16="http://schemas.microsoft.com/office/drawing/2014/main" id="{41239E63-D4B4-C72F-EBB2-01BAE19C1F34}"/>
              </a:ext>
            </a:extLst>
          </p:cNvPr>
          <p:cNvGrpSpPr/>
          <p:nvPr/>
        </p:nvGrpSpPr>
        <p:grpSpPr>
          <a:xfrm flipH="1">
            <a:off x="9275878" y="2904445"/>
            <a:ext cx="1469497" cy="1049105"/>
            <a:chOff x="1439957" y="2904446"/>
            <a:chExt cx="1469497" cy="1049105"/>
          </a:xfrm>
        </p:grpSpPr>
        <p:sp>
          <p:nvSpPr>
            <p:cNvPr id="23" name="Oval 22">
              <a:extLst>
                <a:ext uri="{FF2B5EF4-FFF2-40B4-BE49-F238E27FC236}">
                  <a16:creationId xmlns:a16="http://schemas.microsoft.com/office/drawing/2014/main" id="{083E8CEE-B39D-C8FC-ECB3-946F9158872E}"/>
                </a:ext>
              </a:extLst>
            </p:cNvPr>
            <p:cNvSpPr/>
            <p:nvPr/>
          </p:nvSpPr>
          <p:spPr>
            <a:xfrm>
              <a:off x="1446625" y="3170332"/>
              <a:ext cx="1380201" cy="598612"/>
            </a:xfrm>
            <a:prstGeom prst="ellipse">
              <a:avLst/>
            </a:prstGeom>
            <a:solidFill>
              <a:srgbClr val="6DB1CC">
                <a:alpha val="1000"/>
              </a:srgbClr>
            </a:solidFill>
            <a:ln>
              <a:noFill/>
            </a:ln>
            <a:effectLst>
              <a:glow rad="711200">
                <a:srgbClr val="4C9FC0">
                  <a:alpha val="1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B8E1E357-AF29-0606-04C1-0EDBC00EEFAF}"/>
                </a:ext>
              </a:extLst>
            </p:cNvPr>
            <p:cNvGrpSpPr/>
            <p:nvPr/>
          </p:nvGrpSpPr>
          <p:grpSpPr>
            <a:xfrm>
              <a:off x="1439957" y="2904446"/>
              <a:ext cx="1469497" cy="1049105"/>
              <a:chOff x="1390081" y="4189844"/>
              <a:chExt cx="2671601" cy="1907312"/>
            </a:xfrm>
          </p:grpSpPr>
          <p:sp>
            <p:nvSpPr>
              <p:cNvPr id="25" name="Freeform 8">
                <a:extLst>
                  <a:ext uri="{FF2B5EF4-FFF2-40B4-BE49-F238E27FC236}">
                    <a16:creationId xmlns:a16="http://schemas.microsoft.com/office/drawing/2014/main" id="{136A7A22-E246-23B7-AFBF-761DC006EDE5}"/>
                  </a:ext>
                </a:extLst>
              </p:cNvPr>
              <p:cNvSpPr/>
              <p:nvPr/>
            </p:nvSpPr>
            <p:spPr>
              <a:xfrm>
                <a:off x="2843386" y="4189844"/>
                <a:ext cx="1218296" cy="1907312"/>
              </a:xfrm>
              <a:custGeom>
                <a:avLst/>
                <a:gdLst/>
                <a:ahLst/>
                <a:cxnLst/>
                <a:rect l="l" t="t" r="r" b="b"/>
                <a:pathLst>
                  <a:path w="1218296" h="1907312">
                    <a:moveTo>
                      <a:pt x="0" y="0"/>
                    </a:moveTo>
                    <a:lnTo>
                      <a:pt x="1218295" y="0"/>
                    </a:lnTo>
                    <a:lnTo>
                      <a:pt x="1218295" y="1907312"/>
                    </a:lnTo>
                    <a:lnTo>
                      <a:pt x="0" y="19073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6" name="Freeform 15">
                <a:extLst>
                  <a:ext uri="{FF2B5EF4-FFF2-40B4-BE49-F238E27FC236}">
                    <a16:creationId xmlns:a16="http://schemas.microsoft.com/office/drawing/2014/main" id="{022012EA-0208-D413-5C5E-13368A173C9C}"/>
                  </a:ext>
                </a:extLst>
              </p:cNvPr>
              <p:cNvSpPr/>
              <p:nvPr/>
            </p:nvSpPr>
            <p:spPr>
              <a:xfrm>
                <a:off x="2105520" y="4471286"/>
                <a:ext cx="858754" cy="1344429"/>
              </a:xfrm>
              <a:custGeom>
                <a:avLst/>
                <a:gdLst/>
                <a:ahLst/>
                <a:cxnLst/>
                <a:rect l="l" t="t" r="r" b="b"/>
                <a:pathLst>
                  <a:path w="858754" h="1344429">
                    <a:moveTo>
                      <a:pt x="0" y="0"/>
                    </a:moveTo>
                    <a:lnTo>
                      <a:pt x="858754" y="0"/>
                    </a:lnTo>
                    <a:lnTo>
                      <a:pt x="858754" y="1344428"/>
                    </a:lnTo>
                    <a:lnTo>
                      <a:pt x="0" y="134442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7" name="Freeform 16">
                <a:extLst>
                  <a:ext uri="{FF2B5EF4-FFF2-40B4-BE49-F238E27FC236}">
                    <a16:creationId xmlns:a16="http://schemas.microsoft.com/office/drawing/2014/main" id="{693C9600-D49F-C756-ACBD-29DA05AF06DF}"/>
                  </a:ext>
                </a:extLst>
              </p:cNvPr>
              <p:cNvSpPr/>
              <p:nvPr/>
            </p:nvSpPr>
            <p:spPr>
              <a:xfrm>
                <a:off x="1390081" y="4650573"/>
                <a:ext cx="629715" cy="985855"/>
              </a:xfrm>
              <a:custGeom>
                <a:avLst/>
                <a:gdLst/>
                <a:ahLst/>
                <a:cxnLst/>
                <a:rect l="l" t="t" r="r" b="b"/>
                <a:pathLst>
                  <a:path w="629715" h="985855">
                    <a:moveTo>
                      <a:pt x="0" y="0"/>
                    </a:moveTo>
                    <a:lnTo>
                      <a:pt x="629714" y="0"/>
                    </a:lnTo>
                    <a:lnTo>
                      <a:pt x="629714" y="985854"/>
                    </a:lnTo>
                    <a:lnTo>
                      <a:pt x="0" y="98585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grpSp>
    </p:spTree>
    <p:extLst>
      <p:ext uri="{BB962C8B-B14F-4D97-AF65-F5344CB8AC3E}">
        <p14:creationId xmlns:p14="http://schemas.microsoft.com/office/powerpoint/2010/main" val="4212558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932</TotalTime>
  <Words>1954</Words>
  <Application>Microsoft Office PowerPoint</Application>
  <PresentationFormat>Widescreen</PresentationFormat>
  <Paragraphs>250</Paragraphs>
  <Slides>23</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Aptos</vt:lpstr>
      <vt:lpstr>Aptos Display</vt:lpstr>
      <vt:lpstr>Arial</vt:lpstr>
      <vt:lpstr>Calibri</vt:lpstr>
      <vt:lpstr>Cambria Math</vt:lpstr>
      <vt:lpstr>Courier New</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Thuận Thiên Trần</dc:creator>
  <cp:lastModifiedBy>Thuận Thiên Trần</cp:lastModifiedBy>
  <cp:revision>240</cp:revision>
  <dcterms:created xsi:type="dcterms:W3CDTF">2026-03-31T19:21:42Z</dcterms:created>
  <dcterms:modified xsi:type="dcterms:W3CDTF">2026-04-05T10:11:25Z</dcterms:modified>
</cp:coreProperties>
</file>