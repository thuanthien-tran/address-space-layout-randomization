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311" r:id="rId4"/>
    <p:sldId id="312" r:id="rId5"/>
    <p:sldId id="313" r:id="rId6"/>
    <p:sldId id="285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7" autoAdjust="0"/>
  </p:normalViewPr>
  <p:slideViewPr>
    <p:cSldViewPr snapToGrid="0">
      <p:cViewPr varScale="1">
        <p:scale>
          <a:sx n="104" d="100"/>
          <a:sy n="104" d="100"/>
        </p:scale>
        <p:origin x="756" y="-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60" descr="Text&#10;&#10;Description automatically generated with low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6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63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6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4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5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6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6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7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7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7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6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6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68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9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9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69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69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69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6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9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7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0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71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2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9" name="Google Shape;159;p7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0" name="Google Shape;160;p7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72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73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7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7" name="Google Shape;167;p7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7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73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7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7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74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5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75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7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75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8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0" y="0"/>
            <a:ext cx="12192000" cy="82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8" name="Google Shape;88;p5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9" name="Google Shape;89;p5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viblo.asia/p/tim-hieu-awk-co-ban-gGJ59229KX2" TargetMode="External"/><Relationship Id="rId2" Type="http://schemas.openxmlformats.org/officeDocument/2006/relationships/hyperlink" Target="https://dcid.me/notes/log-analysis-for-intrusion-dete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khost.vn/blog/virtualbo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"/>
          <p:cNvSpPr txBox="1"/>
          <p:nvPr/>
        </p:nvSpPr>
        <p:spPr>
          <a:xfrm>
            <a:off x="2447898" y="1256613"/>
            <a:ext cx="7296203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FF0000"/>
                </a:solidFill>
              </a:rPr>
              <a:t>BÁO CÁO ĐỒ ÁN CƠ SỞ</a:t>
            </a:r>
          </a:p>
        </p:txBody>
      </p:sp>
      <p:sp>
        <p:nvSpPr>
          <p:cNvPr id="266" name="Google Shape;266;p2"/>
          <p:cNvSpPr txBox="1"/>
          <p:nvPr/>
        </p:nvSpPr>
        <p:spPr>
          <a:xfrm>
            <a:off x="1003177" y="2146640"/>
            <a:ext cx="1045789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PHÁT HIỆN XÂM NHẬP BẰNG PHÂN TÍCH TỆP NHẬT KÝ HỆ THỐNG</a:t>
            </a:r>
          </a:p>
        </p:txBody>
      </p:sp>
      <p:pic>
        <p:nvPicPr>
          <p:cNvPr id="267" name="Google Shape;267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29471" y="5366777"/>
            <a:ext cx="2841019" cy="107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" descr="图片包含 植物, 鲜花&#10;&#10;描述已自动生成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4556229"/>
            <a:ext cx="2226055" cy="1847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48465" y="2784861"/>
            <a:ext cx="4958172" cy="49581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93431" y="3658289"/>
            <a:ext cx="7329251" cy="1088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/>
              <a:t>Sinh </a:t>
            </a:r>
            <a:r>
              <a:rPr lang="en-US" sz="2300" b="1" dirty="0" err="1"/>
              <a:t>viên</a:t>
            </a:r>
            <a:r>
              <a:rPr lang="en-US" sz="2300" b="1" dirty="0"/>
              <a:t> </a:t>
            </a:r>
            <a:r>
              <a:rPr lang="en-US" sz="2300" b="1" dirty="0" err="1"/>
              <a:t>thực</a:t>
            </a:r>
            <a:r>
              <a:rPr lang="en-US" sz="2300" b="1" dirty="0"/>
              <a:t> </a:t>
            </a:r>
            <a:r>
              <a:rPr lang="en-US" sz="2300" b="1" dirty="0" err="1"/>
              <a:t>hiện</a:t>
            </a:r>
            <a:r>
              <a:rPr lang="en-US" sz="2300" b="1" dirty="0"/>
              <a:t>: </a:t>
            </a:r>
            <a:r>
              <a:rPr lang="en-US" sz="2300" b="1" dirty="0" err="1"/>
              <a:t>Nguyễn</a:t>
            </a:r>
            <a:r>
              <a:rPr lang="en-US" sz="2300" b="1" dirty="0"/>
              <a:t> </a:t>
            </a:r>
            <a:r>
              <a:rPr lang="en-US" sz="2300" b="1" dirty="0" err="1"/>
              <a:t>Hữu</a:t>
            </a:r>
            <a:r>
              <a:rPr lang="en-US" sz="2300" b="1" dirty="0"/>
              <a:t> </a:t>
            </a:r>
            <a:r>
              <a:rPr lang="en-US" sz="2300" b="1" dirty="0" err="1"/>
              <a:t>Tài</a:t>
            </a:r>
            <a:r>
              <a:rPr lang="en-US" sz="2300" b="1" dirty="0"/>
              <a:t> – 2187701105</a:t>
            </a:r>
          </a:p>
          <a:p>
            <a:pPr>
              <a:lnSpc>
                <a:spcPct val="150000"/>
              </a:lnSpc>
            </a:pPr>
            <a:r>
              <a:rPr lang="en-US" sz="2300" b="1" dirty="0"/>
              <a:t>GVHD: </a:t>
            </a:r>
            <a:r>
              <a:rPr lang="en-US" sz="2300" b="1" dirty="0" err="1"/>
              <a:t>Th.S</a:t>
            </a:r>
            <a:r>
              <a:rPr lang="en-US" sz="2300" b="1" dirty="0"/>
              <a:t> </a:t>
            </a:r>
            <a:r>
              <a:rPr lang="en-US" sz="2300" b="1" dirty="0" err="1"/>
              <a:t>Nguyễn</a:t>
            </a:r>
            <a:r>
              <a:rPr lang="en-US" sz="2300" b="1" dirty="0"/>
              <a:t> </a:t>
            </a:r>
            <a:r>
              <a:rPr lang="en-US" sz="2300" b="1" dirty="0" err="1"/>
              <a:t>Trọng</a:t>
            </a:r>
            <a:r>
              <a:rPr lang="en-US" sz="2300" b="1" dirty="0"/>
              <a:t> Minh </a:t>
            </a:r>
            <a:r>
              <a:rPr lang="en-US" sz="2300" b="1" dirty="0" err="1"/>
              <a:t>Hồng</a:t>
            </a:r>
            <a:r>
              <a:rPr lang="en-US" sz="2300" b="1" dirty="0"/>
              <a:t> </a:t>
            </a:r>
            <a:r>
              <a:rPr lang="en-US" sz="2300" b="1" dirty="0" err="1"/>
              <a:t>Phước</a:t>
            </a:r>
            <a:endParaRPr lang="en-US" sz="23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"/>
          <p:cNvGrpSpPr/>
          <p:nvPr/>
        </p:nvGrpSpPr>
        <p:grpSpPr>
          <a:xfrm>
            <a:off x="601046" y="1269745"/>
            <a:ext cx="4981463" cy="1060659"/>
            <a:chOff x="642754" y="1800088"/>
            <a:chExt cx="4981462" cy="1060658"/>
          </a:xfrm>
        </p:grpSpPr>
        <p:grpSp>
          <p:nvGrpSpPr>
            <p:cNvPr id="275" name="Google Shape;275;p3"/>
            <p:cNvGrpSpPr/>
            <p:nvPr/>
          </p:nvGrpSpPr>
          <p:grpSpPr>
            <a:xfrm>
              <a:off x="642754" y="1871705"/>
              <a:ext cx="4981462" cy="989041"/>
              <a:chOff x="508001" y="1871705"/>
              <a:chExt cx="4981462" cy="989041"/>
            </a:xfrm>
          </p:grpSpPr>
          <p:sp>
            <p:nvSpPr>
              <p:cNvPr id="276" name="Google Shape;276;p3"/>
              <p:cNvSpPr/>
              <p:nvPr/>
            </p:nvSpPr>
            <p:spPr>
              <a:xfrm>
                <a:off x="508001" y="1871705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5358014" y="1871705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78" name="Google Shape;278;p3"/>
            <p:cNvGrpSpPr/>
            <p:nvPr/>
          </p:nvGrpSpPr>
          <p:grpSpPr>
            <a:xfrm>
              <a:off x="842194" y="1800088"/>
              <a:ext cx="894759" cy="905639"/>
              <a:chOff x="707441" y="1800088"/>
              <a:chExt cx="894759" cy="905639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778151" y="1800088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 dirty="0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01</a:t>
                </a:r>
                <a:endParaRPr sz="3200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707441" y="1800088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09485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81" name="Google Shape;281;p3"/>
            <p:cNvSpPr/>
            <p:nvPr/>
          </p:nvSpPr>
          <p:spPr>
            <a:xfrm>
              <a:off x="2625586" y="1948713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3"/>
            <p:cNvSpPr txBox="1"/>
            <p:nvPr/>
          </p:nvSpPr>
          <p:spPr>
            <a:xfrm>
              <a:off x="2808081" y="2225958"/>
              <a:ext cx="2614162" cy="18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dirty="0" err="1">
                  <a:solidFill>
                    <a:srgbClr val="3F3F3F"/>
                  </a:solidFill>
                </a:rPr>
                <a:t>Đặt</a:t>
              </a:r>
              <a:r>
                <a:rPr lang="en-US" sz="2500" b="1" dirty="0">
                  <a:solidFill>
                    <a:srgbClr val="3F3F3F"/>
                  </a:solidFill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</a:rPr>
                <a:t>vấn</a:t>
              </a:r>
              <a:r>
                <a:rPr lang="en-US" sz="2500" b="1" dirty="0">
                  <a:solidFill>
                    <a:srgbClr val="3F3F3F"/>
                  </a:solidFill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</a:rPr>
                <a:t>đề</a:t>
              </a:r>
              <a:endParaRPr sz="2500" b="1" dirty="0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1956736" y="2161346"/>
              <a:ext cx="478050" cy="409758"/>
            </a:xfrm>
            <a:custGeom>
              <a:avLst/>
              <a:gdLst/>
              <a:ahLst/>
              <a:cxnLst/>
              <a:rect l="l" t="t" r="r" b="b"/>
              <a:pathLst>
                <a:path w="256" h="220" extrusionOk="0">
                  <a:moveTo>
                    <a:pt x="196" y="176"/>
                  </a:moveTo>
                  <a:cubicBezTo>
                    <a:pt x="189" y="176"/>
                    <a:pt x="184" y="171"/>
                    <a:pt x="184" y="164"/>
                  </a:cubicBezTo>
                  <a:cubicBezTo>
                    <a:pt x="184" y="157"/>
                    <a:pt x="189" y="152"/>
                    <a:pt x="196" y="152"/>
                  </a:cubicBezTo>
                  <a:cubicBezTo>
                    <a:pt x="216" y="152"/>
                    <a:pt x="232" y="136"/>
                    <a:pt x="232" y="116"/>
                  </a:cubicBezTo>
                  <a:cubicBezTo>
                    <a:pt x="232" y="105"/>
                    <a:pt x="227" y="96"/>
                    <a:pt x="220" y="89"/>
                  </a:cubicBezTo>
                  <a:cubicBezTo>
                    <a:pt x="219" y="88"/>
                    <a:pt x="218" y="88"/>
                    <a:pt x="217" y="87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7" y="86"/>
                    <a:pt x="216" y="86"/>
                    <a:pt x="215" y="85"/>
                  </a:cubicBezTo>
                  <a:cubicBezTo>
                    <a:pt x="215" y="85"/>
                    <a:pt x="215" y="85"/>
                    <a:pt x="215" y="85"/>
                  </a:cubicBezTo>
                  <a:cubicBezTo>
                    <a:pt x="214" y="85"/>
                    <a:pt x="213" y="84"/>
                    <a:pt x="212" y="84"/>
                  </a:cubicBezTo>
                  <a:cubicBezTo>
                    <a:pt x="212" y="84"/>
                    <a:pt x="212" y="84"/>
                    <a:pt x="211" y="84"/>
                  </a:cubicBezTo>
                  <a:cubicBezTo>
                    <a:pt x="211" y="83"/>
                    <a:pt x="210" y="83"/>
                    <a:pt x="209" y="83"/>
                  </a:cubicBezTo>
                  <a:cubicBezTo>
                    <a:pt x="209" y="82"/>
                    <a:pt x="209" y="82"/>
                    <a:pt x="208" y="82"/>
                  </a:cubicBezTo>
                  <a:cubicBezTo>
                    <a:pt x="208" y="82"/>
                    <a:pt x="207" y="82"/>
                    <a:pt x="206" y="81"/>
                  </a:cubicBezTo>
                  <a:cubicBezTo>
                    <a:pt x="206" y="81"/>
                    <a:pt x="205" y="81"/>
                    <a:pt x="205" y="81"/>
                  </a:cubicBezTo>
                  <a:cubicBezTo>
                    <a:pt x="204" y="81"/>
                    <a:pt x="204" y="81"/>
                    <a:pt x="203" y="81"/>
                  </a:cubicBezTo>
                  <a:cubicBezTo>
                    <a:pt x="202" y="81"/>
                    <a:pt x="202" y="80"/>
                    <a:pt x="201" y="80"/>
                  </a:cubicBezTo>
                  <a:cubicBezTo>
                    <a:pt x="200" y="80"/>
                    <a:pt x="200" y="80"/>
                    <a:pt x="200" y="80"/>
                  </a:cubicBezTo>
                  <a:cubicBezTo>
                    <a:pt x="198" y="80"/>
                    <a:pt x="197" y="80"/>
                    <a:pt x="196" y="80"/>
                  </a:cubicBezTo>
                  <a:cubicBezTo>
                    <a:pt x="196" y="80"/>
                    <a:pt x="195" y="80"/>
                    <a:pt x="195" y="80"/>
                  </a:cubicBezTo>
                  <a:cubicBezTo>
                    <a:pt x="195" y="78"/>
                    <a:pt x="194" y="76"/>
                    <a:pt x="194" y="74"/>
                  </a:cubicBezTo>
                  <a:cubicBezTo>
                    <a:pt x="193" y="74"/>
                    <a:pt x="193" y="73"/>
                    <a:pt x="193" y="73"/>
                  </a:cubicBezTo>
                  <a:cubicBezTo>
                    <a:pt x="193" y="71"/>
                    <a:pt x="192" y="70"/>
                    <a:pt x="192" y="68"/>
                  </a:cubicBezTo>
                  <a:cubicBezTo>
                    <a:pt x="191" y="68"/>
                    <a:pt x="191" y="67"/>
                    <a:pt x="191" y="67"/>
                  </a:cubicBezTo>
                  <a:cubicBezTo>
                    <a:pt x="190" y="65"/>
                    <a:pt x="190" y="64"/>
                    <a:pt x="189" y="62"/>
                  </a:cubicBezTo>
                  <a:cubicBezTo>
                    <a:pt x="189" y="62"/>
                    <a:pt x="189" y="62"/>
                    <a:pt x="189" y="61"/>
                  </a:cubicBezTo>
                  <a:cubicBezTo>
                    <a:pt x="188" y="60"/>
                    <a:pt x="187" y="58"/>
                    <a:pt x="186" y="57"/>
                  </a:cubicBezTo>
                  <a:cubicBezTo>
                    <a:pt x="174" y="37"/>
                    <a:pt x="153" y="24"/>
                    <a:pt x="128" y="24"/>
                  </a:cubicBezTo>
                  <a:cubicBezTo>
                    <a:pt x="103" y="24"/>
                    <a:pt x="82" y="37"/>
                    <a:pt x="70" y="57"/>
                  </a:cubicBezTo>
                  <a:cubicBezTo>
                    <a:pt x="69" y="58"/>
                    <a:pt x="68" y="60"/>
                    <a:pt x="67" y="61"/>
                  </a:cubicBezTo>
                  <a:cubicBezTo>
                    <a:pt x="67" y="62"/>
                    <a:pt x="67" y="62"/>
                    <a:pt x="67" y="62"/>
                  </a:cubicBezTo>
                  <a:cubicBezTo>
                    <a:pt x="66" y="64"/>
                    <a:pt x="66" y="65"/>
                    <a:pt x="65" y="67"/>
                  </a:cubicBezTo>
                  <a:cubicBezTo>
                    <a:pt x="65" y="67"/>
                    <a:pt x="65" y="68"/>
                    <a:pt x="64" y="68"/>
                  </a:cubicBezTo>
                  <a:cubicBezTo>
                    <a:pt x="64" y="70"/>
                    <a:pt x="63" y="71"/>
                    <a:pt x="63" y="73"/>
                  </a:cubicBezTo>
                  <a:cubicBezTo>
                    <a:pt x="63" y="73"/>
                    <a:pt x="63" y="74"/>
                    <a:pt x="62" y="74"/>
                  </a:cubicBezTo>
                  <a:cubicBezTo>
                    <a:pt x="62" y="76"/>
                    <a:pt x="61" y="78"/>
                    <a:pt x="61" y="80"/>
                  </a:cubicBezTo>
                  <a:cubicBezTo>
                    <a:pt x="61" y="80"/>
                    <a:pt x="60" y="80"/>
                    <a:pt x="60" y="80"/>
                  </a:cubicBezTo>
                  <a:cubicBezTo>
                    <a:pt x="59" y="80"/>
                    <a:pt x="58" y="80"/>
                    <a:pt x="56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0"/>
                    <a:pt x="54" y="81"/>
                    <a:pt x="53" y="81"/>
                  </a:cubicBezTo>
                  <a:cubicBezTo>
                    <a:pt x="52" y="81"/>
                    <a:pt x="52" y="81"/>
                    <a:pt x="51" y="81"/>
                  </a:cubicBezTo>
                  <a:cubicBezTo>
                    <a:pt x="51" y="81"/>
                    <a:pt x="50" y="81"/>
                    <a:pt x="50" y="81"/>
                  </a:cubicBezTo>
                  <a:cubicBezTo>
                    <a:pt x="49" y="82"/>
                    <a:pt x="48" y="82"/>
                    <a:pt x="48" y="82"/>
                  </a:cubicBezTo>
                  <a:cubicBezTo>
                    <a:pt x="47" y="82"/>
                    <a:pt x="47" y="82"/>
                    <a:pt x="47" y="83"/>
                  </a:cubicBezTo>
                  <a:cubicBezTo>
                    <a:pt x="46" y="83"/>
                    <a:pt x="45" y="83"/>
                    <a:pt x="45" y="84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3" y="84"/>
                    <a:pt x="42" y="85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39" y="86"/>
                    <a:pt x="39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29" y="96"/>
                    <a:pt x="24" y="105"/>
                    <a:pt x="24" y="116"/>
                  </a:cubicBezTo>
                  <a:cubicBezTo>
                    <a:pt x="24" y="136"/>
                    <a:pt x="40" y="152"/>
                    <a:pt x="60" y="152"/>
                  </a:cubicBezTo>
                  <a:cubicBezTo>
                    <a:pt x="67" y="152"/>
                    <a:pt x="72" y="157"/>
                    <a:pt x="72" y="164"/>
                  </a:cubicBezTo>
                  <a:cubicBezTo>
                    <a:pt x="72" y="171"/>
                    <a:pt x="67" y="176"/>
                    <a:pt x="60" y="176"/>
                  </a:cubicBezTo>
                  <a:cubicBezTo>
                    <a:pt x="27" y="176"/>
                    <a:pt x="0" y="149"/>
                    <a:pt x="0" y="116"/>
                  </a:cubicBezTo>
                  <a:cubicBezTo>
                    <a:pt x="0" y="89"/>
                    <a:pt x="18" y="66"/>
                    <a:pt x="42" y="59"/>
                  </a:cubicBezTo>
                  <a:cubicBezTo>
                    <a:pt x="56" y="24"/>
                    <a:pt x="89" y="0"/>
                    <a:pt x="128" y="0"/>
                  </a:cubicBezTo>
                  <a:cubicBezTo>
                    <a:pt x="167" y="0"/>
                    <a:pt x="200" y="24"/>
                    <a:pt x="214" y="59"/>
                  </a:cubicBezTo>
                  <a:cubicBezTo>
                    <a:pt x="238" y="66"/>
                    <a:pt x="256" y="89"/>
                    <a:pt x="256" y="116"/>
                  </a:cubicBezTo>
                  <a:cubicBezTo>
                    <a:pt x="256" y="149"/>
                    <a:pt x="229" y="176"/>
                    <a:pt x="196" y="176"/>
                  </a:cubicBezTo>
                  <a:moveTo>
                    <a:pt x="83" y="148"/>
                  </a:moveTo>
                  <a:cubicBezTo>
                    <a:pt x="119" y="108"/>
                    <a:pt x="119" y="108"/>
                    <a:pt x="119" y="108"/>
                  </a:cubicBezTo>
                  <a:cubicBezTo>
                    <a:pt x="119" y="108"/>
                    <a:pt x="119" y="108"/>
                    <a:pt x="119" y="108"/>
                  </a:cubicBezTo>
                  <a:cubicBezTo>
                    <a:pt x="121" y="106"/>
                    <a:pt x="124" y="104"/>
                    <a:pt x="128" y="104"/>
                  </a:cubicBezTo>
                  <a:cubicBezTo>
                    <a:pt x="132" y="104"/>
                    <a:pt x="135" y="106"/>
                    <a:pt x="137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73" y="148"/>
                    <a:pt x="173" y="148"/>
                    <a:pt x="173" y="148"/>
                  </a:cubicBezTo>
                  <a:cubicBezTo>
                    <a:pt x="173" y="148"/>
                    <a:pt x="173" y="148"/>
                    <a:pt x="173" y="148"/>
                  </a:cubicBezTo>
                  <a:cubicBezTo>
                    <a:pt x="175" y="150"/>
                    <a:pt x="176" y="153"/>
                    <a:pt x="176" y="156"/>
                  </a:cubicBezTo>
                  <a:cubicBezTo>
                    <a:pt x="176" y="163"/>
                    <a:pt x="171" y="168"/>
                    <a:pt x="164" y="168"/>
                  </a:cubicBezTo>
                  <a:cubicBezTo>
                    <a:pt x="160" y="168"/>
                    <a:pt x="157" y="166"/>
                    <a:pt x="155" y="164"/>
                  </a:cubicBezTo>
                  <a:cubicBezTo>
                    <a:pt x="155" y="164"/>
                    <a:pt x="155" y="164"/>
                    <a:pt x="155" y="164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40" y="208"/>
                    <a:pt x="140" y="208"/>
                    <a:pt x="140" y="208"/>
                  </a:cubicBezTo>
                  <a:cubicBezTo>
                    <a:pt x="140" y="215"/>
                    <a:pt x="135" y="220"/>
                    <a:pt x="128" y="220"/>
                  </a:cubicBezTo>
                  <a:cubicBezTo>
                    <a:pt x="121" y="220"/>
                    <a:pt x="116" y="215"/>
                    <a:pt x="116" y="208"/>
                  </a:cubicBezTo>
                  <a:cubicBezTo>
                    <a:pt x="116" y="147"/>
                    <a:pt x="116" y="147"/>
                    <a:pt x="116" y="147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99" y="166"/>
                    <a:pt x="96" y="168"/>
                    <a:pt x="92" y="168"/>
                  </a:cubicBezTo>
                  <a:cubicBezTo>
                    <a:pt x="85" y="168"/>
                    <a:pt x="80" y="163"/>
                    <a:pt x="80" y="156"/>
                  </a:cubicBezTo>
                  <a:cubicBezTo>
                    <a:pt x="80" y="153"/>
                    <a:pt x="81" y="150"/>
                    <a:pt x="83" y="148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84" name="Google Shape;284;p3"/>
          <p:cNvGrpSpPr/>
          <p:nvPr/>
        </p:nvGrpSpPr>
        <p:grpSpPr>
          <a:xfrm>
            <a:off x="1356210" y="2485943"/>
            <a:ext cx="4981463" cy="1060659"/>
            <a:chOff x="642754" y="2975872"/>
            <a:chExt cx="4981462" cy="1060658"/>
          </a:xfrm>
        </p:grpSpPr>
        <p:grpSp>
          <p:nvGrpSpPr>
            <p:cNvPr id="285" name="Google Shape;285;p3"/>
            <p:cNvGrpSpPr/>
            <p:nvPr/>
          </p:nvGrpSpPr>
          <p:grpSpPr>
            <a:xfrm>
              <a:off x="642754" y="3047489"/>
              <a:ext cx="4981462" cy="989041"/>
              <a:chOff x="508001" y="3047489"/>
              <a:chExt cx="4981462" cy="989041"/>
            </a:xfrm>
          </p:grpSpPr>
          <p:sp>
            <p:nvSpPr>
              <p:cNvPr id="286" name="Google Shape;286;p3"/>
              <p:cNvSpPr/>
              <p:nvPr/>
            </p:nvSpPr>
            <p:spPr>
              <a:xfrm>
                <a:off x="508001" y="3047489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5358014" y="3047489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88" name="Google Shape;288;p3"/>
            <p:cNvGrpSpPr/>
            <p:nvPr/>
          </p:nvGrpSpPr>
          <p:grpSpPr>
            <a:xfrm>
              <a:off x="842194" y="2975872"/>
              <a:ext cx="894759" cy="905639"/>
              <a:chOff x="707441" y="2975872"/>
              <a:chExt cx="894759" cy="905639"/>
            </a:xfrm>
          </p:grpSpPr>
          <p:sp>
            <p:nvSpPr>
              <p:cNvPr id="289" name="Google Shape;289;p3"/>
              <p:cNvSpPr/>
              <p:nvPr/>
            </p:nvSpPr>
            <p:spPr>
              <a:xfrm>
                <a:off x="778151" y="2975872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 dirty="0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02</a:t>
                </a:r>
                <a:endParaRPr sz="3200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7441" y="2975872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1391B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91" name="Google Shape;291;p3"/>
            <p:cNvSpPr/>
            <p:nvPr/>
          </p:nvSpPr>
          <p:spPr>
            <a:xfrm>
              <a:off x="2625586" y="3124497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1968103" y="3310572"/>
              <a:ext cx="478050" cy="462874"/>
            </a:xfrm>
            <a:custGeom>
              <a:avLst/>
              <a:gdLst/>
              <a:ahLst/>
              <a:cxnLst/>
              <a:rect l="l" t="t" r="r" b="b"/>
              <a:pathLst>
                <a:path w="256" h="248" extrusionOk="0">
                  <a:moveTo>
                    <a:pt x="256" y="236"/>
                  </a:moveTo>
                  <a:cubicBezTo>
                    <a:pt x="256" y="236"/>
                    <a:pt x="256" y="236"/>
                    <a:pt x="256" y="236"/>
                  </a:cubicBezTo>
                  <a:cubicBezTo>
                    <a:pt x="256" y="243"/>
                    <a:pt x="251" y="248"/>
                    <a:pt x="244" y="248"/>
                  </a:cubicBezTo>
                  <a:cubicBezTo>
                    <a:pt x="12" y="248"/>
                    <a:pt x="12" y="248"/>
                    <a:pt x="12" y="248"/>
                  </a:cubicBezTo>
                  <a:cubicBezTo>
                    <a:pt x="5" y="248"/>
                    <a:pt x="0" y="243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192"/>
                    <a:pt x="32" y="176"/>
                  </a:cubicBezTo>
                  <a:cubicBezTo>
                    <a:pt x="52" y="166"/>
                    <a:pt x="44" y="174"/>
                    <a:pt x="69" y="164"/>
                  </a:cubicBezTo>
                  <a:cubicBezTo>
                    <a:pt x="94" y="154"/>
                    <a:pt x="100" y="150"/>
                    <a:pt x="100" y="150"/>
                  </a:cubicBezTo>
                  <a:cubicBezTo>
                    <a:pt x="100" y="127"/>
                    <a:pt x="100" y="127"/>
                    <a:pt x="100" y="127"/>
                  </a:cubicBezTo>
                  <a:cubicBezTo>
                    <a:pt x="100" y="127"/>
                    <a:pt x="91" y="119"/>
                    <a:pt x="88" y="97"/>
                  </a:cubicBezTo>
                  <a:cubicBezTo>
                    <a:pt x="82" y="99"/>
                    <a:pt x="80" y="90"/>
                    <a:pt x="80" y="85"/>
                  </a:cubicBezTo>
                  <a:cubicBezTo>
                    <a:pt x="80" y="80"/>
                    <a:pt x="77" y="63"/>
                    <a:pt x="84" y="65"/>
                  </a:cubicBezTo>
                  <a:cubicBezTo>
                    <a:pt x="82" y="54"/>
                    <a:pt x="81" y="44"/>
                    <a:pt x="82" y="39"/>
                  </a:cubicBezTo>
                  <a:cubicBezTo>
                    <a:pt x="83" y="21"/>
                    <a:pt x="101" y="1"/>
                    <a:pt x="128" y="0"/>
                  </a:cubicBezTo>
                  <a:cubicBezTo>
                    <a:pt x="160" y="1"/>
                    <a:pt x="173" y="21"/>
                    <a:pt x="175" y="39"/>
                  </a:cubicBezTo>
                  <a:cubicBezTo>
                    <a:pt x="175" y="44"/>
                    <a:pt x="174" y="54"/>
                    <a:pt x="172" y="65"/>
                  </a:cubicBezTo>
                  <a:cubicBezTo>
                    <a:pt x="180" y="63"/>
                    <a:pt x="177" y="80"/>
                    <a:pt x="176" y="85"/>
                  </a:cubicBezTo>
                  <a:cubicBezTo>
                    <a:pt x="176" y="90"/>
                    <a:pt x="174" y="99"/>
                    <a:pt x="168" y="97"/>
                  </a:cubicBezTo>
                  <a:cubicBezTo>
                    <a:pt x="165" y="119"/>
                    <a:pt x="156" y="126"/>
                    <a:pt x="156" y="126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50"/>
                    <a:pt x="162" y="153"/>
                    <a:pt x="187" y="164"/>
                  </a:cubicBezTo>
                  <a:cubicBezTo>
                    <a:pt x="212" y="174"/>
                    <a:pt x="204" y="166"/>
                    <a:pt x="224" y="176"/>
                  </a:cubicBezTo>
                  <a:cubicBezTo>
                    <a:pt x="256" y="192"/>
                    <a:pt x="256" y="236"/>
                    <a:pt x="256" y="23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3"/>
            <p:cNvSpPr txBox="1"/>
            <p:nvPr/>
          </p:nvSpPr>
          <p:spPr>
            <a:xfrm>
              <a:off x="2797442" y="3428375"/>
              <a:ext cx="2614162" cy="18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Giới</a:t>
              </a:r>
              <a:r>
                <a:rPr lang="en-US" sz="2500" b="1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thiệu</a:t>
              </a:r>
              <a:endParaRPr sz="2500" b="1" dirty="0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4" name="Google Shape;294;p3"/>
          <p:cNvGrpSpPr/>
          <p:nvPr/>
        </p:nvGrpSpPr>
        <p:grpSpPr>
          <a:xfrm>
            <a:off x="2079504" y="3741368"/>
            <a:ext cx="5049265" cy="1060659"/>
            <a:chOff x="642754" y="4151657"/>
            <a:chExt cx="4981462" cy="1060658"/>
          </a:xfrm>
        </p:grpSpPr>
        <p:grpSp>
          <p:nvGrpSpPr>
            <p:cNvPr id="295" name="Google Shape;295;p3"/>
            <p:cNvGrpSpPr/>
            <p:nvPr/>
          </p:nvGrpSpPr>
          <p:grpSpPr>
            <a:xfrm>
              <a:off x="642754" y="4223274"/>
              <a:ext cx="4981462" cy="989041"/>
              <a:chOff x="508001" y="4223274"/>
              <a:chExt cx="4981462" cy="989041"/>
            </a:xfrm>
          </p:grpSpPr>
          <p:sp>
            <p:nvSpPr>
              <p:cNvPr id="296" name="Google Shape;296;p3"/>
              <p:cNvSpPr/>
              <p:nvPr/>
            </p:nvSpPr>
            <p:spPr>
              <a:xfrm>
                <a:off x="508001" y="4223274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5358014" y="4223274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98" name="Google Shape;298;p3"/>
            <p:cNvGrpSpPr/>
            <p:nvPr/>
          </p:nvGrpSpPr>
          <p:grpSpPr>
            <a:xfrm>
              <a:off x="842194" y="4151657"/>
              <a:ext cx="894759" cy="905639"/>
              <a:chOff x="707441" y="4151657"/>
              <a:chExt cx="894759" cy="905639"/>
            </a:xfrm>
          </p:grpSpPr>
          <p:sp>
            <p:nvSpPr>
              <p:cNvPr id="299" name="Google Shape;299;p3"/>
              <p:cNvSpPr/>
              <p:nvPr/>
            </p:nvSpPr>
            <p:spPr>
              <a:xfrm>
                <a:off x="778151" y="4151657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 dirty="0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03</a:t>
                </a:r>
                <a:endParaRPr sz="3200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7441" y="4151657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7B7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01" name="Google Shape;301;p3"/>
            <p:cNvSpPr/>
            <p:nvPr/>
          </p:nvSpPr>
          <p:spPr>
            <a:xfrm>
              <a:off x="2625586" y="4300282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968103" y="4515762"/>
              <a:ext cx="479948" cy="404064"/>
            </a:xfrm>
            <a:custGeom>
              <a:avLst/>
              <a:gdLst/>
              <a:ahLst/>
              <a:cxnLst/>
              <a:rect l="l" t="t" r="r" b="b"/>
              <a:pathLst>
                <a:path w="256" h="216" extrusionOk="0">
                  <a:moveTo>
                    <a:pt x="251" y="74"/>
                  </a:moveTo>
                  <a:cubicBezTo>
                    <a:pt x="251" y="74"/>
                    <a:pt x="251" y="74"/>
                    <a:pt x="251" y="74"/>
                  </a:cubicBezTo>
                  <a:cubicBezTo>
                    <a:pt x="251" y="74"/>
                    <a:pt x="251" y="74"/>
                    <a:pt x="251" y="74"/>
                  </a:cubicBezTo>
                  <a:cubicBezTo>
                    <a:pt x="147" y="146"/>
                    <a:pt x="147" y="146"/>
                    <a:pt x="147" y="146"/>
                  </a:cubicBezTo>
                  <a:cubicBezTo>
                    <a:pt x="147" y="146"/>
                    <a:pt x="147" y="146"/>
                    <a:pt x="147" y="146"/>
                  </a:cubicBezTo>
                  <a:cubicBezTo>
                    <a:pt x="145" y="147"/>
                    <a:pt x="143" y="148"/>
                    <a:pt x="140" y="148"/>
                  </a:cubicBezTo>
                  <a:cubicBezTo>
                    <a:pt x="138" y="148"/>
                    <a:pt x="135" y="147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80" y="110"/>
                    <a:pt x="80" y="110"/>
                    <a:pt x="80" y="110"/>
                  </a:cubicBezTo>
                  <a:cubicBezTo>
                    <a:pt x="24" y="143"/>
                    <a:pt x="24" y="143"/>
                    <a:pt x="24" y="14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15"/>
                    <a:pt x="24" y="115"/>
                    <a:pt x="24" y="115"/>
                  </a:cubicBezTo>
                  <a:cubicBezTo>
                    <a:pt x="74" y="86"/>
                    <a:pt x="74" y="86"/>
                    <a:pt x="74" y="86"/>
                  </a:cubicBezTo>
                  <a:cubicBezTo>
                    <a:pt x="74" y="86"/>
                    <a:pt x="74" y="86"/>
                    <a:pt x="74" y="86"/>
                  </a:cubicBezTo>
                  <a:cubicBezTo>
                    <a:pt x="76" y="85"/>
                    <a:pt x="78" y="84"/>
                    <a:pt x="80" y="84"/>
                  </a:cubicBezTo>
                  <a:cubicBezTo>
                    <a:pt x="82" y="84"/>
                    <a:pt x="85" y="85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237" y="54"/>
                    <a:pt x="237" y="54"/>
                    <a:pt x="237" y="54"/>
                  </a:cubicBezTo>
                  <a:cubicBezTo>
                    <a:pt x="237" y="54"/>
                    <a:pt x="237" y="54"/>
                    <a:pt x="237" y="54"/>
                  </a:cubicBezTo>
                  <a:cubicBezTo>
                    <a:pt x="239" y="53"/>
                    <a:pt x="241" y="52"/>
                    <a:pt x="244" y="52"/>
                  </a:cubicBezTo>
                  <a:cubicBezTo>
                    <a:pt x="251" y="52"/>
                    <a:pt x="256" y="57"/>
                    <a:pt x="256" y="64"/>
                  </a:cubicBezTo>
                  <a:cubicBezTo>
                    <a:pt x="256" y="68"/>
                    <a:pt x="254" y="72"/>
                    <a:pt x="251" y="74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3"/>
            <p:cNvSpPr txBox="1"/>
            <p:nvPr/>
          </p:nvSpPr>
          <p:spPr>
            <a:xfrm>
              <a:off x="2797442" y="4604160"/>
              <a:ext cx="2614162" cy="18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Kết</a:t>
              </a:r>
              <a:r>
                <a:rPr lang="en-US" sz="2500" b="1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quả</a:t>
              </a:r>
              <a:r>
                <a:rPr lang="en-US" sz="2500" b="1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thực</a:t>
              </a:r>
              <a:r>
                <a:rPr lang="en-US" sz="2500" b="1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nghiệm</a:t>
              </a:r>
              <a:endParaRPr sz="2500" b="1" dirty="0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4" name="Google Shape;304;p3"/>
          <p:cNvGrpSpPr/>
          <p:nvPr/>
        </p:nvGrpSpPr>
        <p:grpSpPr>
          <a:xfrm>
            <a:off x="3173704" y="5017506"/>
            <a:ext cx="4981463" cy="1060659"/>
            <a:chOff x="642754" y="5327442"/>
            <a:chExt cx="4981462" cy="1060658"/>
          </a:xfrm>
        </p:grpSpPr>
        <p:grpSp>
          <p:nvGrpSpPr>
            <p:cNvPr id="305" name="Google Shape;305;p3"/>
            <p:cNvGrpSpPr/>
            <p:nvPr/>
          </p:nvGrpSpPr>
          <p:grpSpPr>
            <a:xfrm>
              <a:off x="642754" y="5399059"/>
              <a:ext cx="4981462" cy="989041"/>
              <a:chOff x="508001" y="5399059"/>
              <a:chExt cx="4981462" cy="989041"/>
            </a:xfrm>
          </p:grpSpPr>
          <p:sp>
            <p:nvSpPr>
              <p:cNvPr id="306" name="Google Shape;306;p3"/>
              <p:cNvSpPr/>
              <p:nvPr/>
            </p:nvSpPr>
            <p:spPr>
              <a:xfrm>
                <a:off x="508001" y="5399059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5358014" y="5399059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08" name="Google Shape;308;p3"/>
            <p:cNvGrpSpPr/>
            <p:nvPr/>
          </p:nvGrpSpPr>
          <p:grpSpPr>
            <a:xfrm>
              <a:off x="842194" y="5327442"/>
              <a:ext cx="894759" cy="905639"/>
              <a:chOff x="707441" y="5327442"/>
              <a:chExt cx="894759" cy="905639"/>
            </a:xfrm>
          </p:grpSpPr>
          <p:sp>
            <p:nvSpPr>
              <p:cNvPr id="309" name="Google Shape;309;p3"/>
              <p:cNvSpPr/>
              <p:nvPr/>
            </p:nvSpPr>
            <p:spPr>
              <a:xfrm>
                <a:off x="778151" y="5327442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 dirty="0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04</a:t>
                </a:r>
                <a:endParaRPr sz="3200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707441" y="5327442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3636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11" name="Google Shape;311;p3"/>
            <p:cNvSpPr/>
            <p:nvPr/>
          </p:nvSpPr>
          <p:spPr>
            <a:xfrm>
              <a:off x="2625586" y="5476067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968103" y="5654554"/>
              <a:ext cx="358538" cy="478050"/>
            </a:xfrm>
            <a:custGeom>
              <a:avLst/>
              <a:gdLst/>
              <a:ahLst/>
              <a:cxnLst/>
              <a:rect l="l" t="t" r="r" b="b"/>
              <a:pathLst>
                <a:path w="192" h="256" extrusionOk="0">
                  <a:moveTo>
                    <a:pt x="96" y="256"/>
                  </a:moveTo>
                  <a:cubicBezTo>
                    <a:pt x="96" y="256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49" y="0"/>
                    <a:pt x="192" y="43"/>
                    <a:pt x="192" y="96"/>
                  </a:cubicBezTo>
                  <a:cubicBezTo>
                    <a:pt x="192" y="149"/>
                    <a:pt x="96" y="256"/>
                    <a:pt x="96" y="256"/>
                  </a:cubicBezTo>
                  <a:moveTo>
                    <a:pt x="96" y="32"/>
                  </a:moveTo>
                  <a:cubicBezTo>
                    <a:pt x="61" y="32"/>
                    <a:pt x="32" y="61"/>
                    <a:pt x="32" y="96"/>
                  </a:cubicBezTo>
                  <a:cubicBezTo>
                    <a:pt x="32" y="131"/>
                    <a:pt x="61" y="160"/>
                    <a:pt x="96" y="160"/>
                  </a:cubicBezTo>
                  <a:cubicBezTo>
                    <a:pt x="131" y="160"/>
                    <a:pt x="160" y="131"/>
                    <a:pt x="160" y="96"/>
                  </a:cubicBezTo>
                  <a:cubicBezTo>
                    <a:pt x="160" y="61"/>
                    <a:pt x="131" y="32"/>
                    <a:pt x="96" y="32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3" name="Google Shape;313;p3"/>
            <p:cNvSpPr txBox="1"/>
            <p:nvPr/>
          </p:nvSpPr>
          <p:spPr>
            <a:xfrm>
              <a:off x="2797442" y="5779945"/>
              <a:ext cx="2614162" cy="18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Kết</a:t>
              </a:r>
              <a:r>
                <a:rPr lang="en-US" sz="2500" b="1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500" b="1" dirty="0" err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luận</a:t>
              </a:r>
              <a:endParaRPr sz="2500" b="1" dirty="0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14" name="Google Shape;314;p3" descr="Notes by Freepik Stories #svg #png #illustration#work #document #record  #annotations #memo #notes #outl… | Illustration, Flat illustration,  Powerpoint slide designs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25061" y="570088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39F2F3-024E-4A8B-BE63-6734182C8E16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43" y="85545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1,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Đặt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vấn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đề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24609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j-lt"/>
              </a:rPr>
              <a:t>Dưới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việc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phát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triển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của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thống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công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nghệ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hiện</a:t>
            </a:r>
            <a:r>
              <a:rPr lang="en-US" sz="2500" dirty="0">
                <a:latin typeface="+mj-lt"/>
              </a:rPr>
              <a:t> nay, </a:t>
            </a:r>
            <a:r>
              <a:rPr lang="en-US" sz="2500" dirty="0" err="1">
                <a:latin typeface="+mj-lt"/>
              </a:rPr>
              <a:t>việc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bảo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vệ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một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thống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thông</a:t>
            </a:r>
            <a:r>
              <a:rPr lang="en-US" sz="2500" dirty="0">
                <a:latin typeface="+mj-lt"/>
              </a:rPr>
              <a:t> tin </a:t>
            </a:r>
            <a:r>
              <a:rPr lang="en-US" sz="2500" dirty="0" err="1">
                <a:latin typeface="+mj-lt"/>
              </a:rPr>
              <a:t>đang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ngày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càng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trở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nên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cần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thiết</a:t>
            </a:r>
            <a:r>
              <a:rPr lang="en-US" sz="25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j-lt"/>
              </a:rPr>
              <a:t>Các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biện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pháp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bảo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mật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truyền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thống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không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còn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được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đảm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bảo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dưới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sự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tấn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công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ngày</a:t>
            </a:r>
            <a:r>
              <a:rPr lang="en-US" sz="2500" dirty="0">
                <a:latin typeface="+mj-lt"/>
              </a:rPr>
              <a:t> </a:t>
            </a:r>
            <a:r>
              <a:rPr lang="en-US" sz="2500" err="1">
                <a:latin typeface="+mj-lt"/>
              </a:rPr>
              <a:t>càng</a:t>
            </a:r>
            <a:r>
              <a:rPr lang="en-US" sz="2500">
                <a:latin typeface="+mj-lt"/>
              </a:rPr>
              <a:t> tinh </a:t>
            </a:r>
            <a:r>
              <a:rPr lang="en-US" sz="2500" dirty="0">
                <a:latin typeface="+mj-lt"/>
              </a:rPr>
              <a:t>vi </a:t>
            </a:r>
            <a:r>
              <a:rPr lang="en-US" sz="2500" dirty="0" err="1">
                <a:latin typeface="+mj-lt"/>
              </a:rPr>
              <a:t>và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phức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tạp</a:t>
            </a:r>
            <a:r>
              <a:rPr lang="en-US" sz="2500" dirty="0">
                <a:latin typeface="+mj-lt"/>
              </a:rPr>
              <a:t>.</a:t>
            </a:r>
          </a:p>
        </p:txBody>
      </p:sp>
      <p:pic>
        <p:nvPicPr>
          <p:cNvPr id="1026" name="Picture 2" descr="Are Your Employees Equipped for Cyber-Attacks? | TechBra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46" y="1720851"/>
            <a:ext cx="4632111" cy="408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30D05F-85DA-49CC-957C-236A1739E76C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60" y="83769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1,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Đặt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vấn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đề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79961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j-lt"/>
              </a:rPr>
              <a:t>Các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thiết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bị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xâm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nhập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chỉ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có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thể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phát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được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những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dấu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hiệu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xâm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nhập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đã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được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nhận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biết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sẵn</a:t>
            </a:r>
            <a:endParaRPr lang="en-US" sz="2500" dirty="0">
              <a:latin typeface="+mj-lt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j-lt"/>
              </a:rPr>
              <a:t>Các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cuộc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tấn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công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hiện</a:t>
            </a:r>
            <a:r>
              <a:rPr lang="en-US" sz="2500" dirty="0">
                <a:latin typeface="+mj-lt"/>
              </a:rPr>
              <a:t> nay </a:t>
            </a:r>
            <a:r>
              <a:rPr lang="en-US" sz="2500" dirty="0" err="1">
                <a:latin typeface="+mj-lt"/>
              </a:rPr>
              <a:t>ngày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càng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tinh</a:t>
            </a:r>
            <a:r>
              <a:rPr lang="en-US" sz="2500" dirty="0">
                <a:latin typeface="+mj-lt"/>
              </a:rPr>
              <a:t> vi </a:t>
            </a:r>
            <a:r>
              <a:rPr lang="en-US" sz="2500" dirty="0" err="1">
                <a:latin typeface="+mj-lt"/>
              </a:rPr>
              <a:t>và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có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thể</a:t>
            </a:r>
            <a:r>
              <a:rPr lang="en-US" sz="2500" dirty="0">
                <a:latin typeface="+mj-lt"/>
              </a:rPr>
              <a:t> qua </a:t>
            </a:r>
            <a:r>
              <a:rPr lang="en-US" sz="2500" dirty="0" err="1">
                <a:latin typeface="+mj-lt"/>
              </a:rPr>
              <a:t>mặt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được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các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thống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phát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thông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thường</a:t>
            </a:r>
            <a:endParaRPr lang="en-US" sz="2500" dirty="0">
              <a:latin typeface="+mj-lt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j-lt"/>
              </a:rPr>
              <a:t>Phân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tích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tệp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nhật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ký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hệ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thống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đóng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vai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trò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quan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trọng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trong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việc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phát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hiện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các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mối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đe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doạ</a:t>
            </a:r>
            <a:r>
              <a:rPr lang="en-US" sz="2500" dirty="0">
                <a:latin typeface="+mj-lt"/>
              </a:rPr>
              <a:t> </a:t>
            </a:r>
            <a:r>
              <a:rPr lang="en-US" sz="2500" dirty="0" err="1">
                <a:latin typeface="+mj-lt"/>
              </a:rPr>
              <a:t>mới</a:t>
            </a:r>
            <a:endParaRPr lang="en-US" sz="25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94C7E-A5BE-439A-B483-505E50E71EDD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1112366"/>
            <a:ext cx="10515600" cy="78040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163" y="2415992"/>
            <a:ext cx="6523182" cy="37609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Là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một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tập</a:t>
            </a:r>
            <a:r>
              <a:rPr lang="en-US" sz="2500" dirty="0">
                <a:latin typeface="+mn-lt"/>
              </a:rPr>
              <a:t> tin </a:t>
            </a:r>
            <a:r>
              <a:rPr lang="en-US" sz="2500" dirty="0" err="1">
                <a:latin typeface="+mn-lt"/>
              </a:rPr>
              <a:t>để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ghi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lại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những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sự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kiện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xảy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ra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trong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máy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tính</a:t>
            </a:r>
            <a:r>
              <a:rPr lang="en-US" sz="2500" dirty="0">
                <a:latin typeface="+mn-lt"/>
              </a:rPr>
              <a:t>, </a:t>
            </a:r>
            <a:r>
              <a:rPr lang="en-US" sz="2500" dirty="0" err="1">
                <a:latin typeface="+mn-lt"/>
              </a:rPr>
              <a:t>của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hệ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điều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hành</a:t>
            </a:r>
            <a:r>
              <a:rPr lang="en-US" sz="2500" dirty="0">
                <a:latin typeface="+mn-lt"/>
              </a:rPr>
              <a:t>, </a:t>
            </a:r>
            <a:r>
              <a:rPr lang="en-US" sz="2500" dirty="0" err="1">
                <a:latin typeface="+mn-lt"/>
              </a:rPr>
              <a:t>của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ứng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…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>
                <a:latin typeface="+mn-lt"/>
              </a:rPr>
              <a:t>VD: Firewall, Router, Windows, Linux,…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892772"/>
            <a:ext cx="33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Log File </a:t>
            </a:r>
            <a:r>
              <a:rPr lang="en-US" sz="3000" dirty="0" err="1"/>
              <a:t>là</a:t>
            </a:r>
            <a:r>
              <a:rPr lang="en-US" sz="3000" dirty="0"/>
              <a:t> </a:t>
            </a:r>
            <a:r>
              <a:rPr lang="en-US" sz="3000" dirty="0" err="1"/>
              <a:t>gì</a:t>
            </a:r>
            <a:r>
              <a:rPr lang="en-US" sz="3000" dirty="0"/>
              <a:t>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2128241"/>
            <a:ext cx="4602018" cy="331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6F139D-E1DD-4ABE-A5D8-B99AF6C0C680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0"/>
          <p:cNvSpPr/>
          <p:nvPr/>
        </p:nvSpPr>
        <p:spPr>
          <a:xfrm>
            <a:off x="4495801" y="2358463"/>
            <a:ext cx="3200401" cy="320040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762000" sx="102000" sy="102000" algn="ctr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00" name="Google Shape;1300;p30"/>
          <p:cNvGrpSpPr/>
          <p:nvPr/>
        </p:nvGrpSpPr>
        <p:grpSpPr>
          <a:xfrm>
            <a:off x="619300" y="2246268"/>
            <a:ext cx="3658400" cy="1597433"/>
            <a:chOff x="625315" y="1640821"/>
            <a:chExt cx="3658400" cy="1597433"/>
          </a:xfrm>
        </p:grpSpPr>
        <p:sp>
          <p:nvSpPr>
            <p:cNvPr id="1301" name="Google Shape;1301;p30"/>
            <p:cNvSpPr/>
            <p:nvPr/>
          </p:nvSpPr>
          <p:spPr>
            <a:xfrm rot="-5400000">
              <a:off x="2769967" y="11952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2" name="Google Shape;1302;p30"/>
            <p:cNvSpPr/>
            <p:nvPr/>
          </p:nvSpPr>
          <p:spPr>
            <a:xfrm rot="-5400000">
              <a:off x="1925315" y="8798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3" name="Google Shape;1303;p30"/>
            <p:cNvSpPr txBox="1"/>
            <p:nvPr/>
          </p:nvSpPr>
          <p:spPr>
            <a:xfrm>
              <a:off x="2622327" y="1742244"/>
              <a:ext cx="154455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4" name="Google Shape;1304;p30"/>
            <p:cNvSpPr txBox="1"/>
            <p:nvPr/>
          </p:nvSpPr>
          <p:spPr>
            <a:xfrm>
              <a:off x="1184574" y="2403754"/>
              <a:ext cx="2818395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Ghi lại liên tục những sự kiện, hoạt động của hệ thống</a:t>
              </a:r>
              <a:endParaRPr sz="16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619300" y="4279803"/>
            <a:ext cx="3663400" cy="1597433"/>
            <a:chOff x="619300" y="3827221"/>
            <a:chExt cx="3663400" cy="1597433"/>
          </a:xfrm>
        </p:grpSpPr>
        <p:sp>
          <p:nvSpPr>
            <p:cNvPr id="1306" name="Google Shape;1306;p30"/>
            <p:cNvSpPr/>
            <p:nvPr/>
          </p:nvSpPr>
          <p:spPr>
            <a:xfrm rot="-5400000">
              <a:off x="2778700" y="33816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DCE0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7" name="Google Shape;1307;p30"/>
            <p:cNvSpPr/>
            <p:nvPr/>
          </p:nvSpPr>
          <p:spPr>
            <a:xfrm rot="-5400000">
              <a:off x="1919300" y="30662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8" name="Google Shape;1308;p30"/>
            <p:cNvSpPr txBox="1"/>
            <p:nvPr/>
          </p:nvSpPr>
          <p:spPr>
            <a:xfrm>
              <a:off x="2640855" y="3908961"/>
              <a:ext cx="154455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9" name="Google Shape;1309;p30"/>
            <p:cNvSpPr txBox="1"/>
            <p:nvPr/>
          </p:nvSpPr>
          <p:spPr>
            <a:xfrm>
              <a:off x="1178560" y="4519568"/>
              <a:ext cx="2818395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Dự đoán khả năng có thể xảy ra đối với hệ thống</a:t>
              </a:r>
              <a:endParaRPr sz="16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10" name="Google Shape;1310;p30"/>
          <p:cNvGrpSpPr/>
          <p:nvPr/>
        </p:nvGrpSpPr>
        <p:grpSpPr>
          <a:xfrm>
            <a:off x="7958850" y="2246267"/>
            <a:ext cx="3658400" cy="1597433"/>
            <a:chOff x="7908328" y="1640821"/>
            <a:chExt cx="3658400" cy="1597433"/>
          </a:xfrm>
        </p:grpSpPr>
        <p:sp>
          <p:nvSpPr>
            <p:cNvPr id="1311" name="Google Shape;1311;p30"/>
            <p:cNvSpPr/>
            <p:nvPr/>
          </p:nvSpPr>
          <p:spPr>
            <a:xfrm rot="5400000" flipH="1">
              <a:off x="8367400" y="11952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DCE0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2" name="Google Shape;1312;p30"/>
            <p:cNvSpPr/>
            <p:nvPr/>
          </p:nvSpPr>
          <p:spPr>
            <a:xfrm rot="5400000" flipH="1">
              <a:off x="9208328" y="8798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3" name="Google Shape;1313;p30"/>
            <p:cNvSpPr txBox="1"/>
            <p:nvPr/>
          </p:nvSpPr>
          <p:spPr>
            <a:xfrm>
              <a:off x="8025115" y="1742244"/>
              <a:ext cx="154455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4" name="Google Shape;1314;p30"/>
            <p:cNvSpPr txBox="1"/>
            <p:nvPr/>
          </p:nvSpPr>
          <p:spPr>
            <a:xfrm>
              <a:off x="8135019" y="2312844"/>
              <a:ext cx="2818395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Phân tích nguyên nhân khi hệ thống xảy ra vấn đề</a:t>
              </a:r>
              <a:endParaRPr sz="16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15" name="Google Shape;1315;p30"/>
          <p:cNvGrpSpPr/>
          <p:nvPr/>
        </p:nvGrpSpPr>
        <p:grpSpPr>
          <a:xfrm>
            <a:off x="7922000" y="4279803"/>
            <a:ext cx="3663400" cy="1597433"/>
            <a:chOff x="7922000" y="3827221"/>
            <a:chExt cx="3663400" cy="1597433"/>
          </a:xfrm>
        </p:grpSpPr>
        <p:sp>
          <p:nvSpPr>
            <p:cNvPr id="1316" name="Google Shape;1316;p30"/>
            <p:cNvSpPr/>
            <p:nvPr/>
          </p:nvSpPr>
          <p:spPr>
            <a:xfrm rot="5400000" flipH="1">
              <a:off x="8367600" y="33816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7" name="Google Shape;1317;p30"/>
            <p:cNvSpPr/>
            <p:nvPr/>
          </p:nvSpPr>
          <p:spPr>
            <a:xfrm rot="5400000" flipH="1">
              <a:off x="9227000" y="30662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8" name="Google Shape;1318;p30"/>
            <p:cNvSpPr txBox="1"/>
            <p:nvPr/>
          </p:nvSpPr>
          <p:spPr>
            <a:xfrm>
              <a:off x="7999657" y="3878028"/>
              <a:ext cx="154455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9" name="Google Shape;1319;p30"/>
            <p:cNvSpPr txBox="1"/>
            <p:nvPr/>
          </p:nvSpPr>
          <p:spPr>
            <a:xfrm>
              <a:off x="8135019" y="4541629"/>
              <a:ext cx="2818395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Phát triển phần mềm</a:t>
              </a:r>
              <a:endParaRPr sz="16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762" y="2765426"/>
            <a:ext cx="2001591" cy="229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92217" y="1016361"/>
            <a:ext cx="8770671" cy="81200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30" y="1651399"/>
            <a:ext cx="46135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</a:t>
            </a:r>
            <a:r>
              <a:rPr lang="en-US" sz="3000" dirty="0" err="1"/>
              <a:t>Tác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LogFile</a:t>
            </a:r>
            <a:endParaRPr lang="en-US" sz="3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82358B-52EF-402B-AF99-209AB70461BA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905" y="83146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981" y="2159683"/>
            <a:ext cx="6523182" cy="3015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dirty="0" err="1">
                <a:latin typeface="+mn-lt"/>
              </a:rPr>
              <a:t>Cơ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ghi</a:t>
            </a:r>
            <a:r>
              <a:rPr lang="en-US" dirty="0">
                <a:latin typeface="+mn-lt"/>
              </a:rPr>
              <a:t> log </a:t>
            </a:r>
            <a:r>
              <a:rPr lang="en-US" dirty="0" err="1">
                <a:latin typeface="+mn-lt"/>
              </a:rPr>
              <a:t>độc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lập</a:t>
            </a:r>
            <a:endParaRPr lang="en-US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Ghi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vào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thư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mục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riêng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lẻ</a:t>
            </a:r>
            <a:endParaRPr lang="en-US" sz="25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Khó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phát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hiện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vấn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đề</a:t>
            </a:r>
            <a:endParaRPr lang="en-US" sz="25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Không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thể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sử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chung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nhật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ký</a:t>
            </a:r>
            <a:endParaRPr lang="en-US" sz="25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0746" y="1880034"/>
            <a:ext cx="3822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</a:t>
            </a:r>
            <a:r>
              <a:rPr lang="en-US" sz="3000" dirty="0" err="1"/>
              <a:t>Cơ</a:t>
            </a:r>
            <a:r>
              <a:rPr lang="en-US" sz="3000" dirty="0"/>
              <a:t> </a:t>
            </a:r>
            <a:r>
              <a:rPr lang="en-US" sz="3000" dirty="0" err="1"/>
              <a:t>chế</a:t>
            </a:r>
            <a:r>
              <a:rPr lang="en-US" sz="3000" dirty="0"/>
              <a:t> </a:t>
            </a:r>
            <a:r>
              <a:rPr lang="en-US" sz="3000" dirty="0" err="1"/>
              <a:t>ghi</a:t>
            </a:r>
            <a:r>
              <a:rPr lang="en-US" sz="3000" dirty="0"/>
              <a:t> log file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16296" y="2154382"/>
            <a:ext cx="5406390" cy="32061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BAEAE-20AA-4AC5-A8E7-6C6B6C0BF077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07" y="82881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107" y="2268210"/>
            <a:ext cx="6719947" cy="37609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dirty="0" err="1">
                <a:latin typeface="+mn-lt"/>
              </a:rPr>
              <a:t>Cơ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ghi</a:t>
            </a:r>
            <a:r>
              <a:rPr lang="en-US" dirty="0">
                <a:latin typeface="+mn-lt"/>
              </a:rPr>
              <a:t> log </a:t>
            </a:r>
            <a:r>
              <a:rPr lang="en-US" dirty="0" err="1">
                <a:latin typeface="+mn-lt"/>
              </a:rPr>
              <a:t>tập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trung</a:t>
            </a:r>
            <a:endParaRPr lang="en-US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ứng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gửi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thông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báo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cho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một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ứng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chung</a:t>
            </a:r>
            <a:endParaRPr lang="en-US" sz="25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Chỉ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ghi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thông</a:t>
            </a:r>
            <a:r>
              <a:rPr lang="en-US" sz="2500" dirty="0">
                <a:latin typeface="+mn-lt"/>
              </a:rPr>
              <a:t> tin </a:t>
            </a:r>
            <a:r>
              <a:rPr lang="en-US" sz="2500" dirty="0" err="1">
                <a:latin typeface="+mn-lt"/>
              </a:rPr>
              <a:t>phù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hợp</a:t>
            </a:r>
            <a:endParaRPr lang="en-US" sz="25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+mn-lt"/>
              </a:rPr>
              <a:t>Giúp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quản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trị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viên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có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thể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dễ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dàng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vấn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đề</a:t>
            </a:r>
            <a:endParaRPr lang="en-US" sz="25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1872" y="1892772"/>
            <a:ext cx="43434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</a:t>
            </a:r>
            <a:r>
              <a:rPr lang="en-US" sz="3000" dirty="0" err="1"/>
              <a:t>Cơ</a:t>
            </a:r>
            <a:r>
              <a:rPr lang="en-US" sz="3000" dirty="0"/>
              <a:t> </a:t>
            </a:r>
            <a:r>
              <a:rPr lang="en-US" sz="3000" dirty="0" err="1"/>
              <a:t>chế</a:t>
            </a:r>
            <a:r>
              <a:rPr lang="en-US" sz="3000" dirty="0"/>
              <a:t> </a:t>
            </a:r>
            <a:r>
              <a:rPr lang="en-US" sz="3000" dirty="0" err="1"/>
              <a:t>ghi</a:t>
            </a:r>
            <a:r>
              <a:rPr lang="en-US" sz="3000" dirty="0"/>
              <a:t> log file (</a:t>
            </a:r>
            <a:r>
              <a:rPr lang="en-US" sz="3000" dirty="0" err="1"/>
              <a:t>tt</a:t>
            </a:r>
            <a:r>
              <a:rPr lang="en-US" sz="3000" dirty="0"/>
              <a:t>)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7296727" y="1491600"/>
            <a:ext cx="4611370" cy="4263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293BE3-0BF4-4471-9513-5242597E0C85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50" y="82881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050" y="2268210"/>
            <a:ext cx="6826188" cy="3760971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200" dirty="0">
                <a:latin typeface="+mn-lt"/>
              </a:rPr>
              <a:t>Windows </a:t>
            </a:r>
            <a:r>
              <a:rPr lang="en-US" sz="2200" dirty="0" err="1">
                <a:latin typeface="+mn-lt"/>
              </a:rPr>
              <a:t>phân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loại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sự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kiện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thành</a:t>
            </a:r>
            <a:r>
              <a:rPr lang="en-US" sz="2200" dirty="0">
                <a:latin typeface="+mn-lt"/>
              </a:rPr>
              <a:t> 5 </a:t>
            </a:r>
            <a:r>
              <a:rPr lang="en-US" sz="2200" dirty="0" err="1">
                <a:latin typeface="+mn-lt"/>
              </a:rPr>
              <a:t>loại</a:t>
            </a:r>
            <a:endParaRPr lang="en-US" sz="2200" dirty="0">
              <a:latin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latin typeface="+mn-lt"/>
              </a:rPr>
              <a:t>Application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latin typeface="+mn-lt"/>
              </a:rPr>
              <a:t>Security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latin typeface="+mn-lt"/>
              </a:rPr>
              <a:t>Setup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latin typeface="+mn-lt"/>
              </a:rPr>
              <a:t>System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latin typeface="+mn-lt"/>
              </a:rPr>
              <a:t>Forwarded Event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 err="1">
                <a:latin typeface="+mn-lt"/>
              </a:rPr>
              <a:t>Được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lưu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trữ</a:t>
            </a:r>
            <a:r>
              <a:rPr lang="en-US" sz="2200" dirty="0">
                <a:latin typeface="+mn-lt"/>
              </a:rPr>
              <a:t> ở windows/system32/</a:t>
            </a:r>
            <a:r>
              <a:rPr lang="en-US" sz="2200" dirty="0" err="1">
                <a:latin typeface="+mn-lt"/>
              </a:rPr>
              <a:t>winevt</a:t>
            </a:r>
            <a:r>
              <a:rPr lang="en-US" sz="2200" dirty="0">
                <a:latin typeface="+mn-lt"/>
              </a:rPr>
              <a:t>/logs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4" y="1892772"/>
            <a:ext cx="33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Thu </a:t>
            </a:r>
            <a:r>
              <a:rPr lang="en-US" sz="3000" dirty="0" err="1"/>
              <a:t>thập</a:t>
            </a:r>
            <a:r>
              <a:rPr lang="en-US" sz="3000" dirty="0"/>
              <a:t> log file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5" y="1134997"/>
            <a:ext cx="5176232" cy="5107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8273A-6839-470D-90A1-01F7717E2D29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029" y="89096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0416" y="2353647"/>
            <a:ext cx="6025875" cy="37609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>
                <a:latin typeface="+mn-lt"/>
              </a:rPr>
              <a:t>Unix </a:t>
            </a:r>
            <a:r>
              <a:rPr lang="en-US" sz="2500" dirty="0" err="1">
                <a:latin typeface="+mn-lt"/>
              </a:rPr>
              <a:t>cung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cấp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một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dịch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vụ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nền</a:t>
            </a:r>
            <a:r>
              <a:rPr lang="en-US" sz="2500" dirty="0">
                <a:latin typeface="+mn-lt"/>
              </a:rPr>
              <a:t> Syslog </a:t>
            </a:r>
            <a:r>
              <a:rPr lang="en-US" sz="2500" dirty="0" err="1">
                <a:latin typeface="+mn-lt"/>
              </a:rPr>
              <a:t>để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thập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thông</a:t>
            </a:r>
            <a:r>
              <a:rPr lang="en-US" sz="2500" dirty="0">
                <a:latin typeface="+mn-lt"/>
              </a:rPr>
              <a:t> tin </a:t>
            </a:r>
            <a:r>
              <a:rPr lang="en-US" sz="2500" dirty="0" err="1">
                <a:latin typeface="+mn-lt"/>
              </a:rPr>
              <a:t>từ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chương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trình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và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ghi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vào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một</a:t>
            </a:r>
            <a:r>
              <a:rPr lang="en-US" sz="2500" dirty="0">
                <a:latin typeface="+mn-lt"/>
              </a:rPr>
              <a:t> file log </a:t>
            </a:r>
            <a:r>
              <a:rPr lang="en-US" sz="2500" dirty="0" err="1">
                <a:latin typeface="+mn-lt"/>
              </a:rPr>
              <a:t>chung</a:t>
            </a:r>
            <a:endParaRPr lang="en-US" sz="2500" dirty="0">
              <a:latin typeface="+mn-lt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file log </a:t>
            </a:r>
            <a:r>
              <a:rPr lang="en-US" sz="2500" dirty="0" err="1">
                <a:latin typeface="+mn-lt"/>
              </a:rPr>
              <a:t>thu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thập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được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thường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lưu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trữ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trong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thư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mục</a:t>
            </a:r>
            <a:r>
              <a:rPr lang="en-US" sz="2500" dirty="0">
                <a:latin typeface="+mn-lt"/>
              </a:rPr>
              <a:t> /var/log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416" y="1892772"/>
            <a:ext cx="3863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Thu </a:t>
            </a:r>
            <a:r>
              <a:rPr lang="en-US" sz="3000" dirty="0" err="1"/>
              <a:t>thập</a:t>
            </a:r>
            <a:r>
              <a:rPr lang="en-US" sz="3000" dirty="0"/>
              <a:t> log file (</a:t>
            </a:r>
            <a:r>
              <a:rPr lang="en-US" sz="3000" dirty="0" err="1"/>
              <a:t>tt</a:t>
            </a:r>
            <a:r>
              <a:rPr lang="en-US" sz="3000" dirty="0"/>
              <a:t>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797" y="1491600"/>
            <a:ext cx="4266348" cy="4703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F3E39-FFA6-4825-87D5-C0B89F2C2105}"/>
              </a:ext>
            </a:extLst>
          </p:cNvPr>
          <p:cNvSpPr txBox="1"/>
          <p:nvPr/>
        </p:nvSpPr>
        <p:spPr>
          <a:xfrm>
            <a:off x="11720945" y="6437746"/>
            <a:ext cx="471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40" y="82881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646" y="2415992"/>
            <a:ext cx="5802746" cy="3760971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tích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thủ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công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Sử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công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cụ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có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săn</a:t>
            </a:r>
            <a:r>
              <a:rPr lang="en-US" sz="2500" dirty="0">
                <a:latin typeface="+mn-lt"/>
              </a:rPr>
              <a:t> ở </a:t>
            </a:r>
            <a:r>
              <a:rPr lang="en-US" sz="2500" dirty="0" err="1">
                <a:latin typeface="+mn-lt"/>
              </a:rPr>
              <a:t>trên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hệ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điều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hành</a:t>
            </a:r>
            <a:r>
              <a:rPr lang="en-US" sz="2500" dirty="0">
                <a:latin typeface="+mn-lt"/>
              </a:rPr>
              <a:t>: notepad, awk, grep,…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Giúp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chúng</a:t>
            </a:r>
            <a:r>
              <a:rPr lang="en-US" sz="2500" dirty="0">
                <a:latin typeface="+mn-lt"/>
              </a:rPr>
              <a:t> ta </a:t>
            </a:r>
            <a:r>
              <a:rPr lang="en-US" sz="2500" dirty="0" err="1">
                <a:latin typeface="+mn-lt"/>
              </a:rPr>
              <a:t>linh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hoạt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trong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việc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endParaRPr lang="en-US" sz="2500" dirty="0">
              <a:latin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Tốn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thời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gian</a:t>
            </a:r>
            <a:r>
              <a:rPr lang="en-US" sz="2500" dirty="0">
                <a:latin typeface="+mn-lt"/>
              </a:rPr>
              <a:t>, </a:t>
            </a:r>
            <a:r>
              <a:rPr lang="en-US" sz="2500" dirty="0" err="1">
                <a:latin typeface="+mn-lt"/>
              </a:rPr>
              <a:t>có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thể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bỏ</a:t>
            </a:r>
            <a:r>
              <a:rPr lang="en-US" sz="2500" dirty="0">
                <a:latin typeface="+mn-lt"/>
              </a:rPr>
              <a:t> qua </a:t>
            </a:r>
            <a:r>
              <a:rPr lang="en-US" sz="2500" dirty="0" err="1">
                <a:latin typeface="+mn-lt"/>
              </a:rPr>
              <a:t>những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thông</a:t>
            </a:r>
            <a:r>
              <a:rPr lang="en-US" sz="2500" dirty="0">
                <a:latin typeface="+mn-lt"/>
              </a:rPr>
              <a:t> tin </a:t>
            </a:r>
            <a:r>
              <a:rPr lang="en-US" sz="2500" dirty="0" err="1">
                <a:latin typeface="+mn-lt"/>
              </a:rPr>
              <a:t>quan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trọng</a:t>
            </a:r>
            <a:endParaRPr lang="en-US" sz="25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927" y="1892772"/>
            <a:ext cx="40889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</a:t>
            </a:r>
            <a:r>
              <a:rPr lang="en-US" sz="3000" dirty="0" err="1"/>
              <a:t>Phân</a:t>
            </a:r>
            <a:r>
              <a:rPr lang="en-US" sz="3000" dirty="0"/>
              <a:t> </a:t>
            </a:r>
            <a:r>
              <a:rPr lang="en-US" sz="3000" dirty="0" err="1"/>
              <a:t>tích</a:t>
            </a:r>
            <a:r>
              <a:rPr lang="en-US" sz="3000" dirty="0"/>
              <a:t> Log File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501679" y="1892772"/>
            <a:ext cx="5584593" cy="3760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7C48E-4A34-4DEA-9D18-55254845CDB6}"/>
              </a:ext>
            </a:extLst>
          </p:cNvPr>
          <p:cNvSpPr txBox="1"/>
          <p:nvPr/>
        </p:nvSpPr>
        <p:spPr>
          <a:xfrm>
            <a:off x="11536218" y="6440697"/>
            <a:ext cx="655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40" y="88401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2,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Giới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thiệu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+mj-lt"/>
              </a:rPr>
              <a:t>tt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740" y="2482956"/>
            <a:ext cx="6194551" cy="3760971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tích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động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Sử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dụng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các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công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cụ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thập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và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r>
              <a:rPr lang="en-US" sz="2500" dirty="0">
                <a:latin typeface="+mn-lt"/>
              </a:rPr>
              <a:t> log file: Splunk, Log Explorer,…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 err="1">
                <a:latin typeface="+mn-lt"/>
              </a:rPr>
              <a:t>Tiết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kiệm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thời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gian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r>
              <a:rPr lang="en-US" sz="2500" dirty="0">
                <a:latin typeface="+mn-lt"/>
              </a:rPr>
              <a:t>, </a:t>
            </a:r>
            <a:r>
              <a:rPr lang="en-US" sz="2500" dirty="0" err="1">
                <a:latin typeface="+mn-lt"/>
              </a:rPr>
              <a:t>giảm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thiểu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lỗi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trong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quá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trình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endParaRPr lang="en-US" sz="2500" dirty="0">
              <a:latin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500" dirty="0">
                <a:latin typeface="+mn-lt"/>
              </a:rPr>
              <a:t>Chi </a:t>
            </a:r>
            <a:r>
              <a:rPr lang="en-US" sz="2500" dirty="0" err="1">
                <a:latin typeface="+mn-lt"/>
              </a:rPr>
              <a:t>phí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đầu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tư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cao</a:t>
            </a:r>
            <a:r>
              <a:rPr lang="en-US" sz="2500" dirty="0">
                <a:latin typeface="+mn-lt"/>
              </a:rPr>
              <a:t>, </a:t>
            </a:r>
            <a:r>
              <a:rPr lang="en-US" sz="2500" dirty="0" err="1">
                <a:latin typeface="+mn-lt"/>
              </a:rPr>
              <a:t>chất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lượng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phân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tích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phụ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thuộc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vào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err="1">
                <a:latin typeface="+mn-lt"/>
              </a:rPr>
              <a:t>nguồn</a:t>
            </a:r>
            <a:r>
              <a:rPr lang="en-US" sz="2500" dirty="0">
                <a:latin typeface="+mn-lt"/>
              </a:rPr>
              <a:t> file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740" y="1928958"/>
            <a:ext cx="42233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# </a:t>
            </a:r>
            <a:r>
              <a:rPr lang="en-US" sz="3000" dirty="0" err="1"/>
              <a:t>Phân</a:t>
            </a:r>
            <a:r>
              <a:rPr lang="en-US" sz="3000" dirty="0"/>
              <a:t> </a:t>
            </a:r>
            <a:r>
              <a:rPr lang="en-US" sz="3000" dirty="0" err="1"/>
              <a:t>tích</a:t>
            </a:r>
            <a:r>
              <a:rPr lang="en-US" sz="3000" dirty="0"/>
              <a:t> Log File (</a:t>
            </a:r>
            <a:r>
              <a:rPr lang="en-US" sz="3000" dirty="0" err="1"/>
              <a:t>tt</a:t>
            </a:r>
            <a:r>
              <a:rPr lang="en-US" sz="3000" dirty="0"/>
              <a:t>)</a:t>
            </a:r>
          </a:p>
        </p:txBody>
      </p:sp>
      <p:sp>
        <p:nvSpPr>
          <p:cNvPr id="6" name="AutoShape 4" descr="Log Management &amp; Analytics | Datado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291" y="2221346"/>
            <a:ext cx="5620286" cy="320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832690" y="5493473"/>
            <a:ext cx="5107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Nguồn: https://www.datadoghq.com/product/log-management/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805AF-DB69-42EB-A361-1EAD9E18ECBA}"/>
              </a:ext>
            </a:extLst>
          </p:cNvPr>
          <p:cNvSpPr txBox="1"/>
          <p:nvPr/>
        </p:nvSpPr>
        <p:spPr>
          <a:xfrm>
            <a:off x="11612287" y="6437746"/>
            <a:ext cx="655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036" y="2990200"/>
            <a:ext cx="9180946" cy="87759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  <a:latin typeface="+mj-lt"/>
              </a:rPr>
              <a:t>3</a:t>
            </a:r>
            <a:r>
              <a:rPr lang="en-US" b="1">
                <a:solidFill>
                  <a:srgbClr val="C00000"/>
                </a:solidFill>
              </a:rPr>
              <a:t>, </a:t>
            </a:r>
            <a:r>
              <a:rPr lang="en-US" b="1">
                <a:solidFill>
                  <a:srgbClr val="C00000"/>
                </a:solidFill>
                <a:latin typeface="+mj-lt"/>
              </a:rPr>
              <a:t>KẾT </a:t>
            </a:r>
            <a:r>
              <a:rPr lang="en-US" b="1">
                <a:solidFill>
                  <a:srgbClr val="C00000"/>
                </a:solidFill>
                <a:latin typeface="+mj-lt"/>
                <a:cs typeface="+mj-lt"/>
              </a:rPr>
              <a:t>QUẢ </a:t>
            </a:r>
            <a:r>
              <a:rPr lang="en-US" b="1">
                <a:solidFill>
                  <a:srgbClr val="C00000"/>
                </a:solidFill>
                <a:latin typeface="+mj-lt"/>
              </a:rPr>
              <a:t>THỰC NGHIỆM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EAEBB-7427-4C14-92C9-4295503F2794}"/>
              </a:ext>
            </a:extLst>
          </p:cNvPr>
          <p:cNvSpPr txBox="1"/>
          <p:nvPr/>
        </p:nvSpPr>
        <p:spPr>
          <a:xfrm>
            <a:off x="11573163" y="6400800"/>
            <a:ext cx="618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9709" y="2990200"/>
            <a:ext cx="8072582" cy="8775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 KẾT LUẬN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14095" y="75063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60C27-031E-4692-A123-5415DC3AE0EA}"/>
              </a:ext>
            </a:extLst>
          </p:cNvPr>
          <p:cNvSpPr txBox="1"/>
          <p:nvPr/>
        </p:nvSpPr>
        <p:spPr>
          <a:xfrm>
            <a:off x="11545454" y="6437746"/>
            <a:ext cx="6465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13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455"/>
            <a:ext cx="9144000" cy="95149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 LIỆU THAM KHẢO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2075815"/>
            <a:ext cx="10737850" cy="36823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[1] Website: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https://dcid.me/notes/log-analysis-for-intrusion-detection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[2] Website: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https://viblo.asia/p/tim-hieu-awk-co-ban-gGJ59229KX2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[3] Website: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https://bkhost.vn/blog/virtualbox/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[4] Website: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https://dcid.me/notes/log-analysis-for-intrusion-detection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[5] Website: https://www.xplg.com/what-is-log-analysis-and-why-do-you-need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it/?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fbclid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=IwAR13ScghDs3F7DlwONAmCTT8R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[6] Umesh Raut, “Log Based Intrusion Detection System”, IOSR Journal of Computer Engineering (IOSR-JCE), vol. 20, issue. 5, pp. 15-22, 2018. DOI: 10.9790/0661-2005011522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6093C-4384-487C-A693-1028C33C196E}"/>
              </a:ext>
            </a:extLst>
          </p:cNvPr>
          <p:cNvSpPr txBox="1"/>
          <p:nvPr/>
        </p:nvSpPr>
        <p:spPr>
          <a:xfrm>
            <a:off x="11582400" y="6432541"/>
            <a:ext cx="60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/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744</Words>
  <Application>Microsoft Office PowerPoint</Application>
  <PresentationFormat>Widescreen</PresentationFormat>
  <Paragraphs>92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PowerPoint Presentation</vt:lpstr>
      <vt:lpstr>PowerPoint Presentation</vt:lpstr>
      <vt:lpstr>1, Đặt vấn đề</vt:lpstr>
      <vt:lpstr>1, Đặt vấn đề (tt)</vt:lpstr>
      <vt:lpstr>2, Giới thiệu</vt:lpstr>
      <vt:lpstr>2, Giới thiệu (tt)</vt:lpstr>
      <vt:lpstr>2, Giới thiệu (tt)</vt:lpstr>
      <vt:lpstr>2, Giới thiệu (tt)</vt:lpstr>
      <vt:lpstr>2, Giới thiệu (tt)</vt:lpstr>
      <vt:lpstr>2, Giới thiệu (tt)</vt:lpstr>
      <vt:lpstr>2, Giới thiệu (tt)</vt:lpstr>
      <vt:lpstr>2, Giới thiệu (tt)</vt:lpstr>
      <vt:lpstr>3, KẾT QUẢ THỰC NGHIỆM</vt:lpstr>
      <vt:lpstr>4, KẾT LUẬN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Đức</dc:creator>
  <cp:lastModifiedBy>HuuTaii</cp:lastModifiedBy>
  <cp:revision>23</cp:revision>
  <dcterms:created xsi:type="dcterms:W3CDTF">2021-10-20T15:49:00Z</dcterms:created>
  <dcterms:modified xsi:type="dcterms:W3CDTF">2024-06-05T15:58:41Z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DC84CD7000AC43C68FE194F572198AF3_12</vt:lpwstr>
  </property>
  <property fmtid="{D5CDD505-2E9C-101B-9397-08002B2CF9AE}" pid="3" name="KSOProductBuildVer">
    <vt:lpwstr>1033-12.2.0.16909</vt:lpwstr>
  </property>
</Properties>
</file>